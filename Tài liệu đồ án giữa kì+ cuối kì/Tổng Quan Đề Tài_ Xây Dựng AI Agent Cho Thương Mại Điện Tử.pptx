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4" r:id="rId4"/>
    <p:sldMasterId id="2147483685" r:id="rId5"/>
    <p:sldMasterId id="2147483686" r:id="rId6"/>
    <p:sldMasterId id="2147483687"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Lst>
  <p:sldSz cy="8229600" cx="14630400"/>
  <p:notesSz cx="8229600" cy="14630400"/>
  <p:embeddedFontLst>
    <p:embeddedFont>
      <p:font typeface="Roboto"/>
      <p:regular r:id="rId48"/>
      <p:bold r:id="rId49"/>
      <p:italic r:id="rId50"/>
      <p:boldItalic r:id="rId51"/>
    </p:embeddedFont>
    <p:embeddedFont>
      <p:font typeface="Inter"/>
      <p:regular r:id="rId52"/>
      <p:bold r:id="rId53"/>
      <p:italic r:id="rId54"/>
      <p:boldItalic r:id="rId55"/>
    </p:embeddedFont>
    <p:embeddedFont>
      <p:font typeface="Montserrat"/>
      <p:regular r:id="rId56"/>
      <p:bold r:id="rId57"/>
      <p:italic r:id="rId58"/>
      <p:boldItalic r:id="rId59"/>
    </p:embeddedFont>
    <p:embeddedFont>
      <p:font typeface="Instrument Sans"/>
      <p:regular r:id="rId60"/>
      <p:bold r:id="rId61"/>
      <p:italic r:id="rId62"/>
      <p:boldItalic r:id="rId63"/>
    </p:embeddedFont>
    <p:embeddedFont>
      <p:font typeface="Petrona"/>
      <p:regular r:id="rId64"/>
      <p:bold r:id="rId65"/>
      <p:italic r:id="rId66"/>
      <p:boldItalic r:id="rId67"/>
    </p:embeddedFont>
    <p:embeddedFont>
      <p:font typeface="Barlow"/>
      <p:regular r:id="rId68"/>
      <p:bold r:id="rId69"/>
      <p:italic r:id="rId70"/>
      <p:boldItalic r:id="rId71"/>
    </p:embeddedFont>
    <p:embeddedFont>
      <p:font typeface="Host Grotesk"/>
      <p:regular r:id="rId72"/>
      <p:bold r:id="rId73"/>
      <p:italic r:id="rId74"/>
      <p:boldItalic r:id="rId7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DE58F15-6FED-41AD-9371-107E5655BA19}">
  <a:tblStyle styleId="{4DE58F15-6FED-41AD-9371-107E5655BA1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1.xml"/><Relationship Id="rId48" Type="http://schemas.openxmlformats.org/officeDocument/2006/relationships/font" Target="fonts/Roboto-regular.fntdata"/><Relationship Id="rId47" Type="http://schemas.openxmlformats.org/officeDocument/2006/relationships/slide" Target="slides/slide39.xml"/><Relationship Id="rId49" Type="http://schemas.openxmlformats.org/officeDocument/2006/relationships/font" Target="fonts/Roboto-bold.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notesMaster" Target="notesMasters/notesMaster1.xml"/><Relationship Id="rId73" Type="http://schemas.openxmlformats.org/officeDocument/2006/relationships/font" Target="fonts/HostGrotesk-bold.fntdata"/><Relationship Id="rId72" Type="http://schemas.openxmlformats.org/officeDocument/2006/relationships/font" Target="fonts/HostGrotesk-regular.fntdata"/><Relationship Id="rId31" Type="http://schemas.openxmlformats.org/officeDocument/2006/relationships/slide" Target="slides/slide23.xml"/><Relationship Id="rId75" Type="http://schemas.openxmlformats.org/officeDocument/2006/relationships/font" Target="fonts/HostGrotesk-boldItalic.fntdata"/><Relationship Id="rId30" Type="http://schemas.openxmlformats.org/officeDocument/2006/relationships/slide" Target="slides/slide22.xml"/><Relationship Id="rId74" Type="http://schemas.openxmlformats.org/officeDocument/2006/relationships/font" Target="fonts/HostGrotesk-italic.fntdata"/><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71" Type="http://schemas.openxmlformats.org/officeDocument/2006/relationships/font" Target="fonts/Barlow-boldItalic.fntdata"/><Relationship Id="rId70" Type="http://schemas.openxmlformats.org/officeDocument/2006/relationships/font" Target="fonts/Barlow-italic.fntdata"/><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62" Type="http://schemas.openxmlformats.org/officeDocument/2006/relationships/font" Target="fonts/InstrumentSans-italic.fntdata"/><Relationship Id="rId61" Type="http://schemas.openxmlformats.org/officeDocument/2006/relationships/font" Target="fonts/InstrumentSans-bold.fntdata"/><Relationship Id="rId20" Type="http://schemas.openxmlformats.org/officeDocument/2006/relationships/slide" Target="slides/slide12.xml"/><Relationship Id="rId64" Type="http://schemas.openxmlformats.org/officeDocument/2006/relationships/font" Target="fonts/Petrona-regular.fntdata"/><Relationship Id="rId63" Type="http://schemas.openxmlformats.org/officeDocument/2006/relationships/font" Target="fonts/InstrumentSans-boldItalic.fntdata"/><Relationship Id="rId22" Type="http://schemas.openxmlformats.org/officeDocument/2006/relationships/slide" Target="slides/slide14.xml"/><Relationship Id="rId66" Type="http://schemas.openxmlformats.org/officeDocument/2006/relationships/font" Target="fonts/Petrona-italic.fntdata"/><Relationship Id="rId21" Type="http://schemas.openxmlformats.org/officeDocument/2006/relationships/slide" Target="slides/slide13.xml"/><Relationship Id="rId65" Type="http://schemas.openxmlformats.org/officeDocument/2006/relationships/font" Target="fonts/Petrona-bold.fntdata"/><Relationship Id="rId24" Type="http://schemas.openxmlformats.org/officeDocument/2006/relationships/slide" Target="slides/slide16.xml"/><Relationship Id="rId68" Type="http://schemas.openxmlformats.org/officeDocument/2006/relationships/font" Target="fonts/Barlow-regular.fntdata"/><Relationship Id="rId23" Type="http://schemas.openxmlformats.org/officeDocument/2006/relationships/slide" Target="slides/slide15.xml"/><Relationship Id="rId67" Type="http://schemas.openxmlformats.org/officeDocument/2006/relationships/font" Target="fonts/Petrona-boldItalic.fntdata"/><Relationship Id="rId60" Type="http://schemas.openxmlformats.org/officeDocument/2006/relationships/font" Target="fonts/InstrumentSans-regular.fntdata"/><Relationship Id="rId26" Type="http://schemas.openxmlformats.org/officeDocument/2006/relationships/slide" Target="slides/slide18.xml"/><Relationship Id="rId25" Type="http://schemas.openxmlformats.org/officeDocument/2006/relationships/slide" Target="slides/slide17.xml"/><Relationship Id="rId69" Type="http://schemas.openxmlformats.org/officeDocument/2006/relationships/font" Target="fonts/Barlow-bold.fntdata"/><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font" Target="fonts/Roboto-boldItalic.fntdata"/><Relationship Id="rId50" Type="http://schemas.openxmlformats.org/officeDocument/2006/relationships/font" Target="fonts/Roboto-italic.fntdata"/><Relationship Id="rId53" Type="http://schemas.openxmlformats.org/officeDocument/2006/relationships/font" Target="fonts/Inter-bold.fntdata"/><Relationship Id="rId52" Type="http://schemas.openxmlformats.org/officeDocument/2006/relationships/font" Target="fonts/Inter-regular.fntdata"/><Relationship Id="rId11" Type="http://schemas.openxmlformats.org/officeDocument/2006/relationships/slide" Target="slides/slide3.xml"/><Relationship Id="rId55" Type="http://schemas.openxmlformats.org/officeDocument/2006/relationships/font" Target="fonts/Inter-boldItalic.fntdata"/><Relationship Id="rId10" Type="http://schemas.openxmlformats.org/officeDocument/2006/relationships/slide" Target="slides/slide2.xml"/><Relationship Id="rId54" Type="http://schemas.openxmlformats.org/officeDocument/2006/relationships/font" Target="fonts/Inter-italic.fntdata"/><Relationship Id="rId13" Type="http://schemas.openxmlformats.org/officeDocument/2006/relationships/slide" Target="slides/slide5.xml"/><Relationship Id="rId57" Type="http://schemas.openxmlformats.org/officeDocument/2006/relationships/font" Target="fonts/Montserrat-bold.fntdata"/><Relationship Id="rId12" Type="http://schemas.openxmlformats.org/officeDocument/2006/relationships/slide" Target="slides/slide4.xml"/><Relationship Id="rId56" Type="http://schemas.openxmlformats.org/officeDocument/2006/relationships/font" Target="fonts/Montserrat-regular.fntdata"/><Relationship Id="rId15" Type="http://schemas.openxmlformats.org/officeDocument/2006/relationships/slide" Target="slides/slide7.xml"/><Relationship Id="rId59" Type="http://schemas.openxmlformats.org/officeDocument/2006/relationships/font" Target="fonts/Montserrat-boldItalic.fntdata"/><Relationship Id="rId14" Type="http://schemas.openxmlformats.org/officeDocument/2006/relationships/slide" Target="slides/slide6.xml"/><Relationship Id="rId58" Type="http://schemas.openxmlformats.org/officeDocument/2006/relationships/font" Target="fonts/Montserrat-italic.fntdata"/><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5a2cdaab33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5a2cdaab33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g35a2cdaab33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 name="Google Shape;15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 name="Google Shape;16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7" name="Google Shape;17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 name="Google Shape;19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 name="Google Shape;21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 name="Google Shape;26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5a2cdaab33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9" name="Google Shape;269;g35a2cdaab33_2_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g35a2cdaab33_2_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5a2cdaab33_2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 name="Google Shape;278;g35a2cdaab33_2_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g35a2cdaab33_2_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5a2cdaab33_2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4" name="Google Shape;294;g35a2cdaab33_2_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g35a2cdaab33_2_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5a2cdaab33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35a2cdaab33_0_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7" name="Google Shape;307;g35a2cdaab33_0_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5a2cdaab33_2_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9" name="Google Shape;319;g35a2cdaab33_2_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0" name="Google Shape;320;g35a2cdaab33_2_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5a2cdaab33_2_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8" name="Google Shape;338;g35a2cdaab33_2_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 name="Google Shape;339;g35a2cdaab33_2_6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5a2cdaab33_2_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2" name="Google Shape;352;g35a2cdaab33_2_7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3" name="Google Shape;353;g35a2cdaab33_2_7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5a2cdaab33_2_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6" name="Google Shape;366;g35a2cdaab33_2_8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7" name="Google Shape;367;g35a2cdaab33_2_8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5a2cdaab33_2_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9" name="Google Shape;379;g35a2cdaab33_2_9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0" name="Google Shape;380;g35a2cdaab33_2_9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5a2cdaab33_5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2" name="Google Shape;392;g35a2cdaab33_5_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3" name="Google Shape;393;g35a2cdaab33_5_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5a2cdaab33_5_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2" name="Google Shape;402;g35a2cdaab33_5_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3" name="Google Shape;403;g35a2cdaab33_5_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35a2cdaab33_5_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8" name="Google Shape;418;g35a2cdaab33_5_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9" name="Google Shape;419;g35a2cdaab33_5_6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5a2cdaab33_5_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4" name="Google Shape;434;g35a2cdaab33_5_7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5" name="Google Shape;435;g35a2cdaab33_5_7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35a2cdaab33_5_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7" name="Google Shape;447;g35a2cdaab33_5_8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8" name="Google Shape;448;g35a2cdaab33_5_8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35a2cdaab33_5_1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9" name="Google Shape;469;g35a2cdaab33_5_10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0" name="Google Shape;470;g35a2cdaab33_5_10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35a2cdaab33_5_1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1" name="Google Shape;491;g35a2cdaab33_5_1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2" name="Google Shape;492;g35a2cdaab33_5_1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35a2cdaab33_5_1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9" name="Google Shape;509;g35a2cdaab33_5_1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0" name="Google Shape;510;g35a2cdaab33_5_1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35a2cdaab33_8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9" name="Google Shape;529;g35a2cdaab33_8_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0" name="Google Shape;530;g35a2cdaab33_8_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35a2cdaab33_8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8" name="Google Shape;538;g35a2cdaab33_8_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9" name="Google Shape;539;g35a2cdaab33_8_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5a2cdaab33_8_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1" name="Google Shape;551;g35a2cdaab33_8_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2" name="Google Shape;552;g35a2cdaab33_8_5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35a2cdaab33_8_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5" name="Google Shape;565;g35a2cdaab33_8_6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6" name="Google Shape;566;g35a2cdaab33_8_6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35a2cdaab33_8_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5" name="Google Shape;575;g35a2cdaab33_8_7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6" name="Google Shape;576;g35a2cdaab33_8_7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35a2cdaab33_8_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5" name="Google Shape;585;g35a2cdaab33_8_8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6" name="Google Shape;586;g35a2cdaab33_8_8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35a2cdaab33_8_1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1" name="Google Shape;601;g35a2cdaab33_8_10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2" name="Google Shape;602;g35a2cdaab33_8_10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35a2cdaab33_14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5" name="Google Shape;615;g35a2cdaab33_14_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6" name="Google Shape;616;g35a2cdaab33_14_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35a2cdaab33_14_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4" name="Google Shape;624;g35a2cdaab33_14_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5" name="Google Shape;625;g35a2cdaab33_14_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35a2cdaab33_14_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0" name="Google Shape;640;g35a2cdaab33_14_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1" name="Google Shape;641;g35a2cdaab33_14_6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35a2cdaab33_14_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2" name="Google Shape;652;g35a2cdaab33_14_7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3" name="Google Shape;653;g35a2cdaab33_14_7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g35a2cdaab33_14_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8" name="Google Shape;668;g35a2cdaab33_14_8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9" name="Google Shape;669;g35a2cdaab33_14_8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g35a2cdaab33_14_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8" name="Google Shape;678;g35a2cdaab33_14_9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9" name="Google Shape;679;g35a2cdaab33_14_9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hyperlink" Target="https://gamma.app/?utm_source=made-with-gamma" TargetMode="External"/><Relationship Id="rId4" Type="http://schemas.openxmlformats.org/officeDocument/2006/relationships/image" Target="../media/image20.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hyperlink" Target="https://gamma.app/?utm_source=made-with-gamma" TargetMode="External"/><Relationship Id="rId4" Type="http://schemas.openxmlformats.org/officeDocument/2006/relationships/image" Target="../media/image20.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hyperlink" Target="https://gamma.app/?utm_source=made-with-gamma" TargetMode="External"/><Relationship Id="rId4" Type="http://schemas.openxmlformats.org/officeDocument/2006/relationships/image" Target="../media/image20.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hyperlink" Target="https://gamma.app/?utm_source=made-with-gamma" TargetMode="External"/><Relationship Id="rId4" Type="http://schemas.openxmlformats.org/officeDocument/2006/relationships/image" Target="../media/image20.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hyperlink" Target="https://gamma.app/?utm_source=made-with-gamma" TargetMode="External"/><Relationship Id="rId4" Type="http://schemas.openxmlformats.org/officeDocument/2006/relationships/image" Target="../media/image20.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hyperlink" Target="https://gamma.app/?utm_source=made-with-gamma" TargetMode="External"/><Relationship Id="rId4" Type="http://schemas.openxmlformats.org/officeDocument/2006/relationships/image" Target="../media/image20.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hyperlink" Target="https://gamma.app/?utm_source=made-with-gamma" TargetMode="External"/><Relationship Id="rId4" Type="http://schemas.openxmlformats.org/officeDocument/2006/relationships/image" Target="../media/image20.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hyperlink" Target="https://gamma.app/?utm_source=made-with-gamma" TargetMode="External"/><Relationship Id="rId4" Type="http://schemas.openxmlformats.org/officeDocument/2006/relationships/image" Target="../media/image20.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gamma.app/?utm_source=made-with-gamma" TargetMode="External"/><Relationship Id="rId3" Type="http://schemas.openxmlformats.org/officeDocument/2006/relationships/image" Target="../media/image20.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gamma.app/?utm_source=made-with-gamma" TargetMode="External"/><Relationship Id="rId3" Type="http://schemas.openxmlformats.org/officeDocument/2006/relationships/image" Target="../media/image20.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gamma.app/?utm_source=made-with-gamma" TargetMode="External"/><Relationship Id="rId3" Type="http://schemas.openxmlformats.org/officeDocument/2006/relationships/image" Target="../media/image20.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gamma.app/?utm_source=made-with-gamma" TargetMode="External"/><Relationship Id="rId3" Type="http://schemas.openxmlformats.org/officeDocument/2006/relationships/image" Target="../media/image20.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gamma.app/?utm_source=made-with-gamma" TargetMode="External"/><Relationship Id="rId3" Type="http://schemas.openxmlformats.org/officeDocument/2006/relationships/image" Target="../media/image20.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gamma.app/?utm_source=made-with-gamma" TargetMode="External"/><Relationship Id="rId3" Type="http://schemas.openxmlformats.org/officeDocument/2006/relationships/image" Target="../media/image20.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gamma.app/?utm_source=made-with-gamma" TargetMode="External"/><Relationship Id="rId3" Type="http://schemas.openxmlformats.org/officeDocument/2006/relationships/image" Target="../media/image20.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gamma.app/?utm_source=made-with-gamma" TargetMode="External"/><Relationship Id="rId3" Type="http://schemas.openxmlformats.org/officeDocument/2006/relationships/image" Target="../media/image20.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hyperlink" Target="https://gamma.app/?utm_source=made-with-gamma" TargetMode="External"/><Relationship Id="rId3" Type="http://schemas.openxmlformats.org/officeDocument/2006/relationships/image" Target="../media/image20.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hyperlink" Target="https://gamma.app/?utm_source=made-with-gamma" TargetMode="External"/><Relationship Id="rId3" Type="http://schemas.openxmlformats.org/officeDocument/2006/relationships/image" Target="../media/image20.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hyperlink" Target="https://gamma.app/?utm_source=made-with-gamma" TargetMode="External"/><Relationship Id="rId3" Type="http://schemas.openxmlformats.org/officeDocument/2006/relationships/image" Target="../media/image20.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hyperlink" Target="https://gamma.app/?utm_source=made-with-gamma" TargetMode="External"/><Relationship Id="rId3" Type="http://schemas.openxmlformats.org/officeDocument/2006/relationships/image" Target="../media/image20.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hyperlink" Target="https://gamma.app/?utm_source=made-with-gamma" TargetMode="External"/><Relationship Id="rId3" Type="http://schemas.openxmlformats.org/officeDocument/2006/relationships/image" Target="../media/image20.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hyperlink" Target="https://gamma.app/?utm_source=made-with-gamma" TargetMode="External"/><Relationship Id="rId3" Type="http://schemas.openxmlformats.org/officeDocument/2006/relationships/image" Target="../media/image20.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hyperlink" Target="https://gamma.app/?utm_source=made-with-gamma" TargetMode="External"/><Relationship Id="rId3" Type="http://schemas.openxmlformats.org/officeDocument/2006/relationships/image" Target="../media/image20.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hyperlink" Target="https://gamma.app/?utm_source=made-with-gamma" TargetMode="External"/><Relationship Id="rId3" Type="http://schemas.openxmlformats.org/officeDocument/2006/relationships/image" Target="../media/image20.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1.png"/><Relationship Id="rId3" Type="http://schemas.openxmlformats.org/officeDocument/2006/relationships/hyperlink" Target="https://gamma.app/?utm_source=made-with-gamma" TargetMode="External"/><Relationship Id="rId4" Type="http://schemas.openxmlformats.org/officeDocument/2006/relationships/image" Target="../media/image20.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1.png"/><Relationship Id="rId3" Type="http://schemas.openxmlformats.org/officeDocument/2006/relationships/hyperlink" Target="https://gamma.app/?utm_source=made-with-gamma" TargetMode="External"/><Relationship Id="rId4" Type="http://schemas.openxmlformats.org/officeDocument/2006/relationships/image" Target="../media/image20.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1.png"/><Relationship Id="rId3" Type="http://schemas.openxmlformats.org/officeDocument/2006/relationships/hyperlink" Target="https://gamma.app/?utm_source=made-with-gamma" TargetMode="External"/><Relationship Id="rId4" Type="http://schemas.openxmlformats.org/officeDocument/2006/relationships/image" Target="../media/image20.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1.png"/><Relationship Id="rId3" Type="http://schemas.openxmlformats.org/officeDocument/2006/relationships/hyperlink" Target="https://gamma.app/?utm_source=made-with-gamma" TargetMode="External"/><Relationship Id="rId4" Type="http://schemas.openxmlformats.org/officeDocument/2006/relationships/image" Target="../media/image20.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1.png"/><Relationship Id="rId3" Type="http://schemas.openxmlformats.org/officeDocument/2006/relationships/hyperlink" Target="https://gamma.app/?utm_source=made-with-gamma" TargetMode="External"/><Relationship Id="rId4" Type="http://schemas.openxmlformats.org/officeDocument/2006/relationships/image" Target="../media/image20.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1.png"/><Relationship Id="rId3" Type="http://schemas.openxmlformats.org/officeDocument/2006/relationships/hyperlink" Target="https://gamma.app/?utm_source=made-with-gamma" TargetMode="External"/><Relationship Id="rId4" Type="http://schemas.openxmlformats.org/officeDocument/2006/relationships/image" Target="../media/image20.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1.png"/><Relationship Id="rId3" Type="http://schemas.openxmlformats.org/officeDocument/2006/relationships/hyperlink" Target="https://gamma.app/?utm_source=made-with-gamma" TargetMode="External"/><Relationship Id="rId4" Type="http://schemas.openxmlformats.org/officeDocument/2006/relationships/image" Target="../media/image20.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1.png"/><Relationship Id="rId3" Type="http://schemas.openxmlformats.org/officeDocument/2006/relationships/hyperlink" Target="https://gamma.app/?utm_source=made-with-gamma" TargetMode="External"/><Relationship Id="rId4" Type="http://schemas.openxmlformats.org/officeDocument/2006/relationships/image" Target="../media/image20.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10" name="Shape 10"/>
        <p:cNvGrpSpPr/>
        <p:nvPr/>
      </p:nvGrpSpPr>
      <p:grpSpPr>
        <a:xfrm>
          <a:off x="0" y="0"/>
          <a:ext cx="0" cy="0"/>
          <a:chOff x="0" y="0"/>
          <a:chExt cx="0" cy="0"/>
        </a:xfrm>
      </p:grpSpPr>
      <p:pic>
        <p:nvPicPr>
          <p:cNvPr descr="preencoded.png" id="11" name="Google Shape;11;p2"/>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12" name="Google Shape;12;p2"/>
          <p:cNvSpPr/>
          <p:nvPr/>
        </p:nvSpPr>
        <p:spPr>
          <a:xfrm>
            <a:off x="0" y="0"/>
            <a:ext cx="14630400" cy="8229600"/>
          </a:xfrm>
          <a:prstGeom prst="rect">
            <a:avLst/>
          </a:prstGeom>
          <a:solidFill>
            <a:srgbClr val="FFFFFF">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 name="Google Shape;13;p2">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4" name="Shape 14"/>
        <p:cNvGrpSpPr/>
        <p:nvPr/>
      </p:nvGrpSpPr>
      <p:grpSpPr>
        <a:xfrm>
          <a:off x="0" y="0"/>
          <a:ext cx="0" cy="0"/>
          <a:chOff x="0" y="0"/>
          <a:chExt cx="0" cy="0"/>
        </a:xfrm>
      </p:grpSpPr>
      <p:pic>
        <p:nvPicPr>
          <p:cNvPr descr="preencoded.png" id="15" name="Google Shape;15;p3"/>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16" name="Google Shape;16;p3"/>
          <p:cNvSpPr/>
          <p:nvPr/>
        </p:nvSpPr>
        <p:spPr>
          <a:xfrm>
            <a:off x="0" y="0"/>
            <a:ext cx="14630400" cy="8229600"/>
          </a:xfrm>
          <a:prstGeom prst="rect">
            <a:avLst/>
          </a:prstGeom>
          <a:solidFill>
            <a:srgbClr val="FFFFFF">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 name="Google Shape;17;p3">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8" name="Shape 18"/>
        <p:cNvGrpSpPr/>
        <p:nvPr/>
      </p:nvGrpSpPr>
      <p:grpSpPr>
        <a:xfrm>
          <a:off x="0" y="0"/>
          <a:ext cx="0" cy="0"/>
          <a:chOff x="0" y="0"/>
          <a:chExt cx="0" cy="0"/>
        </a:xfrm>
      </p:grpSpPr>
      <p:pic>
        <p:nvPicPr>
          <p:cNvPr descr="preencoded.png" id="19" name="Google Shape;19;p4"/>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20" name="Google Shape;20;p4"/>
          <p:cNvSpPr/>
          <p:nvPr/>
        </p:nvSpPr>
        <p:spPr>
          <a:xfrm>
            <a:off x="0" y="0"/>
            <a:ext cx="14630400" cy="8229600"/>
          </a:xfrm>
          <a:prstGeom prst="rect">
            <a:avLst/>
          </a:prstGeom>
          <a:solidFill>
            <a:srgbClr val="FFFFFF">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 name="Google Shape;21;p4">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22" name="Shape 22"/>
        <p:cNvGrpSpPr/>
        <p:nvPr/>
      </p:nvGrpSpPr>
      <p:grpSpPr>
        <a:xfrm>
          <a:off x="0" y="0"/>
          <a:ext cx="0" cy="0"/>
          <a:chOff x="0" y="0"/>
          <a:chExt cx="0" cy="0"/>
        </a:xfrm>
      </p:grpSpPr>
      <p:pic>
        <p:nvPicPr>
          <p:cNvPr descr="preencoded.png" id="23" name="Google Shape;23;p5"/>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24" name="Google Shape;24;p5"/>
          <p:cNvSpPr/>
          <p:nvPr/>
        </p:nvSpPr>
        <p:spPr>
          <a:xfrm>
            <a:off x="0" y="0"/>
            <a:ext cx="14630400" cy="8229600"/>
          </a:xfrm>
          <a:prstGeom prst="rect">
            <a:avLst/>
          </a:prstGeom>
          <a:solidFill>
            <a:srgbClr val="FFFFFF">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 name="Google Shape;25;p5">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26" name="Shape 26"/>
        <p:cNvGrpSpPr/>
        <p:nvPr/>
      </p:nvGrpSpPr>
      <p:grpSpPr>
        <a:xfrm>
          <a:off x="0" y="0"/>
          <a:ext cx="0" cy="0"/>
          <a:chOff x="0" y="0"/>
          <a:chExt cx="0" cy="0"/>
        </a:xfrm>
      </p:grpSpPr>
      <p:pic>
        <p:nvPicPr>
          <p:cNvPr descr="preencoded.png" id="27" name="Google Shape;27;p6"/>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28" name="Google Shape;28;p6"/>
          <p:cNvSpPr/>
          <p:nvPr/>
        </p:nvSpPr>
        <p:spPr>
          <a:xfrm>
            <a:off x="0" y="0"/>
            <a:ext cx="14630400" cy="8229600"/>
          </a:xfrm>
          <a:prstGeom prst="rect">
            <a:avLst/>
          </a:prstGeom>
          <a:solidFill>
            <a:srgbClr val="FFFFFF">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 name="Google Shape;29;p6">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30" name="Shape 30"/>
        <p:cNvGrpSpPr/>
        <p:nvPr/>
      </p:nvGrpSpPr>
      <p:grpSpPr>
        <a:xfrm>
          <a:off x="0" y="0"/>
          <a:ext cx="0" cy="0"/>
          <a:chOff x="0" y="0"/>
          <a:chExt cx="0" cy="0"/>
        </a:xfrm>
      </p:grpSpPr>
      <p:pic>
        <p:nvPicPr>
          <p:cNvPr descr="preencoded.png" id="31" name="Google Shape;31;p7"/>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32" name="Google Shape;32;p7"/>
          <p:cNvSpPr/>
          <p:nvPr/>
        </p:nvSpPr>
        <p:spPr>
          <a:xfrm>
            <a:off x="0" y="0"/>
            <a:ext cx="14630400" cy="8229600"/>
          </a:xfrm>
          <a:prstGeom prst="rect">
            <a:avLst/>
          </a:prstGeom>
          <a:solidFill>
            <a:srgbClr val="FFFFFF">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3" name="Google Shape;33;p7">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34" name="Shape 34"/>
        <p:cNvGrpSpPr/>
        <p:nvPr/>
      </p:nvGrpSpPr>
      <p:grpSpPr>
        <a:xfrm>
          <a:off x="0" y="0"/>
          <a:ext cx="0" cy="0"/>
          <a:chOff x="0" y="0"/>
          <a:chExt cx="0" cy="0"/>
        </a:xfrm>
      </p:grpSpPr>
      <p:pic>
        <p:nvPicPr>
          <p:cNvPr descr="preencoded.png" id="35" name="Google Shape;35;p8"/>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36" name="Google Shape;36;p8"/>
          <p:cNvSpPr/>
          <p:nvPr/>
        </p:nvSpPr>
        <p:spPr>
          <a:xfrm>
            <a:off x="0" y="0"/>
            <a:ext cx="14630400" cy="8229600"/>
          </a:xfrm>
          <a:prstGeom prst="rect">
            <a:avLst/>
          </a:prstGeom>
          <a:solidFill>
            <a:srgbClr val="FFFFFF">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7" name="Google Shape;37;p8">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38" name="Shape 38"/>
        <p:cNvGrpSpPr/>
        <p:nvPr/>
      </p:nvGrpSpPr>
      <p:grpSpPr>
        <a:xfrm>
          <a:off x="0" y="0"/>
          <a:ext cx="0" cy="0"/>
          <a:chOff x="0" y="0"/>
          <a:chExt cx="0" cy="0"/>
        </a:xfrm>
      </p:grpSpPr>
      <p:pic>
        <p:nvPicPr>
          <p:cNvPr descr="preencoded.png" id="39" name="Google Shape;39;p9"/>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40" name="Google Shape;40;p9"/>
          <p:cNvSpPr/>
          <p:nvPr/>
        </p:nvSpPr>
        <p:spPr>
          <a:xfrm>
            <a:off x="0" y="0"/>
            <a:ext cx="14630400" cy="8229600"/>
          </a:xfrm>
          <a:prstGeom prst="rect">
            <a:avLst/>
          </a:prstGeom>
          <a:solidFill>
            <a:srgbClr val="FFFFFF">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1" name="Google Shape;41;p9">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42" name="Shape 42"/>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44" name="Shape 44"/>
        <p:cNvGrpSpPr/>
        <p:nvPr/>
      </p:nvGrpSpPr>
      <p:grpSpPr>
        <a:xfrm>
          <a:off x="0" y="0"/>
          <a:ext cx="0" cy="0"/>
          <a:chOff x="0" y="0"/>
          <a:chExt cx="0" cy="0"/>
        </a:xfrm>
      </p:grpSpPr>
      <p:sp>
        <p:nvSpPr>
          <p:cNvPr id="45" name="Google Shape;45;p12"/>
          <p:cNvSpPr/>
          <p:nvPr/>
        </p:nvSpPr>
        <p:spPr>
          <a:xfrm>
            <a:off x="0" y="0"/>
            <a:ext cx="14630400" cy="8229600"/>
          </a:xfrm>
          <a:prstGeom prst="rect">
            <a:avLst/>
          </a:prstGeom>
          <a:solidFill>
            <a:srgbClr val="C7E0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12"/>
          <p:cNvSpPr/>
          <p:nvPr/>
        </p:nvSpPr>
        <p:spPr>
          <a:xfrm>
            <a:off x="0" y="0"/>
            <a:ext cx="14630400" cy="8229600"/>
          </a:xfrm>
          <a:prstGeom prst="rect">
            <a:avLst/>
          </a:prstGeom>
          <a:solidFill>
            <a:srgbClr val="FAF9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7" name="Google Shape;47;p12">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48" name="Shape 48"/>
        <p:cNvGrpSpPr/>
        <p:nvPr/>
      </p:nvGrpSpPr>
      <p:grpSpPr>
        <a:xfrm>
          <a:off x="0" y="0"/>
          <a:ext cx="0" cy="0"/>
          <a:chOff x="0" y="0"/>
          <a:chExt cx="0" cy="0"/>
        </a:xfrm>
      </p:grpSpPr>
      <p:sp>
        <p:nvSpPr>
          <p:cNvPr id="49" name="Google Shape;49;p13"/>
          <p:cNvSpPr/>
          <p:nvPr/>
        </p:nvSpPr>
        <p:spPr>
          <a:xfrm>
            <a:off x="0" y="0"/>
            <a:ext cx="14630400" cy="8229600"/>
          </a:xfrm>
          <a:prstGeom prst="rect">
            <a:avLst/>
          </a:prstGeom>
          <a:solidFill>
            <a:srgbClr val="C7E0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3"/>
          <p:cNvSpPr/>
          <p:nvPr/>
        </p:nvSpPr>
        <p:spPr>
          <a:xfrm>
            <a:off x="0" y="0"/>
            <a:ext cx="14630400" cy="8229600"/>
          </a:xfrm>
          <a:prstGeom prst="rect">
            <a:avLst/>
          </a:prstGeom>
          <a:solidFill>
            <a:srgbClr val="FAF9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1" name="Google Shape;51;p13">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52" name="Shape 52"/>
        <p:cNvGrpSpPr/>
        <p:nvPr/>
      </p:nvGrpSpPr>
      <p:grpSpPr>
        <a:xfrm>
          <a:off x="0" y="0"/>
          <a:ext cx="0" cy="0"/>
          <a:chOff x="0" y="0"/>
          <a:chExt cx="0" cy="0"/>
        </a:xfrm>
      </p:grpSpPr>
      <p:sp>
        <p:nvSpPr>
          <p:cNvPr id="53" name="Google Shape;53;p14"/>
          <p:cNvSpPr/>
          <p:nvPr/>
        </p:nvSpPr>
        <p:spPr>
          <a:xfrm>
            <a:off x="0" y="0"/>
            <a:ext cx="14630400" cy="8229600"/>
          </a:xfrm>
          <a:prstGeom prst="rect">
            <a:avLst/>
          </a:prstGeom>
          <a:solidFill>
            <a:srgbClr val="C7E0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4"/>
          <p:cNvSpPr/>
          <p:nvPr/>
        </p:nvSpPr>
        <p:spPr>
          <a:xfrm>
            <a:off x="0" y="0"/>
            <a:ext cx="14630400" cy="8229600"/>
          </a:xfrm>
          <a:prstGeom prst="rect">
            <a:avLst/>
          </a:prstGeom>
          <a:solidFill>
            <a:srgbClr val="FAF9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5" name="Google Shape;55;p14">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56" name="Shape 56"/>
        <p:cNvGrpSpPr/>
        <p:nvPr/>
      </p:nvGrpSpPr>
      <p:grpSpPr>
        <a:xfrm>
          <a:off x="0" y="0"/>
          <a:ext cx="0" cy="0"/>
          <a:chOff x="0" y="0"/>
          <a:chExt cx="0" cy="0"/>
        </a:xfrm>
      </p:grpSpPr>
      <p:sp>
        <p:nvSpPr>
          <p:cNvPr id="57" name="Google Shape;57;p15"/>
          <p:cNvSpPr/>
          <p:nvPr/>
        </p:nvSpPr>
        <p:spPr>
          <a:xfrm>
            <a:off x="0" y="0"/>
            <a:ext cx="14630400" cy="8229600"/>
          </a:xfrm>
          <a:prstGeom prst="rect">
            <a:avLst/>
          </a:prstGeom>
          <a:solidFill>
            <a:srgbClr val="C7E0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5"/>
          <p:cNvSpPr/>
          <p:nvPr/>
        </p:nvSpPr>
        <p:spPr>
          <a:xfrm>
            <a:off x="0" y="0"/>
            <a:ext cx="14630400" cy="8229600"/>
          </a:xfrm>
          <a:prstGeom prst="rect">
            <a:avLst/>
          </a:prstGeom>
          <a:solidFill>
            <a:srgbClr val="FAF9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9" name="Google Shape;59;p15">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60" name="Shape 60"/>
        <p:cNvGrpSpPr/>
        <p:nvPr/>
      </p:nvGrpSpPr>
      <p:grpSpPr>
        <a:xfrm>
          <a:off x="0" y="0"/>
          <a:ext cx="0" cy="0"/>
          <a:chOff x="0" y="0"/>
          <a:chExt cx="0" cy="0"/>
        </a:xfrm>
      </p:grpSpPr>
      <p:sp>
        <p:nvSpPr>
          <p:cNvPr id="61" name="Google Shape;61;p16"/>
          <p:cNvSpPr/>
          <p:nvPr/>
        </p:nvSpPr>
        <p:spPr>
          <a:xfrm>
            <a:off x="0" y="0"/>
            <a:ext cx="14630400" cy="8229600"/>
          </a:xfrm>
          <a:prstGeom prst="rect">
            <a:avLst/>
          </a:prstGeom>
          <a:solidFill>
            <a:srgbClr val="C7E0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6"/>
          <p:cNvSpPr/>
          <p:nvPr/>
        </p:nvSpPr>
        <p:spPr>
          <a:xfrm>
            <a:off x="0" y="0"/>
            <a:ext cx="14630400" cy="8229600"/>
          </a:xfrm>
          <a:prstGeom prst="rect">
            <a:avLst/>
          </a:prstGeom>
          <a:solidFill>
            <a:srgbClr val="FAF9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3" name="Google Shape;63;p16">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64" name="Shape 64"/>
        <p:cNvGrpSpPr/>
        <p:nvPr/>
      </p:nvGrpSpPr>
      <p:grpSpPr>
        <a:xfrm>
          <a:off x="0" y="0"/>
          <a:ext cx="0" cy="0"/>
          <a:chOff x="0" y="0"/>
          <a:chExt cx="0" cy="0"/>
        </a:xfrm>
      </p:grpSpPr>
      <p:sp>
        <p:nvSpPr>
          <p:cNvPr id="65" name="Google Shape;65;p17"/>
          <p:cNvSpPr/>
          <p:nvPr/>
        </p:nvSpPr>
        <p:spPr>
          <a:xfrm>
            <a:off x="0" y="0"/>
            <a:ext cx="14630400" cy="8229600"/>
          </a:xfrm>
          <a:prstGeom prst="rect">
            <a:avLst/>
          </a:prstGeom>
          <a:solidFill>
            <a:srgbClr val="C7E0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7"/>
          <p:cNvSpPr/>
          <p:nvPr/>
        </p:nvSpPr>
        <p:spPr>
          <a:xfrm>
            <a:off x="0" y="0"/>
            <a:ext cx="14630400" cy="8229600"/>
          </a:xfrm>
          <a:prstGeom prst="rect">
            <a:avLst/>
          </a:prstGeom>
          <a:solidFill>
            <a:srgbClr val="FAF9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7" name="Google Shape;67;p17">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68" name="Shape 68"/>
        <p:cNvGrpSpPr/>
        <p:nvPr/>
      </p:nvGrpSpPr>
      <p:grpSpPr>
        <a:xfrm>
          <a:off x="0" y="0"/>
          <a:ext cx="0" cy="0"/>
          <a:chOff x="0" y="0"/>
          <a:chExt cx="0" cy="0"/>
        </a:xfrm>
      </p:grpSpPr>
      <p:sp>
        <p:nvSpPr>
          <p:cNvPr id="69" name="Google Shape;69;p18"/>
          <p:cNvSpPr/>
          <p:nvPr/>
        </p:nvSpPr>
        <p:spPr>
          <a:xfrm>
            <a:off x="0" y="0"/>
            <a:ext cx="14630400" cy="8229600"/>
          </a:xfrm>
          <a:prstGeom prst="rect">
            <a:avLst/>
          </a:prstGeom>
          <a:solidFill>
            <a:srgbClr val="C7E0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8"/>
          <p:cNvSpPr/>
          <p:nvPr/>
        </p:nvSpPr>
        <p:spPr>
          <a:xfrm>
            <a:off x="0" y="0"/>
            <a:ext cx="14630400" cy="8229600"/>
          </a:xfrm>
          <a:prstGeom prst="rect">
            <a:avLst/>
          </a:prstGeom>
          <a:solidFill>
            <a:srgbClr val="FAF9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1" name="Google Shape;71;p18">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72" name="Shape 72"/>
        <p:cNvGrpSpPr/>
        <p:nvPr/>
      </p:nvGrpSpPr>
      <p:grpSpPr>
        <a:xfrm>
          <a:off x="0" y="0"/>
          <a:ext cx="0" cy="0"/>
          <a:chOff x="0" y="0"/>
          <a:chExt cx="0" cy="0"/>
        </a:xfrm>
      </p:grpSpPr>
      <p:sp>
        <p:nvSpPr>
          <p:cNvPr id="73" name="Google Shape;73;p19"/>
          <p:cNvSpPr/>
          <p:nvPr/>
        </p:nvSpPr>
        <p:spPr>
          <a:xfrm>
            <a:off x="0" y="0"/>
            <a:ext cx="14630400" cy="8229600"/>
          </a:xfrm>
          <a:prstGeom prst="rect">
            <a:avLst/>
          </a:prstGeom>
          <a:solidFill>
            <a:srgbClr val="C7E0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9"/>
          <p:cNvSpPr/>
          <p:nvPr/>
        </p:nvSpPr>
        <p:spPr>
          <a:xfrm>
            <a:off x="0" y="0"/>
            <a:ext cx="14630400" cy="8229600"/>
          </a:xfrm>
          <a:prstGeom prst="rect">
            <a:avLst/>
          </a:prstGeom>
          <a:solidFill>
            <a:srgbClr val="FAF9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5" name="Google Shape;75;p19">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76" name="Shape 76"/>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78" name="Shape 78"/>
        <p:cNvGrpSpPr/>
        <p:nvPr/>
      </p:nvGrpSpPr>
      <p:grpSpPr>
        <a:xfrm>
          <a:off x="0" y="0"/>
          <a:ext cx="0" cy="0"/>
          <a:chOff x="0" y="0"/>
          <a:chExt cx="0" cy="0"/>
        </a:xfrm>
      </p:grpSpPr>
      <p:sp>
        <p:nvSpPr>
          <p:cNvPr id="79" name="Google Shape;79;p22"/>
          <p:cNvSpPr/>
          <p:nvPr/>
        </p:nvSpPr>
        <p:spPr>
          <a:xfrm>
            <a:off x="0" y="0"/>
            <a:ext cx="14630400" cy="8229600"/>
          </a:xfrm>
          <a:prstGeom prst="rect">
            <a:avLst/>
          </a:prstGeom>
          <a:solidFill>
            <a:srgbClr val="DEE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22"/>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1" name="Google Shape;81;p22">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82" name="Shape 82"/>
        <p:cNvGrpSpPr/>
        <p:nvPr/>
      </p:nvGrpSpPr>
      <p:grpSpPr>
        <a:xfrm>
          <a:off x="0" y="0"/>
          <a:ext cx="0" cy="0"/>
          <a:chOff x="0" y="0"/>
          <a:chExt cx="0" cy="0"/>
        </a:xfrm>
      </p:grpSpPr>
      <p:sp>
        <p:nvSpPr>
          <p:cNvPr id="83" name="Google Shape;83;p23"/>
          <p:cNvSpPr/>
          <p:nvPr/>
        </p:nvSpPr>
        <p:spPr>
          <a:xfrm>
            <a:off x="0" y="0"/>
            <a:ext cx="14630400" cy="8229600"/>
          </a:xfrm>
          <a:prstGeom prst="rect">
            <a:avLst/>
          </a:prstGeom>
          <a:solidFill>
            <a:srgbClr val="DEE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23"/>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5" name="Google Shape;85;p23">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86" name="Shape 86"/>
        <p:cNvGrpSpPr/>
        <p:nvPr/>
      </p:nvGrpSpPr>
      <p:grpSpPr>
        <a:xfrm>
          <a:off x="0" y="0"/>
          <a:ext cx="0" cy="0"/>
          <a:chOff x="0" y="0"/>
          <a:chExt cx="0" cy="0"/>
        </a:xfrm>
      </p:grpSpPr>
      <p:sp>
        <p:nvSpPr>
          <p:cNvPr id="87" name="Google Shape;87;p24"/>
          <p:cNvSpPr/>
          <p:nvPr/>
        </p:nvSpPr>
        <p:spPr>
          <a:xfrm>
            <a:off x="0" y="0"/>
            <a:ext cx="14630400" cy="8229600"/>
          </a:xfrm>
          <a:prstGeom prst="rect">
            <a:avLst/>
          </a:prstGeom>
          <a:solidFill>
            <a:srgbClr val="DEE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4"/>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9" name="Google Shape;89;p24">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90" name="Shape 90"/>
        <p:cNvGrpSpPr/>
        <p:nvPr/>
      </p:nvGrpSpPr>
      <p:grpSpPr>
        <a:xfrm>
          <a:off x="0" y="0"/>
          <a:ext cx="0" cy="0"/>
          <a:chOff x="0" y="0"/>
          <a:chExt cx="0" cy="0"/>
        </a:xfrm>
      </p:grpSpPr>
      <p:sp>
        <p:nvSpPr>
          <p:cNvPr id="91" name="Google Shape;91;p25"/>
          <p:cNvSpPr/>
          <p:nvPr/>
        </p:nvSpPr>
        <p:spPr>
          <a:xfrm>
            <a:off x="0" y="0"/>
            <a:ext cx="14630400" cy="8229600"/>
          </a:xfrm>
          <a:prstGeom prst="rect">
            <a:avLst/>
          </a:prstGeom>
          <a:solidFill>
            <a:srgbClr val="DEE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5"/>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3" name="Google Shape;93;p25">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94" name="Shape 94"/>
        <p:cNvGrpSpPr/>
        <p:nvPr/>
      </p:nvGrpSpPr>
      <p:grpSpPr>
        <a:xfrm>
          <a:off x="0" y="0"/>
          <a:ext cx="0" cy="0"/>
          <a:chOff x="0" y="0"/>
          <a:chExt cx="0" cy="0"/>
        </a:xfrm>
      </p:grpSpPr>
      <p:sp>
        <p:nvSpPr>
          <p:cNvPr id="95" name="Google Shape;95;p26"/>
          <p:cNvSpPr/>
          <p:nvPr/>
        </p:nvSpPr>
        <p:spPr>
          <a:xfrm>
            <a:off x="0" y="0"/>
            <a:ext cx="14630400" cy="8229600"/>
          </a:xfrm>
          <a:prstGeom prst="rect">
            <a:avLst/>
          </a:prstGeom>
          <a:solidFill>
            <a:srgbClr val="DEE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26"/>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7" name="Google Shape;97;p26">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98" name="Shape 98"/>
        <p:cNvGrpSpPr/>
        <p:nvPr/>
      </p:nvGrpSpPr>
      <p:grpSpPr>
        <a:xfrm>
          <a:off x="0" y="0"/>
          <a:ext cx="0" cy="0"/>
          <a:chOff x="0" y="0"/>
          <a:chExt cx="0" cy="0"/>
        </a:xfrm>
      </p:grpSpPr>
      <p:sp>
        <p:nvSpPr>
          <p:cNvPr id="99" name="Google Shape;99;p27"/>
          <p:cNvSpPr/>
          <p:nvPr/>
        </p:nvSpPr>
        <p:spPr>
          <a:xfrm>
            <a:off x="0" y="0"/>
            <a:ext cx="14630400" cy="8229600"/>
          </a:xfrm>
          <a:prstGeom prst="rect">
            <a:avLst/>
          </a:prstGeom>
          <a:solidFill>
            <a:srgbClr val="DEE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27"/>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1" name="Google Shape;101;p27">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102" name="Shape 102"/>
        <p:cNvGrpSpPr/>
        <p:nvPr/>
      </p:nvGrpSpPr>
      <p:grpSpPr>
        <a:xfrm>
          <a:off x="0" y="0"/>
          <a:ext cx="0" cy="0"/>
          <a:chOff x="0" y="0"/>
          <a:chExt cx="0" cy="0"/>
        </a:xfrm>
      </p:grpSpPr>
      <p:sp>
        <p:nvSpPr>
          <p:cNvPr id="103" name="Google Shape;103;p28"/>
          <p:cNvSpPr/>
          <p:nvPr/>
        </p:nvSpPr>
        <p:spPr>
          <a:xfrm>
            <a:off x="0" y="0"/>
            <a:ext cx="14630400" cy="8229600"/>
          </a:xfrm>
          <a:prstGeom prst="rect">
            <a:avLst/>
          </a:prstGeom>
          <a:solidFill>
            <a:srgbClr val="DEE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28"/>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5" name="Google Shape;105;p28">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106" name="Shape 106"/>
        <p:cNvGrpSpPr/>
        <p:nvPr/>
      </p:nvGrpSpPr>
      <p:grpSpPr>
        <a:xfrm>
          <a:off x="0" y="0"/>
          <a:ext cx="0" cy="0"/>
          <a:chOff x="0" y="0"/>
          <a:chExt cx="0" cy="0"/>
        </a:xfrm>
      </p:grpSpPr>
      <p:sp>
        <p:nvSpPr>
          <p:cNvPr id="107" name="Google Shape;107;p29"/>
          <p:cNvSpPr/>
          <p:nvPr/>
        </p:nvSpPr>
        <p:spPr>
          <a:xfrm>
            <a:off x="0" y="0"/>
            <a:ext cx="14630400" cy="8229600"/>
          </a:xfrm>
          <a:prstGeom prst="rect">
            <a:avLst/>
          </a:prstGeom>
          <a:solidFill>
            <a:srgbClr val="DEE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29"/>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9" name="Google Shape;109;p29">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10" name="Shape 110"/>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112" name="Shape 112"/>
        <p:cNvGrpSpPr/>
        <p:nvPr/>
      </p:nvGrpSpPr>
      <p:grpSpPr>
        <a:xfrm>
          <a:off x="0" y="0"/>
          <a:ext cx="0" cy="0"/>
          <a:chOff x="0" y="0"/>
          <a:chExt cx="0" cy="0"/>
        </a:xfrm>
      </p:grpSpPr>
      <p:pic>
        <p:nvPicPr>
          <p:cNvPr descr="preencoded.png" id="113" name="Google Shape;113;p32"/>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114" name="Google Shape;114;p32"/>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5" name="Google Shape;115;p32">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16" name="Shape 116"/>
        <p:cNvGrpSpPr/>
        <p:nvPr/>
      </p:nvGrpSpPr>
      <p:grpSpPr>
        <a:xfrm>
          <a:off x="0" y="0"/>
          <a:ext cx="0" cy="0"/>
          <a:chOff x="0" y="0"/>
          <a:chExt cx="0" cy="0"/>
        </a:xfrm>
      </p:grpSpPr>
      <p:pic>
        <p:nvPicPr>
          <p:cNvPr descr="preencoded.png" id="117" name="Google Shape;117;p33"/>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118" name="Google Shape;118;p33"/>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9" name="Google Shape;119;p33">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20" name="Shape 120"/>
        <p:cNvGrpSpPr/>
        <p:nvPr/>
      </p:nvGrpSpPr>
      <p:grpSpPr>
        <a:xfrm>
          <a:off x="0" y="0"/>
          <a:ext cx="0" cy="0"/>
          <a:chOff x="0" y="0"/>
          <a:chExt cx="0" cy="0"/>
        </a:xfrm>
      </p:grpSpPr>
      <p:pic>
        <p:nvPicPr>
          <p:cNvPr descr="preencoded.png" id="121" name="Google Shape;121;p34"/>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122" name="Google Shape;122;p34"/>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3" name="Google Shape;123;p34">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124" name="Shape 124"/>
        <p:cNvGrpSpPr/>
        <p:nvPr/>
      </p:nvGrpSpPr>
      <p:grpSpPr>
        <a:xfrm>
          <a:off x="0" y="0"/>
          <a:ext cx="0" cy="0"/>
          <a:chOff x="0" y="0"/>
          <a:chExt cx="0" cy="0"/>
        </a:xfrm>
      </p:grpSpPr>
      <p:pic>
        <p:nvPicPr>
          <p:cNvPr descr="preencoded.png" id="125" name="Google Shape;125;p35"/>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126" name="Google Shape;126;p35"/>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7" name="Google Shape;127;p35">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128" name="Shape 128"/>
        <p:cNvGrpSpPr/>
        <p:nvPr/>
      </p:nvGrpSpPr>
      <p:grpSpPr>
        <a:xfrm>
          <a:off x="0" y="0"/>
          <a:ext cx="0" cy="0"/>
          <a:chOff x="0" y="0"/>
          <a:chExt cx="0" cy="0"/>
        </a:xfrm>
      </p:grpSpPr>
      <p:pic>
        <p:nvPicPr>
          <p:cNvPr descr="preencoded.png" id="129" name="Google Shape;129;p36"/>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130" name="Google Shape;130;p36"/>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1" name="Google Shape;131;p36">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132" name="Shape 132"/>
        <p:cNvGrpSpPr/>
        <p:nvPr/>
      </p:nvGrpSpPr>
      <p:grpSpPr>
        <a:xfrm>
          <a:off x="0" y="0"/>
          <a:ext cx="0" cy="0"/>
          <a:chOff x="0" y="0"/>
          <a:chExt cx="0" cy="0"/>
        </a:xfrm>
      </p:grpSpPr>
      <p:pic>
        <p:nvPicPr>
          <p:cNvPr descr="preencoded.png" id="133" name="Google Shape;133;p37"/>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134" name="Google Shape;134;p37"/>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5" name="Google Shape;135;p37">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136" name="Shape 136"/>
        <p:cNvGrpSpPr/>
        <p:nvPr/>
      </p:nvGrpSpPr>
      <p:grpSpPr>
        <a:xfrm>
          <a:off x="0" y="0"/>
          <a:ext cx="0" cy="0"/>
          <a:chOff x="0" y="0"/>
          <a:chExt cx="0" cy="0"/>
        </a:xfrm>
      </p:grpSpPr>
      <p:pic>
        <p:nvPicPr>
          <p:cNvPr descr="preencoded.png" id="137" name="Google Shape;137;p38"/>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138" name="Google Shape;138;p38"/>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9" name="Google Shape;139;p38">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140" name="Shape 140"/>
        <p:cNvGrpSpPr/>
        <p:nvPr/>
      </p:nvGrpSpPr>
      <p:grpSpPr>
        <a:xfrm>
          <a:off x="0" y="0"/>
          <a:ext cx="0" cy="0"/>
          <a:chOff x="0" y="0"/>
          <a:chExt cx="0" cy="0"/>
        </a:xfrm>
      </p:grpSpPr>
      <p:pic>
        <p:nvPicPr>
          <p:cNvPr descr="preencoded.png" id="141" name="Google Shape;141;p39"/>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142" name="Google Shape;142;p39"/>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3" name="Google Shape;143;p39">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44" name="Shape 14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0"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slideLayout" Target="../slideLayouts/slideLayout11.xml"/><Relationship Id="rId3" Type="http://schemas.openxmlformats.org/officeDocument/2006/relationships/slideLayout" Target="../slideLayouts/slideLayout12.xml"/><Relationship Id="rId4" Type="http://schemas.openxmlformats.org/officeDocument/2006/relationships/slideLayout" Target="../slideLayouts/slideLayout13.xml"/><Relationship Id="rId10" Type="http://schemas.openxmlformats.org/officeDocument/2006/relationships/theme" Target="../theme/theme3.xml"/><Relationship Id="rId9" Type="http://schemas.openxmlformats.org/officeDocument/2006/relationships/slideLayout" Target="../slideLayouts/slideLayout18.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slideLayout" Target="../slideLayouts/slideLayout16.xml"/><Relationship Id="rId8" Type="http://schemas.openxmlformats.org/officeDocument/2006/relationships/slideLayout" Target="../slideLayouts/slideLayout17.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slideLayout" Target="../slideLayouts/slideLayout20.xml"/><Relationship Id="rId3" Type="http://schemas.openxmlformats.org/officeDocument/2006/relationships/slideLayout" Target="../slideLayouts/slideLayout21.xml"/><Relationship Id="rId4" Type="http://schemas.openxmlformats.org/officeDocument/2006/relationships/slideLayout" Target="../slideLayouts/slideLayout22.xml"/><Relationship Id="rId10" Type="http://schemas.openxmlformats.org/officeDocument/2006/relationships/theme" Target="../theme/theme4.xml"/><Relationship Id="rId9" Type="http://schemas.openxmlformats.org/officeDocument/2006/relationships/slideLayout" Target="../slideLayouts/slideLayout27.xml"/><Relationship Id="rId5" Type="http://schemas.openxmlformats.org/officeDocument/2006/relationships/slideLayout" Target="../slideLayouts/slideLayout23.xml"/><Relationship Id="rId6" Type="http://schemas.openxmlformats.org/officeDocument/2006/relationships/slideLayout" Target="../slideLayouts/slideLayout24.xml"/><Relationship Id="rId7" Type="http://schemas.openxmlformats.org/officeDocument/2006/relationships/slideLayout" Target="../slideLayouts/slideLayout25.xml"/><Relationship Id="rId8"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slideLayout" Target="../slideLayouts/slideLayout29.xml"/><Relationship Id="rId3" Type="http://schemas.openxmlformats.org/officeDocument/2006/relationships/slideLayout" Target="../slideLayouts/slideLayout30.xml"/><Relationship Id="rId4" Type="http://schemas.openxmlformats.org/officeDocument/2006/relationships/slideLayout" Target="../slideLayouts/slideLayout31.xml"/><Relationship Id="rId10" Type="http://schemas.openxmlformats.org/officeDocument/2006/relationships/theme" Target="../theme/theme2.xml"/><Relationship Id="rId9" Type="http://schemas.openxmlformats.org/officeDocument/2006/relationships/slideLayout" Target="../slideLayouts/slideLayout36.xml"/><Relationship Id="rId5" Type="http://schemas.openxmlformats.org/officeDocument/2006/relationships/slideLayout" Target="../slideLayouts/slideLayout32.xml"/><Relationship Id="rId6" Type="http://schemas.openxmlformats.org/officeDocument/2006/relationships/slideLayout" Target="../slideLayouts/slideLayout33.xml"/><Relationship Id="rId7" Type="http://schemas.openxmlformats.org/officeDocument/2006/relationships/slideLayout" Target="../slideLayouts/slideLayout34.xml"/><Relationship Id="rId8"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7" r:id="rId1"/>
    <p:sldLayoutId id="2147483658" r:id="rId2"/>
    <p:sldLayoutId id="2147483659" r:id="rId3"/>
    <p:sldLayoutId id="2147483660" r:id="rId4"/>
    <p:sldLayoutId id="2147483661" r:id="rId5"/>
    <p:sldLayoutId id="2147483662" r:id="rId6"/>
    <p:sldLayoutId id="2147483663" r:id="rId7"/>
    <p:sldLayoutId id="2147483664" r:id="rId8"/>
    <p:sldLayoutId id="2147483665"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5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41.png"/><Relationship Id="rId4" Type="http://schemas.openxmlformats.org/officeDocument/2006/relationships/image" Target="../media/image58.png"/><Relationship Id="rId5" Type="http://schemas.openxmlformats.org/officeDocument/2006/relationships/image" Target="../media/image4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 Id="rId3" Type="http://schemas.openxmlformats.org/officeDocument/2006/relationships/image" Target="../media/image5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8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5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62.png"/><Relationship Id="rId4" Type="http://schemas.openxmlformats.org/officeDocument/2006/relationships/image" Target="../media/image5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6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 Id="rId3" Type="http://schemas.openxmlformats.org/officeDocument/2006/relationships/image" Target="../media/image41.png"/><Relationship Id="rId4" Type="http://schemas.openxmlformats.org/officeDocument/2006/relationships/image" Target="../media/image64.png"/><Relationship Id="rId5" Type="http://schemas.openxmlformats.org/officeDocument/2006/relationships/image" Target="../media/image6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9.xml"/><Relationship Id="rId3" Type="http://schemas.openxmlformats.org/officeDocument/2006/relationships/image" Target="../media/image7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8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8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image" Target="../media/image6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 Id="rId3" Type="http://schemas.openxmlformats.org/officeDocument/2006/relationships/image" Target="../media/image68.png"/><Relationship Id="rId4" Type="http://schemas.openxmlformats.org/officeDocument/2006/relationships/image" Target="../media/image70.png"/><Relationship Id="rId5" Type="http://schemas.openxmlformats.org/officeDocument/2006/relationships/image" Target="../media/image71.png"/><Relationship Id="rId6" Type="http://schemas.openxmlformats.org/officeDocument/2006/relationships/image" Target="../media/image8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4.xml"/><Relationship Id="rId3" Type="http://schemas.openxmlformats.org/officeDocument/2006/relationships/image" Target="../media/image7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6.xml"/><Relationship Id="rId3" Type="http://schemas.openxmlformats.org/officeDocument/2006/relationships/image" Target="../media/image87.png"/><Relationship Id="rId4" Type="http://schemas.openxmlformats.org/officeDocument/2006/relationships/image" Target="../media/image66.png"/><Relationship Id="rId5" Type="http://schemas.openxmlformats.org/officeDocument/2006/relationships/image" Target="../media/image69.png"/><Relationship Id="rId6" Type="http://schemas.openxmlformats.org/officeDocument/2006/relationships/image" Target="../media/image76.png"/><Relationship Id="rId7" Type="http://schemas.openxmlformats.org/officeDocument/2006/relationships/image" Target="../media/image7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7.xml"/><Relationship Id="rId3" Type="http://schemas.openxmlformats.org/officeDocument/2006/relationships/image" Target="../media/image7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8.xml"/><Relationship Id="rId3" Type="http://schemas.openxmlformats.org/officeDocument/2006/relationships/image" Target="../media/image6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9.xml"/><Relationship Id="rId3" Type="http://schemas.openxmlformats.org/officeDocument/2006/relationships/image" Target="../media/image8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2.xml"/><Relationship Id="rId3" Type="http://schemas.openxmlformats.org/officeDocument/2006/relationships/image" Target="../media/image8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34.xml"/><Relationship Id="rId3" Type="http://schemas.openxmlformats.org/officeDocument/2006/relationships/image" Target="../media/image7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35.xml"/><Relationship Id="rId3" Type="http://schemas.openxmlformats.org/officeDocument/2006/relationships/image" Target="../media/image7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7.xml"/><Relationship Id="rId3" Type="http://schemas.openxmlformats.org/officeDocument/2006/relationships/image" Target="../media/image7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39.xml"/><Relationship Id="rId3" Type="http://schemas.openxmlformats.org/officeDocument/2006/relationships/image" Target="../media/image8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pic>
        <p:nvPicPr>
          <p:cNvPr id="150" name="Google Shape;150;p41"/>
          <p:cNvPicPr preferRelativeResize="0"/>
          <p:nvPr/>
        </p:nvPicPr>
        <p:blipFill>
          <a:blip r:embed="rId3">
            <a:alphaModFix/>
          </a:blip>
          <a:stretch>
            <a:fillRect/>
          </a:stretch>
        </p:blipFill>
        <p:spPr>
          <a:xfrm>
            <a:off x="152400" y="152400"/>
            <a:ext cx="14325599" cy="699694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42"/>
          <p:cNvSpPr/>
          <p:nvPr/>
        </p:nvSpPr>
        <p:spPr>
          <a:xfrm>
            <a:off x="793790" y="1601391"/>
            <a:ext cx="13042821" cy="1488519"/>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000000"/>
              </a:buClr>
              <a:buSzPts val="4650"/>
              <a:buFont typeface="Petrona"/>
              <a:buNone/>
            </a:pPr>
            <a:r>
              <a:rPr b="1" i="0" lang="en-US" sz="4650" u="none" cap="none" strike="noStrike">
                <a:solidFill>
                  <a:srgbClr val="000000"/>
                </a:solidFill>
                <a:latin typeface="Petrona"/>
                <a:ea typeface="Petrona"/>
                <a:cs typeface="Petrona"/>
                <a:sym typeface="Petrona"/>
              </a:rPr>
              <a:t>Tổng Quan Đề Tài: Xây Dựng AI Agent Cho Thương Mại Điện Tử</a:t>
            </a:r>
            <a:endParaRPr b="0" i="0" sz="4650" u="none" cap="none" strike="noStrike"/>
          </a:p>
        </p:txBody>
      </p:sp>
      <p:sp>
        <p:nvSpPr>
          <p:cNvPr id="157" name="Google Shape;157;p42"/>
          <p:cNvSpPr/>
          <p:nvPr/>
        </p:nvSpPr>
        <p:spPr>
          <a:xfrm>
            <a:off x="793790" y="3543538"/>
            <a:ext cx="13042821"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Trong bối cảnh thương mại điện tử phát triển nhanh, lượng dữ liệu khổng lồ được tạo ra mỗi ngày. Việc truy xuất và phân tích dữ liệu đòi hỏi kiến thức SQL chuyên sâu, gây khó khăn cho người không chuyên. Đề tài này nhằm xây dựng hệ thống AI Agent sử dụng công nghệ Text-to-SQL, giúp người dùng tương tác trực tiếp với cơ sở dữ liệu TMĐT bằng ngôn ngữ tự nhiên tiếng Anh.</a:t>
            </a:r>
            <a:endParaRPr b="0" i="0" sz="1750" u="none" cap="none" strike="noStrike"/>
          </a:p>
        </p:txBody>
      </p:sp>
      <p:sp>
        <p:nvSpPr>
          <p:cNvPr id="158" name="Google Shape;158;p42"/>
          <p:cNvSpPr/>
          <p:nvPr/>
        </p:nvSpPr>
        <p:spPr>
          <a:xfrm>
            <a:off x="793790" y="5250299"/>
            <a:ext cx="13042821"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Hệ thống dựa trên Large Language Models (LLMs) và xử lý ngôn ngữ tự nhiên (NLP) để chuyển câu hỏi thành truy vấn SQL, tối ưu hóa quy trình truy vấn và mở rộng ứng dụng sang các lĩnh vực khác như ngân hàng, giáo dục, logistics.</a:t>
            </a:r>
            <a:endParaRPr b="0" i="0" sz="1750" u="none" cap="none" strike="noStrike"/>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descr="preencoded.png" id="164" name="Google Shape;164;p43"/>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165" name="Google Shape;165;p43"/>
          <p:cNvSpPr/>
          <p:nvPr/>
        </p:nvSpPr>
        <p:spPr>
          <a:xfrm>
            <a:off x="6280190" y="839867"/>
            <a:ext cx="7556421" cy="1488519"/>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000000"/>
              </a:buClr>
              <a:buSzPts val="4650"/>
              <a:buFont typeface="Petrona"/>
              <a:buNone/>
            </a:pPr>
            <a:r>
              <a:rPr b="1" i="0" lang="en-US" sz="4650" u="none" cap="none" strike="noStrike">
                <a:solidFill>
                  <a:srgbClr val="000000"/>
                </a:solidFill>
                <a:latin typeface="Petrona"/>
                <a:ea typeface="Petrona"/>
                <a:cs typeface="Petrona"/>
                <a:sym typeface="Petrona"/>
              </a:rPr>
              <a:t>Lý Do Chọn Đề Tài Và Tầm Quan Trọng</a:t>
            </a:r>
            <a:endParaRPr b="0" i="0" sz="4650" u="none" cap="none" strike="noStrike"/>
          </a:p>
        </p:txBody>
      </p:sp>
      <p:sp>
        <p:nvSpPr>
          <p:cNvPr id="166" name="Google Shape;166;p43"/>
          <p:cNvSpPr/>
          <p:nvPr/>
        </p:nvSpPr>
        <p:spPr>
          <a:xfrm>
            <a:off x="6280190" y="2668548"/>
            <a:ext cx="3664863" cy="2791539"/>
          </a:xfrm>
          <a:prstGeom prst="roundRect">
            <a:avLst>
              <a:gd fmla="val 3413" name="adj"/>
            </a:avLst>
          </a:prstGeom>
          <a:solidFill>
            <a:srgbClr val="CCEEFF"/>
          </a:solidFill>
          <a:ln cap="flat" cmpd="sng" w="9525">
            <a:solidFill>
              <a:srgbClr val="B2D4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43"/>
          <p:cNvSpPr/>
          <p:nvPr/>
        </p:nvSpPr>
        <p:spPr>
          <a:xfrm>
            <a:off x="6514624" y="2902982"/>
            <a:ext cx="2977039" cy="372070"/>
          </a:xfrm>
          <a:prstGeom prst="rect">
            <a:avLst/>
          </a:prstGeom>
          <a:noFill/>
          <a:ln>
            <a:noFill/>
          </a:ln>
        </p:spPr>
        <p:txBody>
          <a:bodyPr anchorCtr="0" anchor="t" bIns="0" lIns="0" spcFirstLastPara="1" rIns="0" wrap="square" tIns="0">
            <a:noAutofit/>
          </a:bodyPr>
          <a:lstStyle/>
          <a:p>
            <a:pPr indent="0" lvl="0" marL="0" marR="0" rtl="0" algn="l">
              <a:lnSpc>
                <a:spcPct val="126086"/>
              </a:lnSpc>
              <a:spcBef>
                <a:spcPts val="0"/>
              </a:spcBef>
              <a:spcAft>
                <a:spcPts val="0"/>
              </a:spcAft>
              <a:buClr>
                <a:srgbClr val="272525"/>
              </a:buClr>
              <a:buSzPts val="2300"/>
              <a:buFont typeface="Petrona"/>
              <a:buNone/>
            </a:pPr>
            <a:r>
              <a:rPr b="1" i="0" lang="en-US" sz="2300" u="none" cap="none" strike="noStrike">
                <a:solidFill>
                  <a:srgbClr val="272525"/>
                </a:solidFill>
                <a:latin typeface="Petrona"/>
                <a:ea typeface="Petrona"/>
                <a:cs typeface="Petrona"/>
                <a:sym typeface="Petrona"/>
              </a:rPr>
              <a:t>Phát Triển TMĐT</a:t>
            </a:r>
            <a:endParaRPr b="0" i="0" sz="2300" u="none" cap="none" strike="noStrike"/>
          </a:p>
        </p:txBody>
      </p:sp>
      <p:sp>
        <p:nvSpPr>
          <p:cNvPr id="168" name="Google Shape;168;p43"/>
          <p:cNvSpPr/>
          <p:nvPr/>
        </p:nvSpPr>
        <p:spPr>
          <a:xfrm>
            <a:off x="6514624" y="3411141"/>
            <a:ext cx="3195995"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TMĐT phát triển mạnh, tạo ra lượng lớn dữ liệu khách hàng, đơn hàng, sản phẩm, đánh giá và tồn kho.</a:t>
            </a:r>
            <a:endParaRPr b="0" i="0" sz="1750" u="none" cap="none" strike="noStrike"/>
          </a:p>
        </p:txBody>
      </p:sp>
      <p:sp>
        <p:nvSpPr>
          <p:cNvPr id="169" name="Google Shape;169;p43"/>
          <p:cNvSpPr/>
          <p:nvPr/>
        </p:nvSpPr>
        <p:spPr>
          <a:xfrm>
            <a:off x="10171867" y="2668548"/>
            <a:ext cx="3664863" cy="2791539"/>
          </a:xfrm>
          <a:prstGeom prst="roundRect">
            <a:avLst>
              <a:gd fmla="val 3413" name="adj"/>
            </a:avLst>
          </a:prstGeom>
          <a:solidFill>
            <a:srgbClr val="CCEEFF"/>
          </a:solidFill>
          <a:ln cap="flat" cmpd="sng" w="9525">
            <a:solidFill>
              <a:srgbClr val="B2D4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43"/>
          <p:cNvSpPr/>
          <p:nvPr/>
        </p:nvSpPr>
        <p:spPr>
          <a:xfrm>
            <a:off x="10406301" y="2902982"/>
            <a:ext cx="2977039" cy="372070"/>
          </a:xfrm>
          <a:prstGeom prst="rect">
            <a:avLst/>
          </a:prstGeom>
          <a:noFill/>
          <a:ln>
            <a:noFill/>
          </a:ln>
        </p:spPr>
        <p:txBody>
          <a:bodyPr anchorCtr="0" anchor="t" bIns="0" lIns="0" spcFirstLastPara="1" rIns="0" wrap="square" tIns="0">
            <a:noAutofit/>
          </a:bodyPr>
          <a:lstStyle/>
          <a:p>
            <a:pPr indent="0" lvl="0" marL="0" marR="0" rtl="0" algn="l">
              <a:lnSpc>
                <a:spcPct val="126086"/>
              </a:lnSpc>
              <a:spcBef>
                <a:spcPts val="0"/>
              </a:spcBef>
              <a:spcAft>
                <a:spcPts val="0"/>
              </a:spcAft>
              <a:buClr>
                <a:srgbClr val="272525"/>
              </a:buClr>
              <a:buSzPts val="2300"/>
              <a:buFont typeface="Petrona"/>
              <a:buNone/>
            </a:pPr>
            <a:r>
              <a:rPr b="1" i="0" lang="en-US" sz="2300" u="none" cap="none" strike="noStrike">
                <a:solidFill>
                  <a:srgbClr val="272525"/>
                </a:solidFill>
                <a:latin typeface="Petrona"/>
                <a:ea typeface="Petrona"/>
                <a:cs typeface="Petrona"/>
                <a:sym typeface="Petrona"/>
              </a:rPr>
              <a:t>Tiềm Năng AI</a:t>
            </a:r>
            <a:endParaRPr b="0" i="0" sz="2300" u="none" cap="none" strike="noStrike"/>
          </a:p>
        </p:txBody>
      </p:sp>
      <p:sp>
        <p:nvSpPr>
          <p:cNvPr id="171" name="Google Shape;171;p43"/>
          <p:cNvSpPr/>
          <p:nvPr/>
        </p:nvSpPr>
        <p:spPr>
          <a:xfrm>
            <a:off x="10406301" y="3411141"/>
            <a:ext cx="3195995"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Mô hình ngôn ngữ lớn (LLMs) có khả năng xử lý ngôn ngữ tự nhiên vượt trội, giúp tự động chuyển đổi câu hỏi sang truy vấn SQL.</a:t>
            </a:r>
            <a:endParaRPr b="0" i="0" sz="1750" u="none" cap="none" strike="noStrike"/>
          </a:p>
        </p:txBody>
      </p:sp>
      <p:sp>
        <p:nvSpPr>
          <p:cNvPr id="172" name="Google Shape;172;p43"/>
          <p:cNvSpPr/>
          <p:nvPr/>
        </p:nvSpPr>
        <p:spPr>
          <a:xfrm>
            <a:off x="6280190" y="5686901"/>
            <a:ext cx="7556421" cy="1702832"/>
          </a:xfrm>
          <a:prstGeom prst="roundRect">
            <a:avLst>
              <a:gd fmla="val 5595" name="adj"/>
            </a:avLst>
          </a:prstGeom>
          <a:solidFill>
            <a:srgbClr val="CCEEFF"/>
          </a:solidFill>
          <a:ln cap="flat" cmpd="sng" w="9525">
            <a:solidFill>
              <a:srgbClr val="B2D4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43"/>
          <p:cNvSpPr/>
          <p:nvPr/>
        </p:nvSpPr>
        <p:spPr>
          <a:xfrm>
            <a:off x="6514624" y="5921335"/>
            <a:ext cx="2979539" cy="372070"/>
          </a:xfrm>
          <a:prstGeom prst="rect">
            <a:avLst/>
          </a:prstGeom>
          <a:noFill/>
          <a:ln>
            <a:noFill/>
          </a:ln>
        </p:spPr>
        <p:txBody>
          <a:bodyPr anchorCtr="0" anchor="t" bIns="0" lIns="0" spcFirstLastPara="1" rIns="0" wrap="square" tIns="0">
            <a:noAutofit/>
          </a:bodyPr>
          <a:lstStyle/>
          <a:p>
            <a:pPr indent="0" lvl="0" marL="0" marR="0" rtl="0" algn="l">
              <a:lnSpc>
                <a:spcPct val="126086"/>
              </a:lnSpc>
              <a:spcBef>
                <a:spcPts val="0"/>
              </a:spcBef>
              <a:spcAft>
                <a:spcPts val="0"/>
              </a:spcAft>
              <a:buClr>
                <a:srgbClr val="272525"/>
              </a:buClr>
              <a:buSzPts val="2300"/>
              <a:buFont typeface="Petrona"/>
              <a:buNone/>
            </a:pPr>
            <a:r>
              <a:rPr b="1" i="0" lang="en-US" sz="2300" u="none" cap="none" strike="noStrike">
                <a:solidFill>
                  <a:srgbClr val="272525"/>
                </a:solidFill>
                <a:latin typeface="Petrona"/>
                <a:ea typeface="Petrona"/>
                <a:cs typeface="Petrona"/>
                <a:sym typeface="Petrona"/>
              </a:rPr>
              <a:t>Giải Pháp Thân Thiện</a:t>
            </a:r>
            <a:endParaRPr b="0" i="0" sz="2300" u="none" cap="none" strike="noStrike"/>
          </a:p>
        </p:txBody>
      </p:sp>
      <p:sp>
        <p:nvSpPr>
          <p:cNvPr id="174" name="Google Shape;174;p43"/>
          <p:cNvSpPr/>
          <p:nvPr/>
        </p:nvSpPr>
        <p:spPr>
          <a:xfrm>
            <a:off x="6514624" y="6429494"/>
            <a:ext cx="7087553"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Hệ thống Text-to-SQL giúp người dùng không chuyên dễ dàng truy vấn dữ liệu mà không cần kiến thức lập trình.</a:t>
            </a:r>
            <a:endParaRPr b="0" i="0" sz="1750" u="none" cap="none" strike="noStrike"/>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44"/>
          <p:cNvSpPr/>
          <p:nvPr/>
        </p:nvSpPr>
        <p:spPr>
          <a:xfrm>
            <a:off x="793790" y="1795701"/>
            <a:ext cx="5954197" cy="744260"/>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000000"/>
              </a:buClr>
              <a:buSzPts val="4650"/>
              <a:buFont typeface="Petrona"/>
              <a:buNone/>
            </a:pPr>
            <a:r>
              <a:rPr b="1" i="0" lang="en-US" sz="4650" u="none" cap="none" strike="noStrike">
                <a:solidFill>
                  <a:srgbClr val="000000"/>
                </a:solidFill>
                <a:latin typeface="Petrona"/>
                <a:ea typeface="Petrona"/>
                <a:cs typeface="Petrona"/>
                <a:sym typeface="Petrona"/>
              </a:rPr>
              <a:t>Mục Tiêu Của Đề Tài</a:t>
            </a:r>
            <a:endParaRPr b="0" i="0" sz="4650" u="none" cap="none" strike="noStrike"/>
          </a:p>
        </p:txBody>
      </p:sp>
      <p:sp>
        <p:nvSpPr>
          <p:cNvPr id="181" name="Google Shape;181;p44"/>
          <p:cNvSpPr/>
          <p:nvPr/>
        </p:nvSpPr>
        <p:spPr>
          <a:xfrm>
            <a:off x="793790" y="2993588"/>
            <a:ext cx="510302" cy="510302"/>
          </a:xfrm>
          <a:prstGeom prst="roundRect">
            <a:avLst>
              <a:gd fmla="val 18669" name="adj"/>
            </a:avLst>
          </a:prstGeom>
          <a:solidFill>
            <a:srgbClr val="CCEEFF"/>
          </a:solidFill>
          <a:ln cap="flat" cmpd="sng" w="9525">
            <a:solidFill>
              <a:srgbClr val="B2D4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44"/>
          <p:cNvSpPr/>
          <p:nvPr/>
        </p:nvSpPr>
        <p:spPr>
          <a:xfrm>
            <a:off x="1530906" y="3071455"/>
            <a:ext cx="2977039" cy="372070"/>
          </a:xfrm>
          <a:prstGeom prst="rect">
            <a:avLst/>
          </a:prstGeom>
          <a:noFill/>
          <a:ln>
            <a:noFill/>
          </a:ln>
        </p:spPr>
        <p:txBody>
          <a:bodyPr anchorCtr="0" anchor="t" bIns="0" lIns="0" spcFirstLastPara="1" rIns="0" wrap="square" tIns="0">
            <a:noAutofit/>
          </a:bodyPr>
          <a:lstStyle/>
          <a:p>
            <a:pPr indent="0" lvl="0" marL="0" marR="0" rtl="0" algn="l">
              <a:lnSpc>
                <a:spcPct val="126086"/>
              </a:lnSpc>
              <a:spcBef>
                <a:spcPts val="0"/>
              </a:spcBef>
              <a:spcAft>
                <a:spcPts val="0"/>
              </a:spcAft>
              <a:buClr>
                <a:srgbClr val="272525"/>
              </a:buClr>
              <a:buSzPts val="2300"/>
              <a:buFont typeface="Petrona"/>
              <a:buNone/>
            </a:pPr>
            <a:r>
              <a:rPr b="1" i="0" lang="en-US" sz="2300" u="none" cap="none" strike="noStrike">
                <a:solidFill>
                  <a:srgbClr val="272525"/>
                </a:solidFill>
                <a:latin typeface="Petrona"/>
                <a:ea typeface="Petrona"/>
                <a:cs typeface="Petrona"/>
                <a:sym typeface="Petrona"/>
              </a:rPr>
              <a:t>Phát Triển AI Agent</a:t>
            </a:r>
            <a:endParaRPr b="0" i="0" sz="2300" u="none" cap="none" strike="noStrike"/>
          </a:p>
        </p:txBody>
      </p:sp>
      <p:sp>
        <p:nvSpPr>
          <p:cNvPr id="183" name="Google Shape;183;p44"/>
          <p:cNvSpPr/>
          <p:nvPr/>
        </p:nvSpPr>
        <p:spPr>
          <a:xfrm>
            <a:off x="1530906" y="3579614"/>
            <a:ext cx="3421499" cy="108870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Tiếp nhận câu hỏi tiếng Anh và chuyển đổi thành truy vấn SQL tương ứng.</a:t>
            </a:r>
            <a:endParaRPr b="0" i="0" sz="1750" u="none" cap="none" strike="noStrike"/>
          </a:p>
        </p:txBody>
      </p:sp>
      <p:sp>
        <p:nvSpPr>
          <p:cNvPr id="184" name="Google Shape;184;p44"/>
          <p:cNvSpPr/>
          <p:nvPr/>
        </p:nvSpPr>
        <p:spPr>
          <a:xfrm>
            <a:off x="5235893" y="2993588"/>
            <a:ext cx="510302" cy="510302"/>
          </a:xfrm>
          <a:prstGeom prst="roundRect">
            <a:avLst>
              <a:gd fmla="val 18669" name="adj"/>
            </a:avLst>
          </a:prstGeom>
          <a:solidFill>
            <a:srgbClr val="CCEEFF"/>
          </a:solidFill>
          <a:ln cap="flat" cmpd="sng" w="9525">
            <a:solidFill>
              <a:srgbClr val="B2D4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44"/>
          <p:cNvSpPr/>
          <p:nvPr/>
        </p:nvSpPr>
        <p:spPr>
          <a:xfrm>
            <a:off x="5973008" y="3071455"/>
            <a:ext cx="3093244" cy="372070"/>
          </a:xfrm>
          <a:prstGeom prst="rect">
            <a:avLst/>
          </a:prstGeom>
          <a:noFill/>
          <a:ln>
            <a:noFill/>
          </a:ln>
        </p:spPr>
        <p:txBody>
          <a:bodyPr anchorCtr="0" anchor="t" bIns="0" lIns="0" spcFirstLastPara="1" rIns="0" wrap="square" tIns="0">
            <a:noAutofit/>
          </a:bodyPr>
          <a:lstStyle/>
          <a:p>
            <a:pPr indent="0" lvl="0" marL="0" marR="0" rtl="0" algn="l">
              <a:lnSpc>
                <a:spcPct val="126086"/>
              </a:lnSpc>
              <a:spcBef>
                <a:spcPts val="0"/>
              </a:spcBef>
              <a:spcAft>
                <a:spcPts val="0"/>
              </a:spcAft>
              <a:buClr>
                <a:srgbClr val="272525"/>
              </a:buClr>
              <a:buSzPts val="2300"/>
              <a:buFont typeface="Petrona"/>
              <a:buNone/>
            </a:pPr>
            <a:r>
              <a:rPr b="1" i="0" lang="en-US" sz="2300" u="none" cap="none" strike="noStrike">
                <a:solidFill>
                  <a:srgbClr val="272525"/>
                </a:solidFill>
                <a:latin typeface="Petrona"/>
                <a:ea typeface="Petrona"/>
                <a:cs typeface="Petrona"/>
                <a:sym typeface="Petrona"/>
              </a:rPr>
              <a:t>Thiết Kế Cơ Sở Dữ Liệu</a:t>
            </a:r>
            <a:endParaRPr b="0" i="0" sz="2300" u="none" cap="none" strike="noStrike"/>
          </a:p>
        </p:txBody>
      </p:sp>
      <p:sp>
        <p:nvSpPr>
          <p:cNvPr id="186" name="Google Shape;186;p44"/>
          <p:cNvSpPr/>
          <p:nvPr/>
        </p:nvSpPr>
        <p:spPr>
          <a:xfrm>
            <a:off x="5973008" y="3579614"/>
            <a:ext cx="3421499"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Mô phỏng hoạt động TMĐT với các bảng dữ liệu mẫu.</a:t>
            </a:r>
            <a:endParaRPr b="0" i="0" sz="1750" u="none" cap="none" strike="noStrike"/>
          </a:p>
        </p:txBody>
      </p:sp>
      <p:sp>
        <p:nvSpPr>
          <p:cNvPr id="187" name="Google Shape;187;p44"/>
          <p:cNvSpPr/>
          <p:nvPr/>
        </p:nvSpPr>
        <p:spPr>
          <a:xfrm>
            <a:off x="9677995" y="2993588"/>
            <a:ext cx="510302" cy="510302"/>
          </a:xfrm>
          <a:prstGeom prst="roundRect">
            <a:avLst>
              <a:gd fmla="val 18669" name="adj"/>
            </a:avLst>
          </a:prstGeom>
          <a:solidFill>
            <a:srgbClr val="CCEEFF"/>
          </a:solidFill>
          <a:ln cap="flat" cmpd="sng" w="9525">
            <a:solidFill>
              <a:srgbClr val="B2D4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44"/>
          <p:cNvSpPr/>
          <p:nvPr/>
        </p:nvSpPr>
        <p:spPr>
          <a:xfrm>
            <a:off x="10415111" y="3071455"/>
            <a:ext cx="2977039" cy="372070"/>
          </a:xfrm>
          <a:prstGeom prst="rect">
            <a:avLst/>
          </a:prstGeom>
          <a:noFill/>
          <a:ln>
            <a:noFill/>
          </a:ln>
        </p:spPr>
        <p:txBody>
          <a:bodyPr anchorCtr="0" anchor="t" bIns="0" lIns="0" spcFirstLastPara="1" rIns="0" wrap="square" tIns="0">
            <a:noAutofit/>
          </a:bodyPr>
          <a:lstStyle/>
          <a:p>
            <a:pPr indent="0" lvl="0" marL="0" marR="0" rtl="0" algn="l">
              <a:lnSpc>
                <a:spcPct val="126086"/>
              </a:lnSpc>
              <a:spcBef>
                <a:spcPts val="0"/>
              </a:spcBef>
              <a:spcAft>
                <a:spcPts val="0"/>
              </a:spcAft>
              <a:buClr>
                <a:srgbClr val="272525"/>
              </a:buClr>
              <a:buSzPts val="2300"/>
              <a:buFont typeface="Petrona"/>
              <a:buNone/>
            </a:pPr>
            <a:r>
              <a:rPr b="1" i="0" lang="en-US" sz="2300" u="none" cap="none" strike="noStrike">
                <a:solidFill>
                  <a:srgbClr val="272525"/>
                </a:solidFill>
                <a:latin typeface="Petrona"/>
                <a:ea typeface="Petrona"/>
                <a:cs typeface="Petrona"/>
                <a:sym typeface="Petrona"/>
              </a:rPr>
              <a:t>Tích Hợp Mô Hình AI</a:t>
            </a:r>
            <a:endParaRPr b="0" i="0" sz="2300" u="none" cap="none" strike="noStrike"/>
          </a:p>
        </p:txBody>
      </p:sp>
      <p:sp>
        <p:nvSpPr>
          <p:cNvPr id="189" name="Google Shape;189;p44"/>
          <p:cNvSpPr/>
          <p:nvPr/>
        </p:nvSpPr>
        <p:spPr>
          <a:xfrm>
            <a:off x="10415111" y="3579614"/>
            <a:ext cx="3421499" cy="108870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Sử dụng LLM hiện có để xử lý chuyển đổi ngôn ngữ tự nhiên sang SQL.</a:t>
            </a:r>
            <a:endParaRPr b="0" i="0" sz="1750" u="none" cap="none" strike="noStrike"/>
          </a:p>
        </p:txBody>
      </p:sp>
      <p:sp>
        <p:nvSpPr>
          <p:cNvPr id="190" name="Google Shape;190;p44"/>
          <p:cNvSpPr/>
          <p:nvPr/>
        </p:nvSpPr>
        <p:spPr>
          <a:xfrm>
            <a:off x="793790" y="5121950"/>
            <a:ext cx="510302" cy="510302"/>
          </a:xfrm>
          <a:prstGeom prst="roundRect">
            <a:avLst>
              <a:gd fmla="val 18669" name="adj"/>
            </a:avLst>
          </a:prstGeom>
          <a:solidFill>
            <a:srgbClr val="CCEEFF"/>
          </a:solidFill>
          <a:ln cap="flat" cmpd="sng" w="9525">
            <a:solidFill>
              <a:srgbClr val="B2D4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44"/>
          <p:cNvSpPr/>
          <p:nvPr/>
        </p:nvSpPr>
        <p:spPr>
          <a:xfrm>
            <a:off x="1530906" y="5199817"/>
            <a:ext cx="2977039" cy="372070"/>
          </a:xfrm>
          <a:prstGeom prst="rect">
            <a:avLst/>
          </a:prstGeom>
          <a:noFill/>
          <a:ln>
            <a:noFill/>
          </a:ln>
        </p:spPr>
        <p:txBody>
          <a:bodyPr anchorCtr="0" anchor="t" bIns="0" lIns="0" spcFirstLastPara="1" rIns="0" wrap="square" tIns="0">
            <a:noAutofit/>
          </a:bodyPr>
          <a:lstStyle/>
          <a:p>
            <a:pPr indent="0" lvl="0" marL="0" marR="0" rtl="0" algn="l">
              <a:lnSpc>
                <a:spcPct val="126086"/>
              </a:lnSpc>
              <a:spcBef>
                <a:spcPts val="0"/>
              </a:spcBef>
              <a:spcAft>
                <a:spcPts val="0"/>
              </a:spcAft>
              <a:buClr>
                <a:srgbClr val="272525"/>
              </a:buClr>
              <a:buSzPts val="2300"/>
              <a:buFont typeface="Petrona"/>
              <a:buNone/>
            </a:pPr>
            <a:r>
              <a:rPr b="1" i="0" lang="en-US" sz="2300" u="none" cap="none" strike="noStrike">
                <a:solidFill>
                  <a:srgbClr val="272525"/>
                </a:solidFill>
                <a:latin typeface="Petrona"/>
                <a:ea typeface="Petrona"/>
                <a:cs typeface="Petrona"/>
                <a:sym typeface="Petrona"/>
              </a:rPr>
              <a:t>Phát Triển Giao Diện</a:t>
            </a:r>
            <a:endParaRPr b="0" i="0" sz="2300" u="none" cap="none" strike="noStrike"/>
          </a:p>
        </p:txBody>
      </p:sp>
      <p:sp>
        <p:nvSpPr>
          <p:cNvPr id="192" name="Google Shape;192;p44"/>
          <p:cNvSpPr/>
          <p:nvPr/>
        </p:nvSpPr>
        <p:spPr>
          <a:xfrm>
            <a:off x="1530906" y="5707975"/>
            <a:ext cx="5642610"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Giao diện web hoặc chatbot đơn giản để thử nghiệm truy vấn.</a:t>
            </a:r>
            <a:endParaRPr b="0" i="0" sz="1750" u="none" cap="none" strike="noStrike"/>
          </a:p>
        </p:txBody>
      </p:sp>
      <p:sp>
        <p:nvSpPr>
          <p:cNvPr id="193" name="Google Shape;193;p44"/>
          <p:cNvSpPr/>
          <p:nvPr/>
        </p:nvSpPr>
        <p:spPr>
          <a:xfrm>
            <a:off x="7457003" y="5121950"/>
            <a:ext cx="510302" cy="510302"/>
          </a:xfrm>
          <a:prstGeom prst="roundRect">
            <a:avLst>
              <a:gd fmla="val 18669" name="adj"/>
            </a:avLst>
          </a:prstGeom>
          <a:solidFill>
            <a:srgbClr val="CCEEFF"/>
          </a:solidFill>
          <a:ln cap="flat" cmpd="sng" w="9525">
            <a:solidFill>
              <a:srgbClr val="B2D4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44"/>
          <p:cNvSpPr/>
          <p:nvPr/>
        </p:nvSpPr>
        <p:spPr>
          <a:xfrm>
            <a:off x="8194119" y="5199817"/>
            <a:ext cx="2977039" cy="372070"/>
          </a:xfrm>
          <a:prstGeom prst="rect">
            <a:avLst/>
          </a:prstGeom>
          <a:noFill/>
          <a:ln>
            <a:noFill/>
          </a:ln>
        </p:spPr>
        <p:txBody>
          <a:bodyPr anchorCtr="0" anchor="t" bIns="0" lIns="0" spcFirstLastPara="1" rIns="0" wrap="square" tIns="0">
            <a:noAutofit/>
          </a:bodyPr>
          <a:lstStyle/>
          <a:p>
            <a:pPr indent="0" lvl="0" marL="0" marR="0" rtl="0" algn="l">
              <a:lnSpc>
                <a:spcPct val="126086"/>
              </a:lnSpc>
              <a:spcBef>
                <a:spcPts val="0"/>
              </a:spcBef>
              <a:spcAft>
                <a:spcPts val="0"/>
              </a:spcAft>
              <a:buClr>
                <a:srgbClr val="272525"/>
              </a:buClr>
              <a:buSzPts val="2300"/>
              <a:buFont typeface="Petrona"/>
              <a:buNone/>
            </a:pPr>
            <a:r>
              <a:rPr b="1" i="0" lang="en-US" sz="2300" u="none" cap="none" strike="noStrike">
                <a:solidFill>
                  <a:srgbClr val="272525"/>
                </a:solidFill>
                <a:latin typeface="Petrona"/>
                <a:ea typeface="Petrona"/>
                <a:cs typeface="Petrona"/>
                <a:sym typeface="Petrona"/>
              </a:rPr>
              <a:t>Đánh Giá Hệ Thống</a:t>
            </a:r>
            <a:endParaRPr b="0" i="0" sz="2300" u="none" cap="none" strike="noStrike"/>
          </a:p>
        </p:txBody>
      </p:sp>
      <p:sp>
        <p:nvSpPr>
          <p:cNvPr id="195" name="Google Shape;195;p44"/>
          <p:cNvSpPr/>
          <p:nvPr/>
        </p:nvSpPr>
        <p:spPr>
          <a:xfrm>
            <a:off x="8194119" y="5707975"/>
            <a:ext cx="5642610"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Kiểm thử độ chính xác và hiệu quả với tập truy vấn thực tế.</a:t>
            </a:r>
            <a:endParaRPr b="0" i="0" sz="1750" u="none" cap="none" strike="noStrike"/>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45"/>
          <p:cNvSpPr/>
          <p:nvPr/>
        </p:nvSpPr>
        <p:spPr>
          <a:xfrm>
            <a:off x="793790" y="1952030"/>
            <a:ext cx="7529513" cy="744260"/>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000000"/>
              </a:buClr>
              <a:buSzPts val="4650"/>
              <a:buFont typeface="Petrona"/>
              <a:buNone/>
            </a:pPr>
            <a:r>
              <a:rPr b="1" i="0" lang="en-US" sz="4650" u="none" cap="none" strike="noStrike">
                <a:solidFill>
                  <a:srgbClr val="000000"/>
                </a:solidFill>
                <a:latin typeface="Petrona"/>
                <a:ea typeface="Petrona"/>
                <a:cs typeface="Petrona"/>
                <a:sym typeface="Petrona"/>
              </a:rPr>
              <a:t>Phạm Vi Và Giới Hạn Đề Tài</a:t>
            </a:r>
            <a:endParaRPr b="0" i="0" sz="4650" u="none" cap="none" strike="noStrike"/>
          </a:p>
        </p:txBody>
      </p:sp>
      <p:sp>
        <p:nvSpPr>
          <p:cNvPr id="202" name="Google Shape;202;p45"/>
          <p:cNvSpPr/>
          <p:nvPr/>
        </p:nvSpPr>
        <p:spPr>
          <a:xfrm>
            <a:off x="793790" y="3263265"/>
            <a:ext cx="2977039" cy="372070"/>
          </a:xfrm>
          <a:prstGeom prst="rect">
            <a:avLst/>
          </a:prstGeom>
          <a:noFill/>
          <a:ln>
            <a:noFill/>
          </a:ln>
        </p:spPr>
        <p:txBody>
          <a:bodyPr anchorCtr="0" anchor="t" bIns="0" lIns="0" spcFirstLastPara="1" rIns="0" wrap="square" tIns="0">
            <a:noAutofit/>
          </a:bodyPr>
          <a:lstStyle/>
          <a:p>
            <a:pPr indent="0" lvl="0" marL="0" marR="0" rtl="0" algn="l">
              <a:lnSpc>
                <a:spcPct val="126086"/>
              </a:lnSpc>
              <a:spcBef>
                <a:spcPts val="0"/>
              </a:spcBef>
              <a:spcAft>
                <a:spcPts val="0"/>
              </a:spcAft>
              <a:buClr>
                <a:srgbClr val="000000"/>
              </a:buClr>
              <a:buSzPts val="2300"/>
              <a:buFont typeface="Petrona"/>
              <a:buNone/>
            </a:pPr>
            <a:r>
              <a:rPr b="1" i="0" lang="en-US" sz="2300" u="none" cap="none" strike="noStrike">
                <a:solidFill>
                  <a:srgbClr val="000000"/>
                </a:solidFill>
                <a:latin typeface="Petrona"/>
                <a:ea typeface="Petrona"/>
                <a:cs typeface="Petrona"/>
                <a:sym typeface="Petrona"/>
              </a:rPr>
              <a:t>Phạm Vi</a:t>
            </a:r>
            <a:endParaRPr b="0" i="0" sz="2300" u="none" cap="none" strike="noStrike"/>
          </a:p>
        </p:txBody>
      </p:sp>
      <p:sp>
        <p:nvSpPr>
          <p:cNvPr id="203" name="Google Shape;203;p45"/>
          <p:cNvSpPr/>
          <p:nvPr/>
        </p:nvSpPr>
        <p:spPr>
          <a:xfrm>
            <a:off x="793790" y="3862149"/>
            <a:ext cx="6244709" cy="725805"/>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72525"/>
              </a:buClr>
              <a:buSzPts val="1750"/>
              <a:buFont typeface="Inter"/>
              <a:buChar char="•"/>
            </a:pPr>
            <a:r>
              <a:rPr b="0" i="0" lang="en-US" sz="1750" u="none" cap="none" strike="noStrike">
                <a:solidFill>
                  <a:srgbClr val="272525"/>
                </a:solidFill>
                <a:latin typeface="Inter"/>
                <a:ea typeface="Inter"/>
                <a:cs typeface="Inter"/>
                <a:sym typeface="Inter"/>
              </a:rPr>
              <a:t>Truy vấn dữ liệu TMĐT bằng ngôn ngữ tự nhiên tiếng Anh.</a:t>
            </a:r>
            <a:endParaRPr b="0" i="0" sz="1750" u="none" cap="none" strike="noStrike"/>
          </a:p>
        </p:txBody>
      </p:sp>
      <p:sp>
        <p:nvSpPr>
          <p:cNvPr id="204" name="Google Shape;204;p45"/>
          <p:cNvSpPr/>
          <p:nvPr/>
        </p:nvSpPr>
        <p:spPr>
          <a:xfrm>
            <a:off x="793790" y="4667250"/>
            <a:ext cx="6244709" cy="725805"/>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72525"/>
              </a:buClr>
              <a:buSzPts val="1750"/>
              <a:buFont typeface="Inter"/>
              <a:buChar char="•"/>
            </a:pPr>
            <a:r>
              <a:rPr b="0" i="0" lang="en-US" sz="1750" u="none" cap="none" strike="noStrike">
                <a:solidFill>
                  <a:srgbClr val="272525"/>
                </a:solidFill>
                <a:latin typeface="Inter"/>
                <a:ea typeface="Inter"/>
                <a:cs typeface="Inter"/>
                <a:sym typeface="Inter"/>
              </a:rPr>
              <a:t>Dữ liệu gồm các bảng khách hàng, sản phẩm, đơn hàng, doanh thu.</a:t>
            </a:r>
            <a:endParaRPr b="0" i="0" sz="1750" u="none" cap="none" strike="noStrike"/>
          </a:p>
        </p:txBody>
      </p:sp>
      <p:sp>
        <p:nvSpPr>
          <p:cNvPr id="205" name="Google Shape;205;p45"/>
          <p:cNvSpPr/>
          <p:nvPr/>
        </p:nvSpPr>
        <p:spPr>
          <a:xfrm>
            <a:off x="793790" y="5472351"/>
            <a:ext cx="6244709" cy="725805"/>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72525"/>
              </a:buClr>
              <a:buSzPts val="1750"/>
              <a:buFont typeface="Inter"/>
              <a:buChar char="•"/>
            </a:pPr>
            <a:r>
              <a:rPr b="0" i="0" lang="en-US" sz="1750" u="none" cap="none" strike="noStrike">
                <a:solidFill>
                  <a:srgbClr val="272525"/>
                </a:solidFill>
                <a:latin typeface="Inter"/>
                <a:ea typeface="Inter"/>
                <a:cs typeface="Inter"/>
                <a:sym typeface="Inter"/>
              </a:rPr>
              <a:t>Hệ thống demo gồm backend chuyển ngôn ngữ sang SQL và frontend hiển thị kết quả.</a:t>
            </a:r>
            <a:endParaRPr b="0" i="0" sz="1750" u="none" cap="none" strike="noStrike"/>
          </a:p>
        </p:txBody>
      </p:sp>
      <p:sp>
        <p:nvSpPr>
          <p:cNvPr id="206" name="Google Shape;206;p45"/>
          <p:cNvSpPr/>
          <p:nvPr/>
        </p:nvSpPr>
        <p:spPr>
          <a:xfrm>
            <a:off x="7599521" y="3263265"/>
            <a:ext cx="2977039" cy="372070"/>
          </a:xfrm>
          <a:prstGeom prst="rect">
            <a:avLst/>
          </a:prstGeom>
          <a:noFill/>
          <a:ln>
            <a:noFill/>
          </a:ln>
        </p:spPr>
        <p:txBody>
          <a:bodyPr anchorCtr="0" anchor="t" bIns="0" lIns="0" spcFirstLastPara="1" rIns="0" wrap="square" tIns="0">
            <a:noAutofit/>
          </a:bodyPr>
          <a:lstStyle/>
          <a:p>
            <a:pPr indent="0" lvl="0" marL="0" marR="0" rtl="0" algn="l">
              <a:lnSpc>
                <a:spcPct val="126086"/>
              </a:lnSpc>
              <a:spcBef>
                <a:spcPts val="0"/>
              </a:spcBef>
              <a:spcAft>
                <a:spcPts val="0"/>
              </a:spcAft>
              <a:buClr>
                <a:srgbClr val="000000"/>
              </a:buClr>
              <a:buSzPts val="2300"/>
              <a:buFont typeface="Petrona"/>
              <a:buNone/>
            </a:pPr>
            <a:r>
              <a:rPr b="1" i="0" lang="en-US" sz="2300" u="none" cap="none" strike="noStrike">
                <a:solidFill>
                  <a:srgbClr val="000000"/>
                </a:solidFill>
                <a:latin typeface="Petrona"/>
                <a:ea typeface="Petrona"/>
                <a:cs typeface="Petrona"/>
                <a:sym typeface="Petrona"/>
              </a:rPr>
              <a:t>Giới Hạn</a:t>
            </a:r>
            <a:endParaRPr b="0" i="0" sz="2300" u="none" cap="none" strike="noStrike"/>
          </a:p>
        </p:txBody>
      </p:sp>
      <p:sp>
        <p:nvSpPr>
          <p:cNvPr id="207" name="Google Shape;207;p45"/>
          <p:cNvSpPr/>
          <p:nvPr/>
        </p:nvSpPr>
        <p:spPr>
          <a:xfrm>
            <a:off x="7599521" y="3862149"/>
            <a:ext cx="6244709"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72525"/>
              </a:buClr>
              <a:buSzPts val="1750"/>
              <a:buFont typeface="Inter"/>
              <a:buChar char="•"/>
            </a:pPr>
            <a:r>
              <a:rPr b="0" i="0" lang="en-US" sz="1750" u="none" cap="none" strike="noStrike">
                <a:solidFill>
                  <a:srgbClr val="272525"/>
                </a:solidFill>
                <a:latin typeface="Inter"/>
                <a:ea typeface="Inter"/>
                <a:cs typeface="Inter"/>
                <a:sym typeface="Inter"/>
              </a:rPr>
              <a:t>Chỉ hỗ trợ truy vấn SELECT, không cập nhật dữ liệu.</a:t>
            </a:r>
            <a:endParaRPr b="0" i="0" sz="1750" u="none" cap="none" strike="noStrike"/>
          </a:p>
        </p:txBody>
      </p:sp>
      <p:sp>
        <p:nvSpPr>
          <p:cNvPr id="208" name="Google Shape;208;p45"/>
          <p:cNvSpPr/>
          <p:nvPr/>
        </p:nvSpPr>
        <p:spPr>
          <a:xfrm>
            <a:off x="7599521" y="4304348"/>
            <a:ext cx="6244709"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72525"/>
              </a:buClr>
              <a:buSzPts val="1750"/>
              <a:buFont typeface="Inter"/>
              <a:buChar char="•"/>
            </a:pPr>
            <a:r>
              <a:rPr b="0" i="0" lang="en-US" sz="1750" u="none" cap="none" strike="noStrike">
                <a:solidFill>
                  <a:srgbClr val="272525"/>
                </a:solidFill>
                <a:latin typeface="Inter"/>
                <a:ea typeface="Inter"/>
                <a:cs typeface="Inter"/>
                <a:sym typeface="Inter"/>
              </a:rPr>
              <a:t>Không xử lý câu hỏi phức tạp, dài hoặc đa tầng logic.</a:t>
            </a:r>
            <a:endParaRPr b="0" i="0" sz="1750" u="none" cap="none" strike="noStrike"/>
          </a:p>
        </p:txBody>
      </p:sp>
      <p:sp>
        <p:nvSpPr>
          <p:cNvPr id="209" name="Google Shape;209;p45"/>
          <p:cNvSpPr/>
          <p:nvPr/>
        </p:nvSpPr>
        <p:spPr>
          <a:xfrm>
            <a:off x="7599521" y="4746546"/>
            <a:ext cx="6244709"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72525"/>
              </a:buClr>
              <a:buSzPts val="1750"/>
              <a:buFont typeface="Inter"/>
              <a:buChar char="•"/>
            </a:pPr>
            <a:r>
              <a:rPr b="0" i="0" lang="en-US" sz="1750" u="none" cap="none" strike="noStrike">
                <a:solidFill>
                  <a:srgbClr val="272525"/>
                </a:solidFill>
                <a:latin typeface="Inter"/>
                <a:ea typeface="Inter"/>
                <a:cs typeface="Inter"/>
                <a:sym typeface="Inter"/>
              </a:rPr>
              <a:t>Dữ liệu mẫu, không lấy từ hệ thống thực tế.</a:t>
            </a:r>
            <a:endParaRPr b="0" i="0" sz="1750" u="none" cap="none" strike="noStrike"/>
          </a:p>
        </p:txBody>
      </p:sp>
      <p:sp>
        <p:nvSpPr>
          <p:cNvPr id="210" name="Google Shape;210;p45"/>
          <p:cNvSpPr/>
          <p:nvPr/>
        </p:nvSpPr>
        <p:spPr>
          <a:xfrm>
            <a:off x="7599521" y="5188744"/>
            <a:ext cx="6244709"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72525"/>
              </a:buClr>
              <a:buSzPts val="1750"/>
              <a:buFont typeface="Inter"/>
              <a:buChar char="•"/>
            </a:pPr>
            <a:r>
              <a:rPr b="0" i="0" lang="en-US" sz="1750" u="none" cap="none" strike="noStrike">
                <a:solidFill>
                  <a:srgbClr val="272525"/>
                </a:solidFill>
                <a:latin typeface="Inter"/>
                <a:ea typeface="Inter"/>
                <a:cs typeface="Inter"/>
                <a:sym typeface="Inter"/>
              </a:rPr>
              <a:t>Sử dụng mô hình AI sẵn có, không huấn luyện lại.</a:t>
            </a:r>
            <a:endParaRPr b="0" i="0" sz="1750" u="none" cap="none" strike="noStrike"/>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46"/>
          <p:cNvSpPr/>
          <p:nvPr/>
        </p:nvSpPr>
        <p:spPr>
          <a:xfrm>
            <a:off x="793790" y="956310"/>
            <a:ext cx="13042821" cy="1488519"/>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000000"/>
              </a:buClr>
              <a:buSzPts val="4650"/>
              <a:buFont typeface="Petrona"/>
              <a:buNone/>
            </a:pPr>
            <a:r>
              <a:rPr b="1" i="0" lang="en-US" sz="4650" u="none" cap="none" strike="noStrike">
                <a:solidFill>
                  <a:srgbClr val="000000"/>
                </a:solidFill>
                <a:latin typeface="Petrona"/>
                <a:ea typeface="Petrona"/>
                <a:cs typeface="Petrona"/>
                <a:sym typeface="Petrona"/>
              </a:rPr>
              <a:t>Đối Tượng Hưởng Lợi Và Phương Pháp Nghiên Cứu</a:t>
            </a:r>
            <a:endParaRPr b="0" i="0" sz="4650" u="none" cap="none" strike="noStrike"/>
          </a:p>
        </p:txBody>
      </p:sp>
      <p:sp>
        <p:nvSpPr>
          <p:cNvPr id="217" name="Google Shape;217;p46"/>
          <p:cNvSpPr/>
          <p:nvPr/>
        </p:nvSpPr>
        <p:spPr>
          <a:xfrm>
            <a:off x="793790" y="3011805"/>
            <a:ext cx="2977039" cy="372070"/>
          </a:xfrm>
          <a:prstGeom prst="rect">
            <a:avLst/>
          </a:prstGeom>
          <a:noFill/>
          <a:ln>
            <a:noFill/>
          </a:ln>
        </p:spPr>
        <p:txBody>
          <a:bodyPr anchorCtr="0" anchor="t" bIns="0" lIns="0" spcFirstLastPara="1" rIns="0" wrap="square" tIns="0">
            <a:noAutofit/>
          </a:bodyPr>
          <a:lstStyle/>
          <a:p>
            <a:pPr indent="0" lvl="0" marL="0" marR="0" rtl="0" algn="l">
              <a:lnSpc>
                <a:spcPct val="126086"/>
              </a:lnSpc>
              <a:spcBef>
                <a:spcPts val="0"/>
              </a:spcBef>
              <a:spcAft>
                <a:spcPts val="0"/>
              </a:spcAft>
              <a:buClr>
                <a:srgbClr val="000000"/>
              </a:buClr>
              <a:buSzPts val="2300"/>
              <a:buFont typeface="Petrona"/>
              <a:buNone/>
            </a:pPr>
            <a:r>
              <a:rPr b="1" i="0" lang="en-US" sz="2300" u="none" cap="none" strike="noStrike">
                <a:solidFill>
                  <a:srgbClr val="000000"/>
                </a:solidFill>
                <a:latin typeface="Petrona"/>
                <a:ea typeface="Petrona"/>
                <a:cs typeface="Petrona"/>
                <a:sym typeface="Petrona"/>
              </a:rPr>
              <a:t>Đối Tượng Hưởng Lợi</a:t>
            </a:r>
            <a:endParaRPr b="0" i="0" sz="2300" u="none" cap="none" strike="noStrike"/>
          </a:p>
        </p:txBody>
      </p:sp>
      <p:sp>
        <p:nvSpPr>
          <p:cNvPr id="218" name="Google Shape;218;p46"/>
          <p:cNvSpPr/>
          <p:nvPr/>
        </p:nvSpPr>
        <p:spPr>
          <a:xfrm>
            <a:off x="793790" y="3610689"/>
            <a:ext cx="6244709"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Người sử dụng hệ thống thương mại điện tử, đặc biệt là nhân sự không chuyên về lập trình.</a:t>
            </a:r>
            <a:endParaRPr b="0" i="0" sz="1750" u="none" cap="none" strike="noStrike"/>
          </a:p>
        </p:txBody>
      </p:sp>
      <p:sp>
        <p:nvSpPr>
          <p:cNvPr id="219" name="Google Shape;219;p46"/>
          <p:cNvSpPr/>
          <p:nvPr/>
        </p:nvSpPr>
        <p:spPr>
          <a:xfrm>
            <a:off x="7599521" y="3011805"/>
            <a:ext cx="3496151" cy="372070"/>
          </a:xfrm>
          <a:prstGeom prst="rect">
            <a:avLst/>
          </a:prstGeom>
          <a:noFill/>
          <a:ln>
            <a:noFill/>
          </a:ln>
        </p:spPr>
        <p:txBody>
          <a:bodyPr anchorCtr="0" anchor="t" bIns="0" lIns="0" spcFirstLastPara="1" rIns="0" wrap="square" tIns="0">
            <a:noAutofit/>
          </a:bodyPr>
          <a:lstStyle/>
          <a:p>
            <a:pPr indent="0" lvl="0" marL="0" marR="0" rtl="0" algn="l">
              <a:lnSpc>
                <a:spcPct val="126086"/>
              </a:lnSpc>
              <a:spcBef>
                <a:spcPts val="0"/>
              </a:spcBef>
              <a:spcAft>
                <a:spcPts val="0"/>
              </a:spcAft>
              <a:buClr>
                <a:srgbClr val="000000"/>
              </a:buClr>
              <a:buSzPts val="2300"/>
              <a:buFont typeface="Petrona"/>
              <a:buNone/>
            </a:pPr>
            <a:r>
              <a:rPr b="1" i="0" lang="en-US" sz="2300" u="none" cap="none" strike="noStrike">
                <a:solidFill>
                  <a:srgbClr val="000000"/>
                </a:solidFill>
                <a:latin typeface="Petrona"/>
                <a:ea typeface="Petrona"/>
                <a:cs typeface="Petrona"/>
                <a:sym typeface="Petrona"/>
              </a:rPr>
              <a:t>Phương Pháp Nghiên Cứu</a:t>
            </a:r>
            <a:endParaRPr b="0" i="0" sz="2300" u="none" cap="none" strike="noStrike"/>
          </a:p>
        </p:txBody>
      </p:sp>
      <p:sp>
        <p:nvSpPr>
          <p:cNvPr id="220" name="Google Shape;220;p46"/>
          <p:cNvSpPr/>
          <p:nvPr/>
        </p:nvSpPr>
        <p:spPr>
          <a:xfrm>
            <a:off x="7599521" y="3610689"/>
            <a:ext cx="6244709" cy="725805"/>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72525"/>
              </a:buClr>
              <a:buSzPts val="1750"/>
              <a:buFont typeface="Inter"/>
              <a:buChar char="•"/>
            </a:pPr>
            <a:r>
              <a:rPr b="0" i="0" lang="en-US" sz="1750" u="none" cap="none" strike="noStrike">
                <a:solidFill>
                  <a:srgbClr val="272525"/>
                </a:solidFill>
                <a:latin typeface="Inter"/>
                <a:ea typeface="Inter"/>
                <a:cs typeface="Inter"/>
                <a:sym typeface="Inter"/>
              </a:rPr>
              <a:t>Nghiên cứu các mô hình AI hỗ trợ Text-to-SQL như T5, Codex, GPT, OSS LLM.</a:t>
            </a:r>
            <a:endParaRPr b="0" i="0" sz="1750" u="none" cap="none" strike="noStrike"/>
          </a:p>
        </p:txBody>
      </p:sp>
      <p:sp>
        <p:nvSpPr>
          <p:cNvPr id="221" name="Google Shape;221;p46"/>
          <p:cNvSpPr/>
          <p:nvPr/>
        </p:nvSpPr>
        <p:spPr>
          <a:xfrm>
            <a:off x="7599521" y="4415790"/>
            <a:ext cx="6244709" cy="725805"/>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72525"/>
              </a:buClr>
              <a:buSzPts val="1750"/>
              <a:buFont typeface="Inter"/>
              <a:buChar char="•"/>
            </a:pPr>
            <a:r>
              <a:rPr b="0" i="0" lang="en-US" sz="1750" u="none" cap="none" strike="noStrike">
                <a:solidFill>
                  <a:srgbClr val="272525"/>
                </a:solidFill>
                <a:latin typeface="Inter"/>
                <a:ea typeface="Inter"/>
                <a:cs typeface="Inter"/>
                <a:sym typeface="Inter"/>
              </a:rPr>
              <a:t>Thiết kế cơ sở dữ liệu TMĐT với các bảng sản phẩm, khách hàng, đơn hàng, tồn kho, doanh thu.</a:t>
            </a:r>
            <a:endParaRPr b="0" i="0" sz="1750" u="none" cap="none" strike="noStrike"/>
          </a:p>
        </p:txBody>
      </p:sp>
      <p:sp>
        <p:nvSpPr>
          <p:cNvPr id="222" name="Google Shape;222;p46"/>
          <p:cNvSpPr/>
          <p:nvPr/>
        </p:nvSpPr>
        <p:spPr>
          <a:xfrm>
            <a:off x="7599521" y="5220891"/>
            <a:ext cx="6244709" cy="725805"/>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72525"/>
              </a:buClr>
              <a:buSzPts val="1750"/>
              <a:buFont typeface="Inter"/>
              <a:buChar char="•"/>
            </a:pPr>
            <a:r>
              <a:rPr b="0" i="0" lang="en-US" sz="1750" u="none" cap="none" strike="noStrike">
                <a:solidFill>
                  <a:srgbClr val="272525"/>
                </a:solidFill>
                <a:latin typeface="Inter"/>
                <a:ea typeface="Inter"/>
                <a:cs typeface="Inter"/>
                <a:sym typeface="Inter"/>
              </a:rPr>
              <a:t>Xây dựng pipeline xử lý câu hỏi đến truy vấn và trả kết quả.</a:t>
            </a:r>
            <a:endParaRPr b="0" i="0" sz="1750" u="none" cap="none" strike="noStrike"/>
          </a:p>
        </p:txBody>
      </p:sp>
      <p:sp>
        <p:nvSpPr>
          <p:cNvPr id="223" name="Google Shape;223;p46"/>
          <p:cNvSpPr/>
          <p:nvPr/>
        </p:nvSpPr>
        <p:spPr>
          <a:xfrm>
            <a:off x="7599521" y="6025991"/>
            <a:ext cx="6244709"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72525"/>
              </a:buClr>
              <a:buSzPts val="1750"/>
              <a:buFont typeface="Inter"/>
              <a:buChar char="•"/>
            </a:pPr>
            <a:r>
              <a:rPr b="0" i="0" lang="en-US" sz="1750" u="none" cap="none" strike="noStrike">
                <a:solidFill>
                  <a:srgbClr val="272525"/>
                </a:solidFill>
                <a:latin typeface="Inter"/>
                <a:ea typeface="Inter"/>
                <a:cs typeface="Inter"/>
                <a:sym typeface="Inter"/>
              </a:rPr>
              <a:t>Phát triển giao diện web hoặc chatbot đơn giản.</a:t>
            </a:r>
            <a:endParaRPr b="0" i="0" sz="1750" u="none" cap="none" strike="noStrike"/>
          </a:p>
        </p:txBody>
      </p:sp>
      <p:sp>
        <p:nvSpPr>
          <p:cNvPr id="224" name="Google Shape;224;p46"/>
          <p:cNvSpPr/>
          <p:nvPr/>
        </p:nvSpPr>
        <p:spPr>
          <a:xfrm>
            <a:off x="7599521" y="6468189"/>
            <a:ext cx="6244709" cy="725805"/>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72525"/>
              </a:buClr>
              <a:buSzPts val="1750"/>
              <a:buFont typeface="Inter"/>
              <a:buChar char="•"/>
            </a:pPr>
            <a:r>
              <a:rPr b="0" i="0" lang="en-US" sz="1750" u="none" cap="none" strike="noStrike">
                <a:solidFill>
                  <a:srgbClr val="272525"/>
                </a:solidFill>
                <a:latin typeface="Inter"/>
                <a:ea typeface="Inter"/>
                <a:cs typeface="Inter"/>
                <a:sym typeface="Inter"/>
              </a:rPr>
              <a:t>Kiểm thử và đánh giá độ chính xác, tốc độ và khả năng mở rộng.</a:t>
            </a:r>
            <a:endParaRPr b="0" i="0" sz="1750" u="none" cap="none" strike="noStrike"/>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47"/>
          <p:cNvSpPr/>
          <p:nvPr/>
        </p:nvSpPr>
        <p:spPr>
          <a:xfrm>
            <a:off x="6163032" y="919996"/>
            <a:ext cx="7358539" cy="634365"/>
          </a:xfrm>
          <a:prstGeom prst="rect">
            <a:avLst/>
          </a:prstGeom>
          <a:noFill/>
          <a:ln>
            <a:noFill/>
          </a:ln>
        </p:spPr>
        <p:txBody>
          <a:bodyPr anchorCtr="0" anchor="t" bIns="0" lIns="0" spcFirstLastPara="1" rIns="0" wrap="square" tIns="0">
            <a:noAutofit/>
          </a:bodyPr>
          <a:lstStyle/>
          <a:p>
            <a:pPr indent="0" lvl="0" marL="0" marR="0" rtl="0" algn="l">
              <a:lnSpc>
                <a:spcPct val="125316"/>
              </a:lnSpc>
              <a:spcBef>
                <a:spcPts val="0"/>
              </a:spcBef>
              <a:spcAft>
                <a:spcPts val="0"/>
              </a:spcAft>
              <a:buClr>
                <a:srgbClr val="000000"/>
              </a:buClr>
              <a:buSzPts val="3950"/>
              <a:buFont typeface="Petrona"/>
              <a:buNone/>
            </a:pPr>
            <a:r>
              <a:rPr b="1" i="0" lang="en-US" sz="3950" u="none" cap="none" strike="noStrike">
                <a:solidFill>
                  <a:srgbClr val="000000"/>
                </a:solidFill>
                <a:latin typeface="Petrona"/>
                <a:ea typeface="Petrona"/>
                <a:cs typeface="Petrona"/>
                <a:sym typeface="Petrona"/>
              </a:rPr>
              <a:t>Ý Nghĩa Khoa Học Và Thực Tiễn</a:t>
            </a:r>
            <a:endParaRPr b="0" i="0" sz="3950" u="none" cap="none" strike="noStrike"/>
          </a:p>
        </p:txBody>
      </p:sp>
      <p:sp>
        <p:nvSpPr>
          <p:cNvPr id="231" name="Google Shape;231;p47"/>
          <p:cNvSpPr/>
          <p:nvPr/>
        </p:nvSpPr>
        <p:spPr>
          <a:xfrm>
            <a:off x="6163032" y="1844278"/>
            <a:ext cx="7790736" cy="1453396"/>
          </a:xfrm>
          <a:prstGeom prst="roundRect">
            <a:avLst>
              <a:gd fmla="val 5588" name="adj"/>
            </a:avLst>
          </a:prstGeom>
          <a:solidFill>
            <a:srgbClr val="CCEEFF"/>
          </a:solidFill>
          <a:ln cap="flat" cmpd="sng" w="9525">
            <a:solidFill>
              <a:srgbClr val="B2D4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47"/>
          <p:cNvSpPr/>
          <p:nvPr/>
        </p:nvSpPr>
        <p:spPr>
          <a:xfrm>
            <a:off x="6363891" y="2045137"/>
            <a:ext cx="3178373" cy="317063"/>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272525"/>
              </a:buClr>
              <a:buSzPts val="1950"/>
              <a:buFont typeface="Petrona"/>
              <a:buNone/>
            </a:pPr>
            <a:r>
              <a:rPr b="1" i="0" lang="en-US" sz="1950" u="none" cap="none" strike="noStrike">
                <a:solidFill>
                  <a:srgbClr val="272525"/>
                </a:solidFill>
                <a:latin typeface="Petrona"/>
                <a:ea typeface="Petrona"/>
                <a:cs typeface="Petrona"/>
                <a:sym typeface="Petrona"/>
              </a:rPr>
              <a:t>Nghiên Cứu Ứng Dụng LLM</a:t>
            </a:r>
            <a:endParaRPr b="0" i="0" sz="1950" u="none" cap="none" strike="noStrike"/>
          </a:p>
        </p:txBody>
      </p:sp>
      <p:sp>
        <p:nvSpPr>
          <p:cNvPr id="233" name="Google Shape;233;p47"/>
          <p:cNvSpPr/>
          <p:nvPr/>
        </p:nvSpPr>
        <p:spPr>
          <a:xfrm>
            <a:off x="6363891" y="2478167"/>
            <a:ext cx="7389019" cy="618649"/>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72525"/>
              </a:buClr>
              <a:buSzPts val="1500"/>
              <a:buFont typeface="Inter"/>
              <a:buNone/>
            </a:pPr>
            <a:r>
              <a:rPr b="0" i="0" lang="en-US" sz="1500" u="none" cap="none" strike="noStrike">
                <a:solidFill>
                  <a:srgbClr val="272525"/>
                </a:solidFill>
                <a:latin typeface="Inter"/>
                <a:ea typeface="Inter"/>
                <a:cs typeface="Inter"/>
                <a:sym typeface="Inter"/>
              </a:rPr>
              <a:t>Góp phần phát triển ứng dụng mô hình ngôn ngữ lớn trong xử lý ngôn ngữ tiếng Anh.</a:t>
            </a:r>
            <a:endParaRPr b="0" i="0" sz="1500" u="none" cap="none" strike="noStrike"/>
          </a:p>
        </p:txBody>
      </p:sp>
      <p:sp>
        <p:nvSpPr>
          <p:cNvPr id="234" name="Google Shape;234;p47"/>
          <p:cNvSpPr/>
          <p:nvPr/>
        </p:nvSpPr>
        <p:spPr>
          <a:xfrm>
            <a:off x="6163032" y="3490913"/>
            <a:ext cx="7790736" cy="1144072"/>
          </a:xfrm>
          <a:prstGeom prst="roundRect">
            <a:avLst>
              <a:gd fmla="val 7098" name="adj"/>
            </a:avLst>
          </a:prstGeom>
          <a:solidFill>
            <a:srgbClr val="CCEEFF"/>
          </a:solidFill>
          <a:ln cap="flat" cmpd="sng" w="9525">
            <a:solidFill>
              <a:srgbClr val="B2D4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47"/>
          <p:cNvSpPr/>
          <p:nvPr/>
        </p:nvSpPr>
        <p:spPr>
          <a:xfrm>
            <a:off x="6363891" y="3691771"/>
            <a:ext cx="3888819" cy="317063"/>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272525"/>
              </a:buClr>
              <a:buSzPts val="1950"/>
              <a:buFont typeface="Petrona"/>
              <a:buNone/>
            </a:pPr>
            <a:r>
              <a:rPr b="1" i="0" lang="en-US" sz="1950" u="none" cap="none" strike="noStrike">
                <a:solidFill>
                  <a:srgbClr val="272525"/>
                </a:solidFill>
                <a:latin typeface="Petrona"/>
                <a:ea typeface="Petrona"/>
                <a:cs typeface="Petrona"/>
                <a:sym typeface="Petrona"/>
              </a:rPr>
              <a:t>Thúc Đẩy AI Trong Doanh Nghiệp</a:t>
            </a:r>
            <a:endParaRPr b="0" i="0" sz="1950" u="none" cap="none" strike="noStrike"/>
          </a:p>
        </p:txBody>
      </p:sp>
      <p:sp>
        <p:nvSpPr>
          <p:cNvPr id="236" name="Google Shape;236;p47"/>
          <p:cNvSpPr/>
          <p:nvPr/>
        </p:nvSpPr>
        <p:spPr>
          <a:xfrm>
            <a:off x="6363891" y="4124801"/>
            <a:ext cx="7389019" cy="309324"/>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72525"/>
              </a:buClr>
              <a:buSzPts val="1500"/>
              <a:buFont typeface="Inter"/>
              <a:buNone/>
            </a:pPr>
            <a:r>
              <a:rPr b="0" i="0" lang="en-US" sz="1500" u="none" cap="none" strike="noStrike">
                <a:solidFill>
                  <a:srgbClr val="272525"/>
                </a:solidFill>
                <a:latin typeface="Inter"/>
                <a:ea typeface="Inter"/>
                <a:cs typeface="Inter"/>
                <a:sym typeface="Inter"/>
              </a:rPr>
              <a:t>Hỗ trợ ứng dụng AI trong hoạt động nội bộ của các doanh nghiệp TMĐT.</a:t>
            </a:r>
            <a:endParaRPr b="0" i="0" sz="1500" u="none" cap="none" strike="noStrike"/>
          </a:p>
        </p:txBody>
      </p:sp>
      <p:sp>
        <p:nvSpPr>
          <p:cNvPr id="237" name="Google Shape;237;p47"/>
          <p:cNvSpPr/>
          <p:nvPr/>
        </p:nvSpPr>
        <p:spPr>
          <a:xfrm>
            <a:off x="6163032" y="4828223"/>
            <a:ext cx="7790736" cy="1144072"/>
          </a:xfrm>
          <a:prstGeom prst="roundRect">
            <a:avLst>
              <a:gd fmla="val 7098" name="adj"/>
            </a:avLst>
          </a:prstGeom>
          <a:solidFill>
            <a:srgbClr val="CCEEFF"/>
          </a:solidFill>
          <a:ln cap="flat" cmpd="sng" w="9525">
            <a:solidFill>
              <a:srgbClr val="B2D4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47"/>
          <p:cNvSpPr/>
          <p:nvPr/>
        </p:nvSpPr>
        <p:spPr>
          <a:xfrm>
            <a:off x="6363891" y="5029081"/>
            <a:ext cx="3030022" cy="317063"/>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272525"/>
              </a:buClr>
              <a:buSzPts val="1950"/>
              <a:buFont typeface="Petrona"/>
              <a:buNone/>
            </a:pPr>
            <a:r>
              <a:rPr b="1" i="0" lang="en-US" sz="1950" u="none" cap="none" strike="noStrike">
                <a:solidFill>
                  <a:srgbClr val="272525"/>
                </a:solidFill>
                <a:latin typeface="Petrona"/>
                <a:ea typeface="Petrona"/>
                <a:cs typeface="Petrona"/>
                <a:sym typeface="Petrona"/>
              </a:rPr>
              <a:t>Tiếp Cận Dữ Liệu Dễ Dàng</a:t>
            </a:r>
            <a:endParaRPr b="0" i="0" sz="1950" u="none" cap="none" strike="noStrike"/>
          </a:p>
        </p:txBody>
      </p:sp>
      <p:sp>
        <p:nvSpPr>
          <p:cNvPr id="239" name="Google Shape;239;p47"/>
          <p:cNvSpPr/>
          <p:nvPr/>
        </p:nvSpPr>
        <p:spPr>
          <a:xfrm>
            <a:off x="6363891" y="5462111"/>
            <a:ext cx="7389019" cy="309324"/>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72525"/>
              </a:buClr>
              <a:buSzPts val="1500"/>
              <a:buFont typeface="Inter"/>
              <a:buNone/>
            </a:pPr>
            <a:r>
              <a:rPr b="0" i="0" lang="en-US" sz="1500" u="none" cap="none" strike="noStrike">
                <a:solidFill>
                  <a:srgbClr val="272525"/>
                </a:solidFill>
                <a:latin typeface="Inter"/>
                <a:ea typeface="Inter"/>
                <a:cs typeface="Inter"/>
                <a:sym typeface="Inter"/>
              </a:rPr>
              <a:t>Giúp người dùng không chuyên phân tích dữ liệu mà không cần học SQL.</a:t>
            </a:r>
            <a:endParaRPr b="0" i="0" sz="1500" u="none" cap="none" strike="noStrike"/>
          </a:p>
        </p:txBody>
      </p:sp>
      <p:sp>
        <p:nvSpPr>
          <p:cNvPr id="240" name="Google Shape;240;p47"/>
          <p:cNvSpPr/>
          <p:nvPr/>
        </p:nvSpPr>
        <p:spPr>
          <a:xfrm>
            <a:off x="6163032" y="6165533"/>
            <a:ext cx="7790736" cy="1144072"/>
          </a:xfrm>
          <a:prstGeom prst="roundRect">
            <a:avLst>
              <a:gd fmla="val 7098" name="adj"/>
            </a:avLst>
          </a:prstGeom>
          <a:solidFill>
            <a:srgbClr val="CCEEFF"/>
          </a:solidFill>
          <a:ln cap="flat" cmpd="sng" w="9525">
            <a:solidFill>
              <a:srgbClr val="B2D4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47"/>
          <p:cNvSpPr/>
          <p:nvPr/>
        </p:nvSpPr>
        <p:spPr>
          <a:xfrm>
            <a:off x="6363891" y="6366391"/>
            <a:ext cx="2537698" cy="317063"/>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272525"/>
              </a:buClr>
              <a:buSzPts val="1950"/>
              <a:buFont typeface="Petrona"/>
              <a:buNone/>
            </a:pPr>
            <a:r>
              <a:rPr b="1" i="0" lang="en-US" sz="1950" u="none" cap="none" strike="noStrike">
                <a:solidFill>
                  <a:srgbClr val="272525"/>
                </a:solidFill>
                <a:latin typeface="Petrona"/>
                <a:ea typeface="Petrona"/>
                <a:cs typeface="Petrona"/>
                <a:sym typeface="Petrona"/>
              </a:rPr>
              <a:t>Mở Rộng Ứng Dụng</a:t>
            </a:r>
            <a:endParaRPr b="0" i="0" sz="1950" u="none" cap="none" strike="noStrike"/>
          </a:p>
        </p:txBody>
      </p:sp>
      <p:sp>
        <p:nvSpPr>
          <p:cNvPr id="242" name="Google Shape;242;p47"/>
          <p:cNvSpPr/>
          <p:nvPr/>
        </p:nvSpPr>
        <p:spPr>
          <a:xfrm>
            <a:off x="6363891" y="6799421"/>
            <a:ext cx="7389019" cy="309324"/>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72525"/>
              </a:buClr>
              <a:buSzPts val="1500"/>
              <a:buFont typeface="Inter"/>
              <a:buNone/>
            </a:pPr>
            <a:r>
              <a:rPr b="0" i="0" lang="en-US" sz="1500" u="none" cap="none" strike="noStrike">
                <a:solidFill>
                  <a:srgbClr val="272525"/>
                </a:solidFill>
                <a:latin typeface="Inter"/>
                <a:ea typeface="Inter"/>
                <a:cs typeface="Inter"/>
                <a:sym typeface="Inter"/>
              </a:rPr>
              <a:t>Là nền tảng để phát triển sang các lĩnh vực ngân hàng, logistics, giáo dục.</a:t>
            </a:r>
            <a:endParaRPr b="0" i="0" sz="1500" u="none" cap="none" strike="noStrike"/>
          </a:p>
        </p:txBody>
      </p:sp>
      <p:pic>
        <p:nvPicPr>
          <p:cNvPr id="243" name="Google Shape;243;p47"/>
          <p:cNvPicPr preferRelativeResize="0"/>
          <p:nvPr/>
        </p:nvPicPr>
        <p:blipFill>
          <a:blip r:embed="rId3">
            <a:alphaModFix/>
          </a:blip>
          <a:stretch>
            <a:fillRect/>
          </a:stretch>
        </p:blipFill>
        <p:spPr>
          <a:xfrm>
            <a:off x="304800" y="3096825"/>
            <a:ext cx="5858232" cy="337656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8"/>
          <p:cNvSpPr/>
          <p:nvPr/>
        </p:nvSpPr>
        <p:spPr>
          <a:xfrm>
            <a:off x="847167" y="669000"/>
            <a:ext cx="12989400" cy="1488600"/>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000000"/>
              </a:buClr>
              <a:buSzPts val="4650"/>
              <a:buFont typeface="Petrona"/>
              <a:buNone/>
            </a:pPr>
            <a:r>
              <a:rPr b="1" i="0" lang="en-US" sz="4650" u="none" cap="none" strike="noStrike">
                <a:solidFill>
                  <a:srgbClr val="000000"/>
                </a:solidFill>
                <a:latin typeface="Petrona"/>
                <a:ea typeface="Petrona"/>
                <a:cs typeface="Petrona"/>
                <a:sym typeface="Petrona"/>
              </a:rPr>
              <a:t>Mô Tả Đầu Vào Và Đầu Ra Của Hệ Thống AI Agent</a:t>
            </a:r>
            <a:endParaRPr b="0" i="0" sz="4650" u="none" cap="none" strike="noStrike"/>
          </a:p>
        </p:txBody>
      </p:sp>
      <p:pic>
        <p:nvPicPr>
          <p:cNvPr descr="preencoded.png" id="250" name="Google Shape;250;p48"/>
          <p:cNvPicPr preferRelativeResize="0"/>
          <p:nvPr/>
        </p:nvPicPr>
        <p:blipFill rotWithShape="1">
          <a:blip r:embed="rId3">
            <a:alphaModFix/>
          </a:blip>
          <a:srcRect b="0" l="0" r="0" t="0"/>
          <a:stretch/>
        </p:blipFill>
        <p:spPr>
          <a:xfrm>
            <a:off x="847174" y="2538025"/>
            <a:ext cx="1719433" cy="1687591"/>
          </a:xfrm>
          <a:prstGeom prst="rect">
            <a:avLst/>
          </a:prstGeom>
          <a:noFill/>
          <a:ln>
            <a:noFill/>
          </a:ln>
        </p:spPr>
      </p:pic>
      <p:sp>
        <p:nvSpPr>
          <p:cNvPr id="251" name="Google Shape;251;p48"/>
          <p:cNvSpPr/>
          <p:nvPr/>
        </p:nvSpPr>
        <p:spPr>
          <a:xfrm>
            <a:off x="3082348" y="2764839"/>
            <a:ext cx="4513200" cy="372000"/>
          </a:xfrm>
          <a:prstGeom prst="rect">
            <a:avLst/>
          </a:prstGeom>
          <a:noFill/>
          <a:ln>
            <a:noFill/>
          </a:ln>
        </p:spPr>
        <p:txBody>
          <a:bodyPr anchorCtr="0" anchor="t" bIns="0" lIns="0" spcFirstLastPara="1" rIns="0" wrap="square" tIns="0">
            <a:noAutofit/>
          </a:bodyPr>
          <a:lstStyle/>
          <a:p>
            <a:pPr indent="0" lvl="0" marL="0" marR="0" rtl="0" algn="l">
              <a:lnSpc>
                <a:spcPct val="126086"/>
              </a:lnSpc>
              <a:spcBef>
                <a:spcPts val="0"/>
              </a:spcBef>
              <a:spcAft>
                <a:spcPts val="0"/>
              </a:spcAft>
              <a:buClr>
                <a:srgbClr val="272525"/>
              </a:buClr>
              <a:buSzPts val="2300"/>
              <a:buFont typeface="Petrona"/>
              <a:buNone/>
            </a:pPr>
            <a:r>
              <a:rPr b="1" i="0" lang="en-US" sz="2300" u="none" cap="none" strike="noStrike">
                <a:solidFill>
                  <a:srgbClr val="272525"/>
                </a:solidFill>
                <a:latin typeface="Petrona"/>
                <a:ea typeface="Petrona"/>
                <a:cs typeface="Petrona"/>
                <a:sym typeface="Petrona"/>
              </a:rPr>
              <a:t>Đầu Vào (Input)</a:t>
            </a:r>
            <a:endParaRPr b="0" i="0" sz="2300" u="none" cap="none" strike="noStrike"/>
          </a:p>
        </p:txBody>
      </p:sp>
      <p:sp>
        <p:nvSpPr>
          <p:cNvPr id="252" name="Google Shape;252;p48"/>
          <p:cNvSpPr/>
          <p:nvPr/>
        </p:nvSpPr>
        <p:spPr>
          <a:xfrm>
            <a:off x="3082348" y="3272998"/>
            <a:ext cx="9221700" cy="7257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Câu hỏi tiếng Anh liên quan dữ liệu TMĐT, ví dụ: "Show all columns in the products table".</a:t>
            </a:r>
            <a:endParaRPr b="0" i="0" sz="1750" u="none" cap="none" strike="noStrike"/>
          </a:p>
        </p:txBody>
      </p:sp>
      <p:pic>
        <p:nvPicPr>
          <p:cNvPr descr="preencoded.png" id="253" name="Google Shape;253;p48"/>
          <p:cNvPicPr preferRelativeResize="0"/>
          <p:nvPr/>
        </p:nvPicPr>
        <p:blipFill rotWithShape="1">
          <a:blip r:embed="rId4">
            <a:alphaModFix/>
          </a:blip>
          <a:srcRect b="0" l="0" r="0" t="0"/>
          <a:stretch/>
        </p:blipFill>
        <p:spPr>
          <a:xfrm>
            <a:off x="847174" y="4225617"/>
            <a:ext cx="1719433" cy="1687591"/>
          </a:xfrm>
          <a:prstGeom prst="rect">
            <a:avLst/>
          </a:prstGeom>
          <a:noFill/>
          <a:ln>
            <a:noFill/>
          </a:ln>
        </p:spPr>
      </p:pic>
      <p:sp>
        <p:nvSpPr>
          <p:cNvPr id="254" name="Google Shape;254;p48"/>
          <p:cNvSpPr/>
          <p:nvPr/>
        </p:nvSpPr>
        <p:spPr>
          <a:xfrm>
            <a:off x="3082348" y="4452431"/>
            <a:ext cx="4513200" cy="372000"/>
          </a:xfrm>
          <a:prstGeom prst="rect">
            <a:avLst/>
          </a:prstGeom>
          <a:noFill/>
          <a:ln>
            <a:noFill/>
          </a:ln>
        </p:spPr>
        <p:txBody>
          <a:bodyPr anchorCtr="0" anchor="t" bIns="0" lIns="0" spcFirstLastPara="1" rIns="0" wrap="square" tIns="0">
            <a:noAutofit/>
          </a:bodyPr>
          <a:lstStyle/>
          <a:p>
            <a:pPr indent="0" lvl="0" marL="0" marR="0" rtl="0" algn="l">
              <a:lnSpc>
                <a:spcPct val="126086"/>
              </a:lnSpc>
              <a:spcBef>
                <a:spcPts val="0"/>
              </a:spcBef>
              <a:spcAft>
                <a:spcPts val="0"/>
              </a:spcAft>
              <a:buClr>
                <a:srgbClr val="272525"/>
              </a:buClr>
              <a:buSzPts val="2300"/>
              <a:buFont typeface="Petrona"/>
              <a:buNone/>
            </a:pPr>
            <a:r>
              <a:rPr b="1" i="0" lang="en-US" sz="2300" u="none" cap="none" strike="noStrike">
                <a:solidFill>
                  <a:srgbClr val="272525"/>
                </a:solidFill>
                <a:latin typeface="Petrona"/>
                <a:ea typeface="Petrona"/>
                <a:cs typeface="Petrona"/>
                <a:sym typeface="Petrona"/>
              </a:rPr>
              <a:t>Xử Lý Trung Gian</a:t>
            </a:r>
            <a:endParaRPr b="0" i="0" sz="2300" u="none" cap="none" strike="noStrike"/>
          </a:p>
        </p:txBody>
      </p:sp>
      <p:sp>
        <p:nvSpPr>
          <p:cNvPr id="255" name="Google Shape;255;p48"/>
          <p:cNvSpPr/>
          <p:nvPr/>
        </p:nvSpPr>
        <p:spPr>
          <a:xfrm>
            <a:off x="3082348" y="4960590"/>
            <a:ext cx="9221700" cy="7257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Tiếp nhận, tiền xử lý, dùng AI sinh truy vấn SQL, thực thi truy vấn trên cơ sở dữ liệu.</a:t>
            </a:r>
            <a:endParaRPr b="0" i="0" sz="1750" u="none" cap="none" strike="noStrike"/>
          </a:p>
        </p:txBody>
      </p:sp>
      <p:pic>
        <p:nvPicPr>
          <p:cNvPr descr="preencoded.png" id="256" name="Google Shape;256;p48"/>
          <p:cNvPicPr preferRelativeResize="0"/>
          <p:nvPr/>
        </p:nvPicPr>
        <p:blipFill rotWithShape="1">
          <a:blip r:embed="rId5">
            <a:alphaModFix/>
          </a:blip>
          <a:srcRect b="0" l="0" r="0" t="0"/>
          <a:stretch/>
        </p:blipFill>
        <p:spPr>
          <a:xfrm>
            <a:off x="847174" y="5913209"/>
            <a:ext cx="1719433" cy="1687591"/>
          </a:xfrm>
          <a:prstGeom prst="rect">
            <a:avLst/>
          </a:prstGeom>
          <a:noFill/>
          <a:ln>
            <a:noFill/>
          </a:ln>
        </p:spPr>
      </p:pic>
      <p:sp>
        <p:nvSpPr>
          <p:cNvPr id="257" name="Google Shape;257;p48"/>
          <p:cNvSpPr/>
          <p:nvPr/>
        </p:nvSpPr>
        <p:spPr>
          <a:xfrm>
            <a:off x="3082348" y="6140023"/>
            <a:ext cx="4513200" cy="372000"/>
          </a:xfrm>
          <a:prstGeom prst="rect">
            <a:avLst/>
          </a:prstGeom>
          <a:noFill/>
          <a:ln>
            <a:noFill/>
          </a:ln>
        </p:spPr>
        <p:txBody>
          <a:bodyPr anchorCtr="0" anchor="t" bIns="0" lIns="0" spcFirstLastPara="1" rIns="0" wrap="square" tIns="0">
            <a:noAutofit/>
          </a:bodyPr>
          <a:lstStyle/>
          <a:p>
            <a:pPr indent="0" lvl="0" marL="0" marR="0" rtl="0" algn="l">
              <a:lnSpc>
                <a:spcPct val="126086"/>
              </a:lnSpc>
              <a:spcBef>
                <a:spcPts val="0"/>
              </a:spcBef>
              <a:spcAft>
                <a:spcPts val="0"/>
              </a:spcAft>
              <a:buClr>
                <a:srgbClr val="272525"/>
              </a:buClr>
              <a:buSzPts val="2300"/>
              <a:buFont typeface="Petrona"/>
              <a:buNone/>
            </a:pPr>
            <a:r>
              <a:rPr b="1" i="0" lang="en-US" sz="2300" u="none" cap="none" strike="noStrike">
                <a:solidFill>
                  <a:srgbClr val="272525"/>
                </a:solidFill>
                <a:latin typeface="Petrona"/>
                <a:ea typeface="Petrona"/>
                <a:cs typeface="Petrona"/>
                <a:sym typeface="Petrona"/>
              </a:rPr>
              <a:t>Đầu Ra (Output)</a:t>
            </a:r>
            <a:endParaRPr b="0" i="0" sz="2300" u="none" cap="none" strike="noStrike"/>
          </a:p>
        </p:txBody>
      </p:sp>
      <p:sp>
        <p:nvSpPr>
          <p:cNvPr id="258" name="Google Shape;258;p48"/>
          <p:cNvSpPr/>
          <p:nvPr/>
        </p:nvSpPr>
        <p:spPr>
          <a:xfrm>
            <a:off x="3082348" y="6648181"/>
            <a:ext cx="9221700" cy="7257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Kết quả trả về bảng dữ liệu, số liệu tổng hợp hoặc biểu đồ qua giao diện chatbot hoặc web.</a:t>
            </a:r>
            <a:endParaRPr b="0" i="0" sz="1750" u="none" cap="none" strike="noStrike"/>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9"/>
          <p:cNvSpPr/>
          <p:nvPr/>
        </p:nvSpPr>
        <p:spPr>
          <a:xfrm>
            <a:off x="8606128" y="1921075"/>
            <a:ext cx="5230500" cy="2232900"/>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000000"/>
              </a:buClr>
              <a:buSzPts val="4650"/>
              <a:buFont typeface="Petrona"/>
              <a:buNone/>
            </a:pPr>
            <a:r>
              <a:rPr b="1" i="0" lang="en-US" sz="4650" u="none" cap="none" strike="noStrike">
                <a:solidFill>
                  <a:srgbClr val="000000"/>
                </a:solidFill>
                <a:latin typeface="Petrona"/>
                <a:ea typeface="Petrona"/>
                <a:cs typeface="Petrona"/>
                <a:sym typeface="Petrona"/>
              </a:rPr>
              <a:t>Hình Ảnh Minh Họa Hệ Thống AI Agent Và Ứng Dụng</a:t>
            </a:r>
            <a:endParaRPr b="0" i="0" sz="4650" u="none" cap="none" strike="noStrike"/>
          </a:p>
        </p:txBody>
      </p:sp>
      <p:sp>
        <p:nvSpPr>
          <p:cNvPr id="265" name="Google Shape;265;p49"/>
          <p:cNvSpPr/>
          <p:nvPr/>
        </p:nvSpPr>
        <p:spPr>
          <a:xfrm>
            <a:off x="8471653" y="4494025"/>
            <a:ext cx="5364900" cy="18144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Hệ thống AI Agent giúp người dùng không chuyên dễ dàng truy vấn dữ liệu TMĐT bằng câu hỏi tiếng Anh, chuyển đổi tự động sang truy vấn SQL và hiển thị kết quả trực quan. Giao diện thân thiện, hỗ trợ chatbot hoặc ứng dụng web, tối ưu hóa trải nghiệm và nâng cao hiệu quả phân tích dữ liệu.</a:t>
            </a:r>
            <a:endParaRPr b="0" i="0" sz="1750" u="none" cap="none" strike="noStrike"/>
          </a:p>
        </p:txBody>
      </p:sp>
      <p:pic>
        <p:nvPicPr>
          <p:cNvPr id="266" name="Google Shape;266;p49"/>
          <p:cNvPicPr preferRelativeResize="0"/>
          <p:nvPr/>
        </p:nvPicPr>
        <p:blipFill>
          <a:blip r:embed="rId3">
            <a:alphaModFix/>
          </a:blip>
          <a:stretch>
            <a:fillRect/>
          </a:stretch>
        </p:blipFill>
        <p:spPr>
          <a:xfrm>
            <a:off x="703700" y="1577775"/>
            <a:ext cx="7108375" cy="53205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pic>
        <p:nvPicPr>
          <p:cNvPr descr="preencoded.png" id="272" name="Google Shape;272;p50"/>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273" name="Google Shape;273;p50"/>
          <p:cNvSpPr/>
          <p:nvPr/>
        </p:nvSpPr>
        <p:spPr>
          <a:xfrm>
            <a:off x="793790" y="1967151"/>
            <a:ext cx="7556421" cy="1488519"/>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000000"/>
              </a:buClr>
              <a:buSzPts val="4650"/>
              <a:buFont typeface="Petrona"/>
              <a:buNone/>
            </a:pPr>
            <a:r>
              <a:rPr b="1" i="0" lang="en-US" sz="4650" u="none" cap="none" strike="noStrike">
                <a:solidFill>
                  <a:srgbClr val="000000"/>
                </a:solidFill>
                <a:latin typeface="Petrona"/>
                <a:ea typeface="Petrona"/>
                <a:cs typeface="Petrona"/>
                <a:sym typeface="Petrona"/>
              </a:rPr>
              <a:t>Chương 2: Tổng Quan Lý Thuyết và Công Nghệ</a:t>
            </a:r>
            <a:endParaRPr b="0" i="0" sz="4650" u="none" cap="none" strike="noStrike"/>
          </a:p>
        </p:txBody>
      </p:sp>
      <p:sp>
        <p:nvSpPr>
          <p:cNvPr id="274" name="Google Shape;274;p50"/>
          <p:cNvSpPr/>
          <p:nvPr/>
        </p:nvSpPr>
        <p:spPr>
          <a:xfrm>
            <a:off x="793790" y="3795832"/>
            <a:ext cx="7556421"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Chương này trình bày tổng quan về các ngôn ngữ lập trình, thư viện, mô hình AI, kỹ thuật lập trình, công nghệ cơ sở dữ liệu, thiết kế phần mềm, giao diện người dùng, bảo mật và xử lý ngôn ngữ tự nhiên. Đây là nền tảng quan trọng để hiểu cách xây dựng và vận hành hệ thống AI phức tạp như Querymancer.</a:t>
            </a:r>
            <a:endParaRPr b="0" i="0" sz="1750" u="none" cap="none" strike="noStrike"/>
          </a:p>
        </p:txBody>
      </p:sp>
      <p:sp>
        <p:nvSpPr>
          <p:cNvPr id="275" name="Google Shape;275;p50"/>
          <p:cNvSpPr/>
          <p:nvPr/>
        </p:nvSpPr>
        <p:spPr>
          <a:xfrm>
            <a:off x="793790" y="5882402"/>
            <a:ext cx="362903" cy="362903"/>
          </a:xfrm>
          <a:prstGeom prst="roundRect">
            <a:avLst>
              <a:gd fmla="val 25194296"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pic>
        <p:nvPicPr>
          <p:cNvPr descr="preencoded.png" id="281" name="Google Shape;281;p51"/>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282" name="Google Shape;282;p51"/>
          <p:cNvSpPr/>
          <p:nvPr/>
        </p:nvSpPr>
        <p:spPr>
          <a:xfrm>
            <a:off x="793790" y="839867"/>
            <a:ext cx="7556421" cy="1488519"/>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000000"/>
              </a:buClr>
              <a:buSzPts val="4650"/>
              <a:buFont typeface="Petrona"/>
              <a:buNone/>
            </a:pPr>
            <a:r>
              <a:rPr b="1" i="0" lang="en-US" sz="4650" u="none" cap="none" strike="noStrike">
                <a:solidFill>
                  <a:srgbClr val="000000"/>
                </a:solidFill>
                <a:latin typeface="Petrona"/>
                <a:ea typeface="Petrona"/>
                <a:cs typeface="Petrona"/>
                <a:sym typeface="Petrona"/>
              </a:rPr>
              <a:t>Ngôn Ngữ Lập Trình và Framework</a:t>
            </a:r>
            <a:endParaRPr b="0" i="0" sz="4650" u="none" cap="none" strike="noStrike"/>
          </a:p>
        </p:txBody>
      </p:sp>
      <p:sp>
        <p:nvSpPr>
          <p:cNvPr id="283" name="Google Shape;283;p51"/>
          <p:cNvSpPr/>
          <p:nvPr/>
        </p:nvSpPr>
        <p:spPr>
          <a:xfrm>
            <a:off x="793790" y="2668548"/>
            <a:ext cx="3664863" cy="2791539"/>
          </a:xfrm>
          <a:prstGeom prst="roundRect">
            <a:avLst>
              <a:gd fmla="val 3413" name="adj"/>
            </a:avLst>
          </a:prstGeom>
          <a:solidFill>
            <a:srgbClr val="CCEEFF"/>
          </a:solidFill>
          <a:ln cap="flat" cmpd="sng" w="9525">
            <a:solidFill>
              <a:srgbClr val="B2D4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51"/>
          <p:cNvSpPr/>
          <p:nvPr/>
        </p:nvSpPr>
        <p:spPr>
          <a:xfrm>
            <a:off x="1028224" y="2902982"/>
            <a:ext cx="2977039" cy="372070"/>
          </a:xfrm>
          <a:prstGeom prst="rect">
            <a:avLst/>
          </a:prstGeom>
          <a:noFill/>
          <a:ln>
            <a:noFill/>
          </a:ln>
        </p:spPr>
        <p:txBody>
          <a:bodyPr anchorCtr="0" anchor="t" bIns="0" lIns="0" spcFirstLastPara="1" rIns="0" wrap="square" tIns="0">
            <a:noAutofit/>
          </a:bodyPr>
          <a:lstStyle/>
          <a:p>
            <a:pPr indent="0" lvl="0" marL="0" marR="0" rtl="0" algn="l">
              <a:lnSpc>
                <a:spcPct val="126086"/>
              </a:lnSpc>
              <a:spcBef>
                <a:spcPts val="0"/>
              </a:spcBef>
              <a:spcAft>
                <a:spcPts val="0"/>
              </a:spcAft>
              <a:buClr>
                <a:srgbClr val="272525"/>
              </a:buClr>
              <a:buSzPts val="2300"/>
              <a:buFont typeface="Petrona"/>
              <a:buNone/>
            </a:pPr>
            <a:r>
              <a:rPr b="1" i="0" lang="en-US" sz="2300" u="none" cap="none" strike="noStrike">
                <a:solidFill>
                  <a:srgbClr val="272525"/>
                </a:solidFill>
                <a:latin typeface="Petrona"/>
                <a:ea typeface="Petrona"/>
                <a:cs typeface="Petrona"/>
                <a:sym typeface="Petrona"/>
              </a:rPr>
              <a:t>Python</a:t>
            </a:r>
            <a:endParaRPr b="0" i="0" sz="2300" u="none" cap="none" strike="noStrike"/>
          </a:p>
        </p:txBody>
      </p:sp>
      <p:sp>
        <p:nvSpPr>
          <p:cNvPr id="285" name="Google Shape;285;p51"/>
          <p:cNvSpPr/>
          <p:nvPr/>
        </p:nvSpPr>
        <p:spPr>
          <a:xfrm>
            <a:off x="1028224" y="3411141"/>
            <a:ext cx="3195995"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Ngôn ngữ lập trình đa năng, dễ đọc, hỗ trợ nhiều mô hình lập trình và có nhiều thư viện mạnh mẽ, đặc biệt trong AI/ML.</a:t>
            </a:r>
            <a:endParaRPr b="0" i="0" sz="1750" u="none" cap="none" strike="noStrike"/>
          </a:p>
        </p:txBody>
      </p:sp>
      <p:sp>
        <p:nvSpPr>
          <p:cNvPr id="286" name="Google Shape;286;p51"/>
          <p:cNvSpPr/>
          <p:nvPr/>
        </p:nvSpPr>
        <p:spPr>
          <a:xfrm>
            <a:off x="4685467" y="2668548"/>
            <a:ext cx="3664863" cy="2791539"/>
          </a:xfrm>
          <a:prstGeom prst="roundRect">
            <a:avLst>
              <a:gd fmla="val 3413" name="adj"/>
            </a:avLst>
          </a:prstGeom>
          <a:solidFill>
            <a:srgbClr val="CCEEFF"/>
          </a:solidFill>
          <a:ln cap="flat" cmpd="sng" w="9525">
            <a:solidFill>
              <a:srgbClr val="B2D4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51"/>
          <p:cNvSpPr/>
          <p:nvPr/>
        </p:nvSpPr>
        <p:spPr>
          <a:xfrm>
            <a:off x="4919901" y="2902982"/>
            <a:ext cx="2977039" cy="372070"/>
          </a:xfrm>
          <a:prstGeom prst="rect">
            <a:avLst/>
          </a:prstGeom>
          <a:noFill/>
          <a:ln>
            <a:noFill/>
          </a:ln>
        </p:spPr>
        <p:txBody>
          <a:bodyPr anchorCtr="0" anchor="t" bIns="0" lIns="0" spcFirstLastPara="1" rIns="0" wrap="square" tIns="0">
            <a:noAutofit/>
          </a:bodyPr>
          <a:lstStyle/>
          <a:p>
            <a:pPr indent="0" lvl="0" marL="0" marR="0" rtl="0" algn="l">
              <a:lnSpc>
                <a:spcPct val="126086"/>
              </a:lnSpc>
              <a:spcBef>
                <a:spcPts val="0"/>
              </a:spcBef>
              <a:spcAft>
                <a:spcPts val="0"/>
              </a:spcAft>
              <a:buClr>
                <a:srgbClr val="272525"/>
              </a:buClr>
              <a:buSzPts val="2300"/>
              <a:buFont typeface="Petrona"/>
              <a:buNone/>
            </a:pPr>
            <a:r>
              <a:rPr b="1" i="0" lang="en-US" sz="2300" u="none" cap="none" strike="noStrike">
                <a:solidFill>
                  <a:srgbClr val="272525"/>
                </a:solidFill>
                <a:latin typeface="Petrona"/>
                <a:ea typeface="Petrona"/>
                <a:cs typeface="Petrona"/>
                <a:sym typeface="Petrona"/>
              </a:rPr>
              <a:t>SQL</a:t>
            </a:r>
            <a:endParaRPr b="0" i="0" sz="2300" u="none" cap="none" strike="noStrike"/>
          </a:p>
        </p:txBody>
      </p:sp>
      <p:sp>
        <p:nvSpPr>
          <p:cNvPr id="288" name="Google Shape;288;p51"/>
          <p:cNvSpPr/>
          <p:nvPr/>
        </p:nvSpPr>
        <p:spPr>
          <a:xfrm>
            <a:off x="4919901" y="3411141"/>
            <a:ext cx="3195995"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Ngôn ngữ truy vấn cơ sở dữ liệu quan hệ, sử dụng cú pháp SQL Server để truy vấn và trả kết quả theo yêu cầu người dùng.</a:t>
            </a:r>
            <a:endParaRPr b="0" i="0" sz="1750" u="none" cap="none" strike="noStrike"/>
          </a:p>
        </p:txBody>
      </p:sp>
      <p:sp>
        <p:nvSpPr>
          <p:cNvPr id="289" name="Google Shape;289;p51"/>
          <p:cNvSpPr/>
          <p:nvPr/>
        </p:nvSpPr>
        <p:spPr>
          <a:xfrm>
            <a:off x="793790" y="5686901"/>
            <a:ext cx="7556421" cy="1702832"/>
          </a:xfrm>
          <a:prstGeom prst="roundRect">
            <a:avLst>
              <a:gd fmla="val 5595" name="adj"/>
            </a:avLst>
          </a:prstGeom>
          <a:solidFill>
            <a:srgbClr val="CCEEFF"/>
          </a:solidFill>
          <a:ln cap="flat" cmpd="sng" w="9525">
            <a:solidFill>
              <a:srgbClr val="B2D4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51"/>
          <p:cNvSpPr/>
          <p:nvPr/>
        </p:nvSpPr>
        <p:spPr>
          <a:xfrm>
            <a:off x="1028224" y="5921335"/>
            <a:ext cx="2977039" cy="372070"/>
          </a:xfrm>
          <a:prstGeom prst="rect">
            <a:avLst/>
          </a:prstGeom>
          <a:noFill/>
          <a:ln>
            <a:noFill/>
          </a:ln>
        </p:spPr>
        <p:txBody>
          <a:bodyPr anchorCtr="0" anchor="t" bIns="0" lIns="0" spcFirstLastPara="1" rIns="0" wrap="square" tIns="0">
            <a:noAutofit/>
          </a:bodyPr>
          <a:lstStyle/>
          <a:p>
            <a:pPr indent="0" lvl="0" marL="0" marR="0" rtl="0" algn="l">
              <a:lnSpc>
                <a:spcPct val="126086"/>
              </a:lnSpc>
              <a:spcBef>
                <a:spcPts val="0"/>
              </a:spcBef>
              <a:spcAft>
                <a:spcPts val="0"/>
              </a:spcAft>
              <a:buClr>
                <a:srgbClr val="272525"/>
              </a:buClr>
              <a:buSzPts val="2300"/>
              <a:buFont typeface="Petrona"/>
              <a:buNone/>
            </a:pPr>
            <a:r>
              <a:rPr b="1" i="0" lang="en-US" sz="2300" u="none" cap="none" strike="noStrike">
                <a:solidFill>
                  <a:srgbClr val="272525"/>
                </a:solidFill>
                <a:latin typeface="Petrona"/>
                <a:ea typeface="Petrona"/>
                <a:cs typeface="Petrona"/>
                <a:sym typeface="Petrona"/>
              </a:rPr>
              <a:t>Markdown</a:t>
            </a:r>
            <a:endParaRPr b="0" i="0" sz="2300" u="none" cap="none" strike="noStrike"/>
          </a:p>
        </p:txBody>
      </p:sp>
      <p:sp>
        <p:nvSpPr>
          <p:cNvPr id="291" name="Google Shape;291;p51"/>
          <p:cNvSpPr/>
          <p:nvPr/>
        </p:nvSpPr>
        <p:spPr>
          <a:xfrm>
            <a:off x="1028224" y="6429494"/>
            <a:ext cx="7087553"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Ngôn ngữ đánh dấu nhẹ, dùng để định dạng văn bản trong giao diện người dùng Streamlit.</a:t>
            </a:r>
            <a:endParaRPr b="0" i="0" sz="1750" u="none" cap="none" strike="noStrike"/>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52"/>
          <p:cNvSpPr/>
          <p:nvPr/>
        </p:nvSpPr>
        <p:spPr>
          <a:xfrm>
            <a:off x="793790" y="1124188"/>
            <a:ext cx="7221141" cy="744260"/>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000000"/>
              </a:buClr>
              <a:buSzPts val="4650"/>
              <a:buFont typeface="Petrona"/>
              <a:buNone/>
            </a:pPr>
            <a:r>
              <a:rPr b="1" i="0" lang="en-US" sz="4650" u="none" cap="none" strike="noStrike">
                <a:solidFill>
                  <a:srgbClr val="000000"/>
                </a:solidFill>
                <a:latin typeface="Petrona"/>
                <a:ea typeface="Petrona"/>
                <a:cs typeface="Petrona"/>
                <a:sym typeface="Petrona"/>
              </a:rPr>
              <a:t>Thư Viện và Framework AI</a:t>
            </a:r>
            <a:endParaRPr b="0" i="0" sz="4650" u="none" cap="none" strike="noStrike"/>
          </a:p>
        </p:txBody>
      </p:sp>
      <p:sp>
        <p:nvSpPr>
          <p:cNvPr id="298" name="Google Shape;298;p52"/>
          <p:cNvSpPr/>
          <p:nvPr/>
        </p:nvSpPr>
        <p:spPr>
          <a:xfrm>
            <a:off x="793790" y="2435423"/>
            <a:ext cx="2977039" cy="372070"/>
          </a:xfrm>
          <a:prstGeom prst="rect">
            <a:avLst/>
          </a:prstGeom>
          <a:noFill/>
          <a:ln>
            <a:noFill/>
          </a:ln>
        </p:spPr>
        <p:txBody>
          <a:bodyPr anchorCtr="0" anchor="t" bIns="0" lIns="0" spcFirstLastPara="1" rIns="0" wrap="square" tIns="0">
            <a:noAutofit/>
          </a:bodyPr>
          <a:lstStyle/>
          <a:p>
            <a:pPr indent="0" lvl="0" marL="0" marR="0" rtl="0" algn="l">
              <a:lnSpc>
                <a:spcPct val="126086"/>
              </a:lnSpc>
              <a:spcBef>
                <a:spcPts val="0"/>
              </a:spcBef>
              <a:spcAft>
                <a:spcPts val="0"/>
              </a:spcAft>
              <a:buClr>
                <a:srgbClr val="000000"/>
              </a:buClr>
              <a:buSzPts val="2300"/>
              <a:buFont typeface="Petrona"/>
              <a:buNone/>
            </a:pPr>
            <a:r>
              <a:rPr b="1" i="0" lang="en-US" sz="2300" u="none" cap="none" strike="noStrike">
                <a:solidFill>
                  <a:srgbClr val="000000"/>
                </a:solidFill>
                <a:latin typeface="Petrona"/>
                <a:ea typeface="Petrona"/>
                <a:cs typeface="Petrona"/>
                <a:sym typeface="Petrona"/>
              </a:rPr>
              <a:t>LangChain</a:t>
            </a:r>
            <a:endParaRPr b="0" i="0" sz="2300" u="none" cap="none" strike="noStrike"/>
          </a:p>
        </p:txBody>
      </p:sp>
      <p:sp>
        <p:nvSpPr>
          <p:cNvPr id="299" name="Google Shape;299;p52"/>
          <p:cNvSpPr/>
          <p:nvPr/>
        </p:nvSpPr>
        <p:spPr>
          <a:xfrm>
            <a:off x="793790" y="3034308"/>
            <a:ext cx="3978116"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Framework phát triển ứng dụng dựa trên mô hình ngôn ngữ lớn, kết hợp LLM với dữ liệu bên ngoài và chuỗi tác vụ có cấu trúc.</a:t>
            </a:r>
            <a:endParaRPr b="0" i="0" sz="1750" u="none" cap="none" strike="noStrike"/>
          </a:p>
        </p:txBody>
      </p:sp>
      <p:sp>
        <p:nvSpPr>
          <p:cNvPr id="300" name="Google Shape;300;p52"/>
          <p:cNvSpPr/>
          <p:nvPr/>
        </p:nvSpPr>
        <p:spPr>
          <a:xfrm>
            <a:off x="793790" y="4689991"/>
            <a:ext cx="3978116" cy="725805"/>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72525"/>
              </a:buClr>
              <a:buSzPts val="1750"/>
              <a:buFont typeface="Inter"/>
              <a:buChar char="•"/>
            </a:pPr>
            <a:r>
              <a:rPr b="0" i="0" lang="en-US" sz="1750" u="none" cap="none" strike="noStrike">
                <a:solidFill>
                  <a:srgbClr val="272525"/>
                </a:solidFill>
                <a:latin typeface="Inter"/>
                <a:ea typeface="Inter"/>
                <a:cs typeface="Inter"/>
                <a:sym typeface="Inter"/>
              </a:rPr>
              <a:t>langchain_core: thành phần cốt lõi</a:t>
            </a:r>
            <a:endParaRPr b="0" i="0" sz="1750" u="none" cap="none" strike="noStrike"/>
          </a:p>
        </p:txBody>
      </p:sp>
      <p:sp>
        <p:nvSpPr>
          <p:cNvPr id="301" name="Google Shape;301;p52"/>
          <p:cNvSpPr/>
          <p:nvPr/>
        </p:nvSpPr>
        <p:spPr>
          <a:xfrm>
            <a:off x="793790" y="5495092"/>
            <a:ext cx="3978116" cy="725805"/>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72525"/>
              </a:buClr>
              <a:buSzPts val="1750"/>
              <a:buFont typeface="Inter"/>
              <a:buChar char="•"/>
            </a:pPr>
            <a:r>
              <a:rPr b="0" i="0" lang="en-US" sz="1750" u="none" cap="none" strike="noStrike">
                <a:solidFill>
                  <a:srgbClr val="272525"/>
                </a:solidFill>
                <a:latin typeface="Inter"/>
                <a:ea typeface="Inter"/>
                <a:cs typeface="Inter"/>
                <a:sym typeface="Inter"/>
              </a:rPr>
              <a:t>langchain_groq/ollama: tích hợp nhà cung cấp mô hình</a:t>
            </a:r>
            <a:endParaRPr b="0" i="0" sz="1750" u="none" cap="none" strike="noStrike"/>
          </a:p>
        </p:txBody>
      </p:sp>
      <p:sp>
        <p:nvSpPr>
          <p:cNvPr id="302" name="Google Shape;302;p52"/>
          <p:cNvSpPr/>
          <p:nvPr/>
        </p:nvSpPr>
        <p:spPr>
          <a:xfrm>
            <a:off x="793790" y="6300192"/>
            <a:ext cx="3978116" cy="725805"/>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72525"/>
              </a:buClr>
              <a:buSzPts val="1750"/>
              <a:buFont typeface="Inter"/>
              <a:buChar char="•"/>
            </a:pPr>
            <a:r>
              <a:rPr b="0" i="0" lang="en-US" sz="1750" u="none" cap="none" strike="noStrike">
                <a:solidFill>
                  <a:srgbClr val="272525"/>
                </a:solidFill>
                <a:latin typeface="Inter"/>
                <a:ea typeface="Inter"/>
                <a:cs typeface="Inter"/>
                <a:sym typeface="Inter"/>
              </a:rPr>
              <a:t>langchain.tools: định nghĩa công cụ cho mô hình</a:t>
            </a:r>
            <a:endParaRPr b="0" i="0" sz="1750" u="none" cap="none" strike="noStrike"/>
          </a:p>
        </p:txBody>
      </p:sp>
      <p:pic>
        <p:nvPicPr>
          <p:cNvPr id="303" name="Google Shape;303;p52"/>
          <p:cNvPicPr preferRelativeResize="0"/>
          <p:nvPr/>
        </p:nvPicPr>
        <p:blipFill>
          <a:blip r:embed="rId3">
            <a:alphaModFix/>
          </a:blip>
          <a:stretch>
            <a:fillRect/>
          </a:stretch>
        </p:blipFill>
        <p:spPr>
          <a:xfrm>
            <a:off x="7344749" y="2114975"/>
            <a:ext cx="6250200" cy="561032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53"/>
          <p:cNvSpPr/>
          <p:nvPr/>
        </p:nvSpPr>
        <p:spPr>
          <a:xfrm>
            <a:off x="1729103" y="2000911"/>
            <a:ext cx="2976900" cy="372000"/>
          </a:xfrm>
          <a:prstGeom prst="rect">
            <a:avLst/>
          </a:prstGeom>
          <a:noFill/>
          <a:ln>
            <a:noFill/>
          </a:ln>
        </p:spPr>
        <p:txBody>
          <a:bodyPr anchorCtr="0" anchor="t" bIns="0" lIns="0" spcFirstLastPara="1" rIns="0" wrap="square" tIns="0">
            <a:noAutofit/>
          </a:bodyPr>
          <a:lstStyle/>
          <a:p>
            <a:pPr indent="0" lvl="0" marL="0" marR="0" rtl="0" algn="l">
              <a:lnSpc>
                <a:spcPct val="126087"/>
              </a:lnSpc>
              <a:spcBef>
                <a:spcPts val="0"/>
              </a:spcBef>
              <a:spcAft>
                <a:spcPts val="0"/>
              </a:spcAft>
              <a:buClr>
                <a:srgbClr val="000000"/>
              </a:buClr>
              <a:buSzPts val="2300"/>
              <a:buFont typeface="Petrona"/>
              <a:buNone/>
            </a:pPr>
            <a:r>
              <a:rPr b="1" i="0" lang="en-US" sz="2300" u="none" cap="none" strike="noStrike">
                <a:solidFill>
                  <a:srgbClr val="000000"/>
                </a:solidFill>
                <a:latin typeface="Petrona"/>
                <a:ea typeface="Petrona"/>
                <a:cs typeface="Petrona"/>
                <a:sym typeface="Petrona"/>
              </a:rPr>
              <a:t>Streamlit</a:t>
            </a:r>
            <a:endParaRPr b="0" i="0" sz="2300" u="none" cap="none" strike="noStrike"/>
          </a:p>
        </p:txBody>
      </p:sp>
      <p:sp>
        <p:nvSpPr>
          <p:cNvPr id="310" name="Google Shape;310;p53"/>
          <p:cNvSpPr/>
          <p:nvPr/>
        </p:nvSpPr>
        <p:spPr>
          <a:xfrm>
            <a:off x="1729103" y="2599796"/>
            <a:ext cx="3978000" cy="14517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Framework Python xây dựng ứng dụng web tương tác cho ML/AI, đơn giản hóa giao diện mà không cần HTML/CSS/JS.</a:t>
            </a:r>
            <a:endParaRPr b="0" i="0" sz="1750" u="none" cap="none" strike="noStrike"/>
          </a:p>
        </p:txBody>
      </p:sp>
      <p:sp>
        <p:nvSpPr>
          <p:cNvPr id="311" name="Google Shape;311;p53"/>
          <p:cNvSpPr/>
          <p:nvPr/>
        </p:nvSpPr>
        <p:spPr>
          <a:xfrm>
            <a:off x="1729103" y="4255479"/>
            <a:ext cx="3978000" cy="725700"/>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72525"/>
              </a:buClr>
              <a:buSzPts val="1750"/>
              <a:buFont typeface="Inter"/>
              <a:buChar char="•"/>
            </a:pPr>
            <a:r>
              <a:rPr b="0" i="0" lang="en-US" sz="1750" u="none" cap="none" strike="noStrike">
                <a:solidFill>
                  <a:srgbClr val="272525"/>
                </a:solidFill>
                <a:latin typeface="Inter"/>
                <a:ea typeface="Inter"/>
                <a:cs typeface="Inter"/>
                <a:sym typeface="Inter"/>
              </a:rPr>
              <a:t>st.chat_message/input: API giao diện chat</a:t>
            </a:r>
            <a:endParaRPr b="0" i="0" sz="1750" u="none" cap="none" strike="noStrike"/>
          </a:p>
        </p:txBody>
      </p:sp>
      <p:sp>
        <p:nvSpPr>
          <p:cNvPr id="312" name="Google Shape;312;p53"/>
          <p:cNvSpPr/>
          <p:nvPr/>
        </p:nvSpPr>
        <p:spPr>
          <a:xfrm>
            <a:off x="1729103" y="5060580"/>
            <a:ext cx="3978000" cy="725700"/>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72525"/>
              </a:buClr>
              <a:buSzPts val="1750"/>
              <a:buFont typeface="Inter"/>
              <a:buChar char="•"/>
            </a:pPr>
            <a:r>
              <a:rPr b="0" i="0" lang="en-US" sz="1750" u="none" cap="none" strike="noStrike">
                <a:solidFill>
                  <a:srgbClr val="272525"/>
                </a:solidFill>
                <a:latin typeface="Inter"/>
                <a:ea typeface="Inter"/>
                <a:cs typeface="Inter"/>
                <a:sym typeface="Inter"/>
              </a:rPr>
              <a:t>st.cache_resource: lưu cache tài nguyên</a:t>
            </a:r>
            <a:endParaRPr b="0" i="0" sz="1750" u="none" cap="none" strike="noStrike"/>
          </a:p>
        </p:txBody>
      </p:sp>
      <p:sp>
        <p:nvSpPr>
          <p:cNvPr id="313" name="Google Shape;313;p53"/>
          <p:cNvSpPr/>
          <p:nvPr/>
        </p:nvSpPr>
        <p:spPr>
          <a:xfrm>
            <a:off x="1729103" y="5865680"/>
            <a:ext cx="3978000" cy="363000"/>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72525"/>
              </a:buClr>
              <a:buSzPts val="1750"/>
              <a:buFont typeface="Inter"/>
              <a:buChar char="•"/>
            </a:pPr>
            <a:r>
              <a:rPr b="0" i="0" lang="en-US" sz="1750" u="none" cap="none" strike="noStrike">
                <a:solidFill>
                  <a:srgbClr val="272525"/>
                </a:solidFill>
                <a:latin typeface="Inter"/>
                <a:ea typeface="Inter"/>
                <a:cs typeface="Inter"/>
                <a:sym typeface="Inter"/>
              </a:rPr>
              <a:t>st.status: hiển thị trạng thái xử lý</a:t>
            </a:r>
            <a:endParaRPr b="0" i="0" sz="1750" u="none" cap="none" strike="noStrike"/>
          </a:p>
        </p:txBody>
      </p:sp>
      <p:sp>
        <p:nvSpPr>
          <p:cNvPr id="314" name="Google Shape;314;p53"/>
          <p:cNvSpPr/>
          <p:nvPr/>
        </p:nvSpPr>
        <p:spPr>
          <a:xfrm>
            <a:off x="6268242" y="2000911"/>
            <a:ext cx="2976900" cy="372000"/>
          </a:xfrm>
          <a:prstGeom prst="rect">
            <a:avLst/>
          </a:prstGeom>
          <a:noFill/>
          <a:ln>
            <a:noFill/>
          </a:ln>
        </p:spPr>
        <p:txBody>
          <a:bodyPr anchorCtr="0" anchor="t" bIns="0" lIns="0" spcFirstLastPara="1" rIns="0" wrap="square" tIns="0">
            <a:noAutofit/>
          </a:bodyPr>
          <a:lstStyle/>
          <a:p>
            <a:pPr indent="0" lvl="0" marL="0" marR="0" rtl="0" algn="l">
              <a:lnSpc>
                <a:spcPct val="126087"/>
              </a:lnSpc>
              <a:spcBef>
                <a:spcPts val="0"/>
              </a:spcBef>
              <a:spcAft>
                <a:spcPts val="0"/>
              </a:spcAft>
              <a:buClr>
                <a:srgbClr val="000000"/>
              </a:buClr>
              <a:buSzPts val="2300"/>
              <a:buFont typeface="Petrona"/>
              <a:buNone/>
            </a:pPr>
            <a:r>
              <a:rPr b="1" i="0" lang="en-US" sz="2300" u="none" cap="none" strike="noStrike">
                <a:solidFill>
                  <a:srgbClr val="000000"/>
                </a:solidFill>
                <a:latin typeface="Petrona"/>
                <a:ea typeface="Petrona"/>
                <a:cs typeface="Petrona"/>
                <a:sym typeface="Petrona"/>
              </a:rPr>
              <a:t>PyODBC</a:t>
            </a:r>
            <a:endParaRPr b="0" i="0" sz="2300" u="none" cap="none" strike="noStrike"/>
          </a:p>
        </p:txBody>
      </p:sp>
      <p:sp>
        <p:nvSpPr>
          <p:cNvPr id="315" name="Google Shape;315;p53"/>
          <p:cNvSpPr/>
          <p:nvPr/>
        </p:nvSpPr>
        <p:spPr>
          <a:xfrm>
            <a:off x="6268242" y="2599796"/>
            <a:ext cx="3978000" cy="10887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Thư viện Python truy cập cơ sở dữ liệu qua ODBC, kết nối đa dạng cơ sở dữ liệu như SQL Server.</a:t>
            </a:r>
            <a:endParaRPr b="0" i="0" sz="1750" u="none" cap="none" strike="noStrike"/>
          </a:p>
        </p:txBody>
      </p:sp>
      <p:sp>
        <p:nvSpPr>
          <p:cNvPr id="316" name="Google Shape;316;p53"/>
          <p:cNvSpPr txBox="1"/>
          <p:nvPr/>
        </p:nvSpPr>
        <p:spPr>
          <a:xfrm>
            <a:off x="1358150" y="470625"/>
            <a:ext cx="10959300" cy="900300"/>
          </a:xfrm>
          <a:prstGeom prst="rect">
            <a:avLst/>
          </a:prstGeom>
          <a:noFill/>
          <a:ln>
            <a:noFill/>
          </a:ln>
        </p:spPr>
        <p:txBody>
          <a:bodyPr anchorCtr="0" anchor="t" bIns="91425" lIns="91425" spcFirstLastPara="1" rIns="91425" wrap="square" tIns="91425">
            <a:spAutoFit/>
          </a:bodyPr>
          <a:lstStyle/>
          <a:p>
            <a:pPr indent="0" lvl="0" marL="0" rtl="0" algn="l">
              <a:lnSpc>
                <a:spcPct val="125806"/>
              </a:lnSpc>
              <a:spcBef>
                <a:spcPts val="0"/>
              </a:spcBef>
              <a:spcAft>
                <a:spcPts val="0"/>
              </a:spcAft>
              <a:buNone/>
            </a:pPr>
            <a:r>
              <a:rPr b="1" lang="en-US" sz="4650">
                <a:solidFill>
                  <a:schemeClr val="dk1"/>
                </a:solidFill>
                <a:latin typeface="Petrona"/>
                <a:ea typeface="Petrona"/>
                <a:cs typeface="Petrona"/>
                <a:sym typeface="Petrona"/>
              </a:rPr>
              <a:t>Thư Viện và Framework AI</a:t>
            </a:r>
            <a:endParaRPr sz="465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54"/>
          <p:cNvSpPr/>
          <p:nvPr/>
        </p:nvSpPr>
        <p:spPr>
          <a:xfrm>
            <a:off x="6200656" y="654129"/>
            <a:ext cx="6813709" cy="669727"/>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4200"/>
              <a:buFont typeface="Petrona"/>
              <a:buNone/>
            </a:pPr>
            <a:r>
              <a:rPr b="1" i="0" lang="en-US" sz="4200" u="none" cap="none" strike="noStrike">
                <a:solidFill>
                  <a:srgbClr val="000000"/>
                </a:solidFill>
                <a:latin typeface="Petrona"/>
                <a:ea typeface="Petrona"/>
                <a:cs typeface="Petrona"/>
                <a:sym typeface="Petrona"/>
              </a:rPr>
              <a:t>Mô Hình AI và Dịch Vụ LLM</a:t>
            </a:r>
            <a:endParaRPr b="0" i="0" sz="4200" u="none" cap="none" strike="noStrike"/>
          </a:p>
        </p:txBody>
      </p:sp>
      <p:sp>
        <p:nvSpPr>
          <p:cNvPr id="323" name="Google Shape;323;p54"/>
          <p:cNvSpPr/>
          <p:nvPr/>
        </p:nvSpPr>
        <p:spPr>
          <a:xfrm>
            <a:off x="6200656" y="1629966"/>
            <a:ext cx="459224" cy="459224"/>
          </a:xfrm>
          <a:prstGeom prst="roundRect">
            <a:avLst>
              <a:gd fmla="val 18667" name="adj"/>
            </a:avLst>
          </a:prstGeom>
          <a:solidFill>
            <a:srgbClr val="CCEEFF"/>
          </a:solidFill>
          <a:ln cap="flat" cmpd="sng" w="9525">
            <a:solidFill>
              <a:srgbClr val="B2D4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54"/>
          <p:cNvSpPr/>
          <p:nvPr/>
        </p:nvSpPr>
        <p:spPr>
          <a:xfrm>
            <a:off x="6863953" y="1700093"/>
            <a:ext cx="2678787" cy="334804"/>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272525"/>
              </a:buClr>
              <a:buSzPts val="2100"/>
              <a:buFont typeface="Petrona"/>
              <a:buNone/>
            </a:pPr>
            <a:r>
              <a:rPr b="1" i="0" lang="en-US" sz="2100" u="none" cap="none" strike="noStrike">
                <a:solidFill>
                  <a:srgbClr val="272525"/>
                </a:solidFill>
                <a:latin typeface="Petrona"/>
                <a:ea typeface="Petrona"/>
                <a:cs typeface="Petrona"/>
                <a:sym typeface="Petrona"/>
              </a:rPr>
              <a:t>Massive Dataset</a:t>
            </a:r>
            <a:endParaRPr b="0" i="0" sz="2100" u="none" cap="none" strike="noStrike"/>
          </a:p>
        </p:txBody>
      </p:sp>
      <p:sp>
        <p:nvSpPr>
          <p:cNvPr id="325" name="Google Shape;325;p54"/>
          <p:cNvSpPr/>
          <p:nvPr/>
        </p:nvSpPr>
        <p:spPr>
          <a:xfrm>
            <a:off x="6863953" y="2157293"/>
            <a:ext cx="7052191" cy="652939"/>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272525"/>
              </a:buClr>
              <a:buSzPts val="1600"/>
              <a:buFont typeface="Inter"/>
              <a:buNone/>
            </a:pPr>
            <a:r>
              <a:rPr b="0" i="0" lang="en-US" sz="1600" u="none" cap="none" strike="noStrike">
                <a:solidFill>
                  <a:srgbClr val="272525"/>
                </a:solidFill>
                <a:latin typeface="Inter"/>
                <a:ea typeface="Inter"/>
                <a:cs typeface="Inter"/>
                <a:sym typeface="Inter"/>
              </a:rPr>
              <a:t>Huấn luyện trên hàng tỷ từ từ sách, website, mạng xã hội giúp mô hình học kiến thức và ngữ cảnh rộng.</a:t>
            </a:r>
            <a:endParaRPr b="0" i="0" sz="1600" u="none" cap="none" strike="noStrike"/>
          </a:p>
        </p:txBody>
      </p:sp>
      <p:sp>
        <p:nvSpPr>
          <p:cNvPr id="326" name="Google Shape;326;p54"/>
          <p:cNvSpPr/>
          <p:nvPr/>
        </p:nvSpPr>
        <p:spPr>
          <a:xfrm>
            <a:off x="6200656" y="3218378"/>
            <a:ext cx="459224" cy="459224"/>
          </a:xfrm>
          <a:prstGeom prst="roundRect">
            <a:avLst>
              <a:gd fmla="val 18667" name="adj"/>
            </a:avLst>
          </a:prstGeom>
          <a:solidFill>
            <a:srgbClr val="CCEEFF"/>
          </a:solidFill>
          <a:ln cap="flat" cmpd="sng" w="9525">
            <a:solidFill>
              <a:srgbClr val="B2D4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54"/>
          <p:cNvSpPr/>
          <p:nvPr/>
        </p:nvSpPr>
        <p:spPr>
          <a:xfrm>
            <a:off x="6863953" y="3288506"/>
            <a:ext cx="3674626" cy="334804"/>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272525"/>
              </a:buClr>
              <a:buSzPts val="2100"/>
              <a:buFont typeface="Petrona"/>
              <a:buNone/>
            </a:pPr>
            <a:r>
              <a:rPr b="1" i="0" lang="en-US" sz="2100" u="none" cap="none" strike="noStrike">
                <a:solidFill>
                  <a:srgbClr val="272525"/>
                </a:solidFill>
                <a:latin typeface="Petrona"/>
                <a:ea typeface="Petrona"/>
                <a:cs typeface="Petrona"/>
                <a:sym typeface="Petrona"/>
              </a:rPr>
              <a:t>Deep Learning &amp; Transformer</a:t>
            </a:r>
            <a:endParaRPr b="0" i="0" sz="2100" u="none" cap="none" strike="noStrike"/>
          </a:p>
        </p:txBody>
      </p:sp>
      <p:sp>
        <p:nvSpPr>
          <p:cNvPr id="328" name="Google Shape;328;p54"/>
          <p:cNvSpPr/>
          <p:nvPr/>
        </p:nvSpPr>
        <p:spPr>
          <a:xfrm>
            <a:off x="6863953" y="3745706"/>
            <a:ext cx="7052191" cy="652939"/>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272525"/>
              </a:buClr>
              <a:buSzPts val="1600"/>
              <a:buFont typeface="Inter"/>
              <a:buNone/>
            </a:pPr>
            <a:r>
              <a:rPr b="0" i="0" lang="en-US" sz="1600" u="none" cap="none" strike="noStrike">
                <a:solidFill>
                  <a:srgbClr val="272525"/>
                </a:solidFill>
                <a:latin typeface="Inter"/>
                <a:ea typeface="Inter"/>
                <a:cs typeface="Inter"/>
                <a:sym typeface="Inter"/>
              </a:rPr>
              <a:t>Mạng nơ-ron nhiều lớp và kiến trúc Transformer giúp xử lý ngôn ngữ tự nhiên hiệu quả và song song.</a:t>
            </a:r>
            <a:endParaRPr b="0" i="0" sz="1600" u="none" cap="none" strike="noStrike"/>
          </a:p>
        </p:txBody>
      </p:sp>
      <p:sp>
        <p:nvSpPr>
          <p:cNvPr id="329" name="Google Shape;329;p54"/>
          <p:cNvSpPr/>
          <p:nvPr/>
        </p:nvSpPr>
        <p:spPr>
          <a:xfrm>
            <a:off x="6200656" y="4806791"/>
            <a:ext cx="459224" cy="459224"/>
          </a:xfrm>
          <a:prstGeom prst="roundRect">
            <a:avLst>
              <a:gd fmla="val 18667" name="adj"/>
            </a:avLst>
          </a:prstGeom>
          <a:solidFill>
            <a:srgbClr val="CCEEFF"/>
          </a:solidFill>
          <a:ln cap="flat" cmpd="sng" w="9525">
            <a:solidFill>
              <a:srgbClr val="B2D4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54"/>
          <p:cNvSpPr/>
          <p:nvPr/>
        </p:nvSpPr>
        <p:spPr>
          <a:xfrm>
            <a:off x="6863953" y="4876919"/>
            <a:ext cx="3685103" cy="334804"/>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272525"/>
              </a:buClr>
              <a:buSzPts val="2100"/>
              <a:buFont typeface="Petrona"/>
              <a:buNone/>
            </a:pPr>
            <a:r>
              <a:rPr b="1" i="0" lang="en-US" sz="2100" u="none" cap="none" strike="noStrike">
                <a:solidFill>
                  <a:srgbClr val="272525"/>
                </a:solidFill>
                <a:latin typeface="Petrona"/>
                <a:ea typeface="Petrona"/>
                <a:cs typeface="Petrona"/>
                <a:sym typeface="Petrona"/>
              </a:rPr>
              <a:t>Self-supervised &amp; Fine-tuning</a:t>
            </a:r>
            <a:endParaRPr b="0" i="0" sz="2100" u="none" cap="none" strike="noStrike"/>
          </a:p>
        </p:txBody>
      </p:sp>
      <p:sp>
        <p:nvSpPr>
          <p:cNvPr id="331" name="Google Shape;331;p54"/>
          <p:cNvSpPr/>
          <p:nvPr/>
        </p:nvSpPr>
        <p:spPr>
          <a:xfrm>
            <a:off x="6863953" y="5334119"/>
            <a:ext cx="7052191" cy="652939"/>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272525"/>
              </a:buClr>
              <a:buSzPts val="1600"/>
              <a:buFont typeface="Inter"/>
              <a:buNone/>
            </a:pPr>
            <a:r>
              <a:rPr b="0" i="0" lang="en-US" sz="1600" u="none" cap="none" strike="noStrike">
                <a:solidFill>
                  <a:srgbClr val="272525"/>
                </a:solidFill>
                <a:latin typeface="Inter"/>
                <a:ea typeface="Inter"/>
                <a:cs typeface="Inter"/>
                <a:sym typeface="Inter"/>
              </a:rPr>
              <a:t>Học tự giám sát không cần nhãn thủ công, sau đó tinh chỉnh cho nhiệm vụ cụ thể như chatbot hay phân tích cảm xúc.</a:t>
            </a:r>
            <a:endParaRPr b="0" i="0" sz="1600" u="none" cap="none" strike="noStrike"/>
          </a:p>
        </p:txBody>
      </p:sp>
      <p:sp>
        <p:nvSpPr>
          <p:cNvPr id="332" name="Google Shape;332;p54"/>
          <p:cNvSpPr/>
          <p:nvPr/>
        </p:nvSpPr>
        <p:spPr>
          <a:xfrm>
            <a:off x="6200656" y="6395204"/>
            <a:ext cx="459224" cy="459224"/>
          </a:xfrm>
          <a:prstGeom prst="roundRect">
            <a:avLst>
              <a:gd fmla="val 18667" name="adj"/>
            </a:avLst>
          </a:prstGeom>
          <a:solidFill>
            <a:srgbClr val="CCEEFF"/>
          </a:solidFill>
          <a:ln cap="flat" cmpd="sng" w="9525">
            <a:solidFill>
              <a:srgbClr val="B2D4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54"/>
          <p:cNvSpPr/>
          <p:nvPr/>
        </p:nvSpPr>
        <p:spPr>
          <a:xfrm>
            <a:off x="6863953" y="6465332"/>
            <a:ext cx="2678787" cy="334804"/>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272525"/>
              </a:buClr>
              <a:buSzPts val="2100"/>
              <a:buFont typeface="Petrona"/>
              <a:buNone/>
            </a:pPr>
            <a:r>
              <a:rPr b="1" i="0" lang="en-US" sz="2100" u="none" cap="none" strike="noStrike">
                <a:solidFill>
                  <a:srgbClr val="272525"/>
                </a:solidFill>
                <a:latin typeface="Petrona"/>
                <a:ea typeface="Petrona"/>
                <a:cs typeface="Petrona"/>
                <a:sym typeface="Petrona"/>
              </a:rPr>
              <a:t>Ollama</a:t>
            </a:r>
            <a:endParaRPr b="0" i="0" sz="2100" u="none" cap="none" strike="noStrike"/>
          </a:p>
        </p:txBody>
      </p:sp>
      <p:sp>
        <p:nvSpPr>
          <p:cNvPr id="334" name="Google Shape;334;p54"/>
          <p:cNvSpPr/>
          <p:nvPr/>
        </p:nvSpPr>
        <p:spPr>
          <a:xfrm>
            <a:off x="6863953" y="6922532"/>
            <a:ext cx="7052191" cy="652939"/>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272525"/>
              </a:buClr>
              <a:buSzPts val="1600"/>
              <a:buFont typeface="Inter"/>
              <a:buNone/>
            </a:pPr>
            <a:r>
              <a:rPr b="0" i="0" lang="en-US" sz="1600" u="none" cap="none" strike="noStrike">
                <a:solidFill>
                  <a:srgbClr val="272525"/>
                </a:solidFill>
                <a:latin typeface="Inter"/>
                <a:ea typeface="Inter"/>
                <a:cs typeface="Inter"/>
                <a:sym typeface="Inter"/>
              </a:rPr>
              <a:t>Nền tảng chạy mô hình LLM cục bộ trên máy tính, không cần dịch vụ cloud.</a:t>
            </a:r>
            <a:endParaRPr b="0" i="0" sz="1600" u="none" cap="none" strike="noStrike"/>
          </a:p>
        </p:txBody>
      </p:sp>
      <p:pic>
        <p:nvPicPr>
          <p:cNvPr id="335" name="Google Shape;335;p54"/>
          <p:cNvPicPr preferRelativeResize="0"/>
          <p:nvPr/>
        </p:nvPicPr>
        <p:blipFill>
          <a:blip r:embed="rId3">
            <a:alphaModFix/>
          </a:blip>
          <a:stretch>
            <a:fillRect/>
          </a:stretch>
        </p:blipFill>
        <p:spPr>
          <a:xfrm>
            <a:off x="273425" y="2157300"/>
            <a:ext cx="5667375" cy="39909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55"/>
          <p:cNvSpPr/>
          <p:nvPr/>
        </p:nvSpPr>
        <p:spPr>
          <a:xfrm>
            <a:off x="793790" y="1959769"/>
            <a:ext cx="11387138" cy="744260"/>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000000"/>
              </a:buClr>
              <a:buSzPts val="4650"/>
              <a:buFont typeface="Petrona"/>
              <a:buNone/>
            </a:pPr>
            <a:r>
              <a:rPr b="1" i="0" lang="en-US" sz="4650" u="none" cap="none" strike="noStrike">
                <a:solidFill>
                  <a:srgbClr val="000000"/>
                </a:solidFill>
                <a:latin typeface="Petrona"/>
                <a:ea typeface="Petrona"/>
                <a:cs typeface="Petrona"/>
                <a:sym typeface="Petrona"/>
              </a:rPr>
              <a:t>Kỹ Thuật Lập Trình và Mô Hình Lập Trình</a:t>
            </a:r>
            <a:endParaRPr b="0" i="0" sz="4650" u="none" cap="none" strike="noStrike"/>
          </a:p>
        </p:txBody>
      </p:sp>
      <p:sp>
        <p:nvSpPr>
          <p:cNvPr id="342" name="Google Shape;342;p55"/>
          <p:cNvSpPr/>
          <p:nvPr/>
        </p:nvSpPr>
        <p:spPr>
          <a:xfrm>
            <a:off x="793790" y="3271004"/>
            <a:ext cx="2845594" cy="744141"/>
          </a:xfrm>
          <a:prstGeom prst="rect">
            <a:avLst/>
          </a:prstGeom>
          <a:noFill/>
          <a:ln>
            <a:noFill/>
          </a:ln>
        </p:spPr>
        <p:txBody>
          <a:bodyPr anchorCtr="0" anchor="t" bIns="0" lIns="0" spcFirstLastPara="1" rIns="0" wrap="square" tIns="0">
            <a:noAutofit/>
          </a:bodyPr>
          <a:lstStyle/>
          <a:p>
            <a:pPr indent="0" lvl="0" marL="0" marR="0" rtl="0" algn="l">
              <a:lnSpc>
                <a:spcPct val="126086"/>
              </a:lnSpc>
              <a:spcBef>
                <a:spcPts val="0"/>
              </a:spcBef>
              <a:spcAft>
                <a:spcPts val="0"/>
              </a:spcAft>
              <a:buClr>
                <a:srgbClr val="000000"/>
              </a:buClr>
              <a:buSzPts val="2300"/>
              <a:buFont typeface="Petrona"/>
              <a:buNone/>
            </a:pPr>
            <a:r>
              <a:rPr b="1" i="0" lang="en-US" sz="2300" u="none" cap="none" strike="noStrike">
                <a:solidFill>
                  <a:srgbClr val="000000"/>
                </a:solidFill>
                <a:latin typeface="Petrona"/>
                <a:ea typeface="Petrona"/>
                <a:cs typeface="Petrona"/>
                <a:sym typeface="Petrona"/>
              </a:rPr>
              <a:t>Type Annotations &amp; Dataclasses</a:t>
            </a:r>
            <a:endParaRPr b="0" i="0" sz="2300" u="none" cap="none" strike="noStrike"/>
          </a:p>
        </p:txBody>
      </p:sp>
      <p:sp>
        <p:nvSpPr>
          <p:cNvPr id="343" name="Google Shape;343;p55"/>
          <p:cNvSpPr/>
          <p:nvPr/>
        </p:nvSpPr>
        <p:spPr>
          <a:xfrm>
            <a:off x="793790" y="4241959"/>
            <a:ext cx="2845594"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Khai báo kiểu dữ liệu giúp code dễ đọc, dataclasses tạo lớp lưu trữ dữ liệu ngắn gọn.</a:t>
            </a:r>
            <a:endParaRPr b="0" i="0" sz="1750" u="none" cap="none" strike="noStrike"/>
          </a:p>
        </p:txBody>
      </p:sp>
      <p:sp>
        <p:nvSpPr>
          <p:cNvPr id="344" name="Google Shape;344;p55"/>
          <p:cNvSpPr/>
          <p:nvPr/>
        </p:nvSpPr>
        <p:spPr>
          <a:xfrm>
            <a:off x="4200406" y="3271004"/>
            <a:ext cx="2845594" cy="744141"/>
          </a:xfrm>
          <a:prstGeom prst="rect">
            <a:avLst/>
          </a:prstGeom>
          <a:noFill/>
          <a:ln>
            <a:noFill/>
          </a:ln>
        </p:spPr>
        <p:txBody>
          <a:bodyPr anchorCtr="0" anchor="t" bIns="0" lIns="0" spcFirstLastPara="1" rIns="0" wrap="square" tIns="0">
            <a:noAutofit/>
          </a:bodyPr>
          <a:lstStyle/>
          <a:p>
            <a:pPr indent="0" lvl="0" marL="0" marR="0" rtl="0" algn="l">
              <a:lnSpc>
                <a:spcPct val="126086"/>
              </a:lnSpc>
              <a:spcBef>
                <a:spcPts val="0"/>
              </a:spcBef>
              <a:spcAft>
                <a:spcPts val="0"/>
              </a:spcAft>
              <a:buClr>
                <a:srgbClr val="000000"/>
              </a:buClr>
              <a:buSzPts val="2300"/>
              <a:buFont typeface="Petrona"/>
              <a:buNone/>
            </a:pPr>
            <a:r>
              <a:rPr b="1" i="0" lang="en-US" sz="2300" u="none" cap="none" strike="noStrike">
                <a:solidFill>
                  <a:srgbClr val="000000"/>
                </a:solidFill>
                <a:latin typeface="Petrona"/>
                <a:ea typeface="Petrona"/>
                <a:cs typeface="Petrona"/>
                <a:sym typeface="Petrona"/>
              </a:rPr>
              <a:t>Enum &amp; Context Managers</a:t>
            </a:r>
            <a:endParaRPr b="0" i="0" sz="2300" u="none" cap="none" strike="noStrike"/>
          </a:p>
        </p:txBody>
      </p:sp>
      <p:sp>
        <p:nvSpPr>
          <p:cNvPr id="345" name="Google Shape;345;p55"/>
          <p:cNvSpPr/>
          <p:nvPr/>
        </p:nvSpPr>
        <p:spPr>
          <a:xfrm>
            <a:off x="4200406" y="4241959"/>
            <a:ext cx="2845594"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Enum tạo tập hợp hằng số, Context Managers quản lý tài nguyên tự động với with và @contextmanager.</a:t>
            </a:r>
            <a:endParaRPr b="0" i="0" sz="1750" u="none" cap="none" strike="noStrike"/>
          </a:p>
        </p:txBody>
      </p:sp>
      <p:sp>
        <p:nvSpPr>
          <p:cNvPr id="346" name="Google Shape;346;p55"/>
          <p:cNvSpPr/>
          <p:nvPr/>
        </p:nvSpPr>
        <p:spPr>
          <a:xfrm>
            <a:off x="7607022" y="3271004"/>
            <a:ext cx="2845594" cy="744141"/>
          </a:xfrm>
          <a:prstGeom prst="rect">
            <a:avLst/>
          </a:prstGeom>
          <a:noFill/>
          <a:ln>
            <a:noFill/>
          </a:ln>
        </p:spPr>
        <p:txBody>
          <a:bodyPr anchorCtr="0" anchor="t" bIns="0" lIns="0" spcFirstLastPara="1" rIns="0" wrap="square" tIns="0">
            <a:noAutofit/>
          </a:bodyPr>
          <a:lstStyle/>
          <a:p>
            <a:pPr indent="0" lvl="0" marL="0" marR="0" rtl="0" algn="l">
              <a:lnSpc>
                <a:spcPct val="126086"/>
              </a:lnSpc>
              <a:spcBef>
                <a:spcPts val="0"/>
              </a:spcBef>
              <a:spcAft>
                <a:spcPts val="0"/>
              </a:spcAft>
              <a:buClr>
                <a:srgbClr val="000000"/>
              </a:buClr>
              <a:buSzPts val="2300"/>
              <a:buFont typeface="Petrona"/>
              <a:buNone/>
            </a:pPr>
            <a:r>
              <a:rPr b="1" i="0" lang="en-US" sz="2300" u="none" cap="none" strike="noStrike">
                <a:solidFill>
                  <a:srgbClr val="000000"/>
                </a:solidFill>
                <a:latin typeface="Petrona"/>
                <a:ea typeface="Petrona"/>
                <a:cs typeface="Petrona"/>
                <a:sym typeface="Petrona"/>
              </a:rPr>
              <a:t>Decorators &amp; Exception Handling</a:t>
            </a:r>
            <a:endParaRPr b="0" i="0" sz="2300" u="none" cap="none" strike="noStrike"/>
          </a:p>
        </p:txBody>
      </p:sp>
      <p:sp>
        <p:nvSpPr>
          <p:cNvPr id="347" name="Google Shape;347;p55"/>
          <p:cNvSpPr/>
          <p:nvPr/>
        </p:nvSpPr>
        <p:spPr>
          <a:xfrm>
            <a:off x="7607022" y="4241959"/>
            <a:ext cx="2845594"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Sửa đổi chức năng hàm/lớp mà không thay đổi code gốc, xử lý lỗi với try/except/finally.</a:t>
            </a:r>
            <a:endParaRPr b="0" i="0" sz="1750" u="none" cap="none" strike="noStrike"/>
          </a:p>
        </p:txBody>
      </p:sp>
      <p:sp>
        <p:nvSpPr>
          <p:cNvPr id="348" name="Google Shape;348;p55"/>
          <p:cNvSpPr/>
          <p:nvPr/>
        </p:nvSpPr>
        <p:spPr>
          <a:xfrm>
            <a:off x="11013638" y="3271004"/>
            <a:ext cx="2845594" cy="1116211"/>
          </a:xfrm>
          <a:prstGeom prst="rect">
            <a:avLst/>
          </a:prstGeom>
          <a:noFill/>
          <a:ln>
            <a:noFill/>
          </a:ln>
        </p:spPr>
        <p:txBody>
          <a:bodyPr anchorCtr="0" anchor="t" bIns="0" lIns="0" spcFirstLastPara="1" rIns="0" wrap="square" tIns="0">
            <a:noAutofit/>
          </a:bodyPr>
          <a:lstStyle/>
          <a:p>
            <a:pPr indent="0" lvl="0" marL="0" marR="0" rtl="0" algn="l">
              <a:lnSpc>
                <a:spcPct val="126086"/>
              </a:lnSpc>
              <a:spcBef>
                <a:spcPts val="0"/>
              </a:spcBef>
              <a:spcAft>
                <a:spcPts val="0"/>
              </a:spcAft>
              <a:buClr>
                <a:srgbClr val="000000"/>
              </a:buClr>
              <a:buSzPts val="2300"/>
              <a:buFont typeface="Petrona"/>
              <a:buNone/>
            </a:pPr>
            <a:r>
              <a:rPr b="1" i="0" lang="en-US" sz="2300" u="none" cap="none" strike="noStrike">
                <a:solidFill>
                  <a:srgbClr val="000000"/>
                </a:solidFill>
                <a:latin typeface="Petrona"/>
                <a:ea typeface="Petrona"/>
                <a:cs typeface="Petrona"/>
                <a:sym typeface="Petrona"/>
              </a:rPr>
              <a:t>Tool-Calling &amp; Agent-Based Programming</a:t>
            </a:r>
            <a:endParaRPr b="0" i="0" sz="2300" u="none" cap="none" strike="noStrike"/>
          </a:p>
        </p:txBody>
      </p:sp>
      <p:sp>
        <p:nvSpPr>
          <p:cNvPr id="349" name="Google Shape;349;p55"/>
          <p:cNvSpPr/>
          <p:nvPr/>
        </p:nvSpPr>
        <p:spPr>
          <a:xfrm>
            <a:off x="11013638" y="4614029"/>
            <a:ext cx="2845594"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AI tự chọn công cụ phù hợp để hoàn thành nhiệm vụ, agent tự chủ thực hiện hành động đạt mục tiêu.</a:t>
            </a:r>
            <a:endParaRPr b="0" i="0" sz="1750" u="none" cap="none" strike="noStrike"/>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56"/>
          <p:cNvSpPr/>
          <p:nvPr/>
        </p:nvSpPr>
        <p:spPr>
          <a:xfrm>
            <a:off x="800577" y="314600"/>
            <a:ext cx="13042800" cy="1488600"/>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000000"/>
              </a:buClr>
              <a:buSzPts val="4650"/>
              <a:buFont typeface="Petrona"/>
              <a:buNone/>
            </a:pPr>
            <a:r>
              <a:rPr b="1" i="0" lang="en-US" sz="4650" u="none" cap="none" strike="noStrike">
                <a:solidFill>
                  <a:srgbClr val="000000"/>
                </a:solidFill>
                <a:latin typeface="Petrona"/>
                <a:ea typeface="Petrona"/>
                <a:cs typeface="Petrona"/>
                <a:sym typeface="Petrona"/>
              </a:rPr>
              <a:t>Công Nghệ Cơ Sở Dữ Liệu và Thiết Kế Phần Mềm</a:t>
            </a:r>
            <a:endParaRPr b="0" i="0" sz="4650" u="none" cap="none" strike="noStrike"/>
          </a:p>
        </p:txBody>
      </p:sp>
      <p:sp>
        <p:nvSpPr>
          <p:cNvPr id="356" name="Google Shape;356;p56"/>
          <p:cNvSpPr/>
          <p:nvPr/>
        </p:nvSpPr>
        <p:spPr>
          <a:xfrm>
            <a:off x="800565" y="1645320"/>
            <a:ext cx="3978000" cy="744000"/>
          </a:xfrm>
          <a:prstGeom prst="rect">
            <a:avLst/>
          </a:prstGeom>
          <a:noFill/>
          <a:ln>
            <a:noFill/>
          </a:ln>
        </p:spPr>
        <p:txBody>
          <a:bodyPr anchorCtr="0" anchor="t" bIns="0" lIns="0" spcFirstLastPara="1" rIns="0" wrap="square" tIns="0">
            <a:noAutofit/>
          </a:bodyPr>
          <a:lstStyle/>
          <a:p>
            <a:pPr indent="0" lvl="0" marL="0" marR="0" rtl="0" algn="l">
              <a:lnSpc>
                <a:spcPct val="126086"/>
              </a:lnSpc>
              <a:spcBef>
                <a:spcPts val="0"/>
              </a:spcBef>
              <a:spcAft>
                <a:spcPts val="0"/>
              </a:spcAft>
              <a:buClr>
                <a:srgbClr val="000000"/>
              </a:buClr>
              <a:buSzPts val="2300"/>
              <a:buFont typeface="Petrona"/>
              <a:buNone/>
            </a:pPr>
            <a:r>
              <a:rPr b="1" i="0" lang="en-US" sz="2300" u="none" cap="none" strike="noStrike">
                <a:solidFill>
                  <a:srgbClr val="000000"/>
                </a:solidFill>
                <a:latin typeface="Petrona"/>
                <a:ea typeface="Petrona"/>
                <a:cs typeface="Petrona"/>
                <a:sym typeface="Petrona"/>
              </a:rPr>
              <a:t>Microsoft SQL Server &amp; ODBC</a:t>
            </a:r>
            <a:endParaRPr b="0" i="0" sz="2300" u="none" cap="none" strike="noStrike"/>
          </a:p>
        </p:txBody>
      </p:sp>
      <p:sp>
        <p:nvSpPr>
          <p:cNvPr id="357" name="Google Shape;357;p56"/>
          <p:cNvSpPr/>
          <p:nvPr/>
        </p:nvSpPr>
        <p:spPr>
          <a:xfrm>
            <a:off x="800565" y="2616275"/>
            <a:ext cx="3978000" cy="10887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Hệ quản trị cơ sở dữ liệu quan hệ của Microsoft, ODBC chuẩn truy cập dữ liệu đa nền tảng.</a:t>
            </a:r>
            <a:endParaRPr b="0" i="0" sz="1750" u="none" cap="none" strike="noStrike"/>
          </a:p>
        </p:txBody>
      </p:sp>
      <p:sp>
        <p:nvSpPr>
          <p:cNvPr id="358" name="Google Shape;358;p56"/>
          <p:cNvSpPr/>
          <p:nvPr/>
        </p:nvSpPr>
        <p:spPr>
          <a:xfrm>
            <a:off x="949203" y="5745270"/>
            <a:ext cx="3978000" cy="744000"/>
          </a:xfrm>
          <a:prstGeom prst="rect">
            <a:avLst/>
          </a:prstGeom>
          <a:noFill/>
          <a:ln>
            <a:noFill/>
          </a:ln>
        </p:spPr>
        <p:txBody>
          <a:bodyPr anchorCtr="0" anchor="t" bIns="0" lIns="0" spcFirstLastPara="1" rIns="0" wrap="square" tIns="0">
            <a:noAutofit/>
          </a:bodyPr>
          <a:lstStyle/>
          <a:p>
            <a:pPr indent="0" lvl="0" marL="0" marR="0" rtl="0" algn="l">
              <a:lnSpc>
                <a:spcPct val="126086"/>
              </a:lnSpc>
              <a:spcBef>
                <a:spcPts val="0"/>
              </a:spcBef>
              <a:spcAft>
                <a:spcPts val="0"/>
              </a:spcAft>
              <a:buClr>
                <a:srgbClr val="000000"/>
              </a:buClr>
              <a:buSzPts val="2300"/>
              <a:buFont typeface="Petrona"/>
              <a:buNone/>
            </a:pPr>
            <a:r>
              <a:rPr b="1" i="0" lang="en-US" sz="2300" u="none" cap="none" strike="noStrike">
                <a:solidFill>
                  <a:srgbClr val="000000"/>
                </a:solidFill>
                <a:latin typeface="Petrona"/>
                <a:ea typeface="Petrona"/>
                <a:cs typeface="Petrona"/>
                <a:sym typeface="Petrona"/>
              </a:rPr>
              <a:t>Modular Design &amp; Separation of Concerns</a:t>
            </a:r>
            <a:endParaRPr b="0" i="0" sz="2300" u="none" cap="none" strike="noStrike"/>
          </a:p>
        </p:txBody>
      </p:sp>
      <p:sp>
        <p:nvSpPr>
          <p:cNvPr id="359" name="Google Shape;359;p56"/>
          <p:cNvSpPr/>
          <p:nvPr/>
        </p:nvSpPr>
        <p:spPr>
          <a:xfrm>
            <a:off x="895403" y="6850700"/>
            <a:ext cx="3978000" cy="10887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Chia chương trình thành module riêng biệt, tách giao diện, logic nghiệp vụ và truy cập dữ liệu.</a:t>
            </a:r>
            <a:endParaRPr b="0" i="0" sz="1750" u="none" cap="none" strike="noStrike"/>
          </a:p>
        </p:txBody>
      </p:sp>
      <p:sp>
        <p:nvSpPr>
          <p:cNvPr id="360" name="Google Shape;360;p56"/>
          <p:cNvSpPr/>
          <p:nvPr/>
        </p:nvSpPr>
        <p:spPr>
          <a:xfrm>
            <a:off x="7678567" y="1173295"/>
            <a:ext cx="3978000" cy="744000"/>
          </a:xfrm>
          <a:prstGeom prst="rect">
            <a:avLst/>
          </a:prstGeom>
          <a:noFill/>
          <a:ln>
            <a:noFill/>
          </a:ln>
        </p:spPr>
        <p:txBody>
          <a:bodyPr anchorCtr="0" anchor="t" bIns="0" lIns="0" spcFirstLastPara="1" rIns="0" wrap="square" tIns="0">
            <a:noAutofit/>
          </a:bodyPr>
          <a:lstStyle/>
          <a:p>
            <a:pPr indent="0" lvl="0" marL="0" marR="0" rtl="0" algn="l">
              <a:lnSpc>
                <a:spcPct val="126086"/>
              </a:lnSpc>
              <a:spcBef>
                <a:spcPts val="0"/>
              </a:spcBef>
              <a:spcAft>
                <a:spcPts val="0"/>
              </a:spcAft>
              <a:buClr>
                <a:srgbClr val="000000"/>
              </a:buClr>
              <a:buSzPts val="2300"/>
              <a:buFont typeface="Petrona"/>
              <a:buNone/>
            </a:pPr>
            <a:r>
              <a:rPr b="1" i="0" lang="en-US" sz="2300" u="none" cap="none" strike="noStrike">
                <a:solidFill>
                  <a:srgbClr val="000000"/>
                </a:solidFill>
                <a:latin typeface="Petrona"/>
                <a:ea typeface="Petrona"/>
                <a:cs typeface="Petrona"/>
                <a:sym typeface="Petrona"/>
              </a:rPr>
              <a:t>Caching &amp; Dependency Injection</a:t>
            </a:r>
            <a:endParaRPr b="0" i="0" sz="2300" u="none" cap="none" strike="noStrike"/>
          </a:p>
        </p:txBody>
      </p:sp>
      <p:sp>
        <p:nvSpPr>
          <p:cNvPr id="361" name="Google Shape;361;p56"/>
          <p:cNvSpPr/>
          <p:nvPr/>
        </p:nvSpPr>
        <p:spPr>
          <a:xfrm>
            <a:off x="7678567" y="2130800"/>
            <a:ext cx="3978000" cy="10887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Lưu kết quả tính toán đắt đỏ để tái sử dụng, truyền các dependency vào đối tượng thay vì tạo bên trong.</a:t>
            </a:r>
            <a:endParaRPr b="0" i="0" sz="1750" u="none" cap="none" strike="noStrike"/>
          </a:p>
        </p:txBody>
      </p:sp>
      <p:pic>
        <p:nvPicPr>
          <p:cNvPr id="362" name="Google Shape;362;p56"/>
          <p:cNvPicPr preferRelativeResize="0"/>
          <p:nvPr/>
        </p:nvPicPr>
        <p:blipFill>
          <a:blip r:embed="rId3">
            <a:alphaModFix/>
          </a:blip>
          <a:stretch>
            <a:fillRect/>
          </a:stretch>
        </p:blipFill>
        <p:spPr>
          <a:xfrm>
            <a:off x="5363975" y="3219488"/>
            <a:ext cx="1952625" cy="4629150"/>
          </a:xfrm>
          <a:prstGeom prst="rect">
            <a:avLst/>
          </a:prstGeom>
          <a:noFill/>
          <a:ln>
            <a:noFill/>
          </a:ln>
        </p:spPr>
      </p:pic>
      <p:pic>
        <p:nvPicPr>
          <p:cNvPr id="363" name="Google Shape;363;p56"/>
          <p:cNvPicPr preferRelativeResize="0"/>
          <p:nvPr/>
        </p:nvPicPr>
        <p:blipFill>
          <a:blip r:embed="rId4">
            <a:alphaModFix/>
          </a:blip>
          <a:stretch>
            <a:fillRect/>
          </a:stretch>
        </p:blipFill>
        <p:spPr>
          <a:xfrm>
            <a:off x="7678574" y="3921757"/>
            <a:ext cx="6951824" cy="204204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57"/>
          <p:cNvSpPr/>
          <p:nvPr/>
        </p:nvSpPr>
        <p:spPr>
          <a:xfrm>
            <a:off x="793790" y="437941"/>
            <a:ext cx="11724000" cy="744300"/>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000000"/>
              </a:buClr>
              <a:buSzPts val="4650"/>
              <a:buFont typeface="Petrona"/>
              <a:buNone/>
            </a:pPr>
            <a:r>
              <a:rPr b="1" i="0" lang="en-US" sz="4650" u="none" cap="none" strike="noStrike">
                <a:solidFill>
                  <a:srgbClr val="000000"/>
                </a:solidFill>
                <a:latin typeface="Petrona"/>
                <a:ea typeface="Petrona"/>
                <a:cs typeface="Petrona"/>
                <a:sym typeface="Petrona"/>
              </a:rPr>
              <a:t>Kỹ Thuật Giao Diện Người Dùng và Bảo Mật</a:t>
            </a:r>
            <a:endParaRPr b="0" i="0" sz="4650" u="none" cap="none" strike="noStrike"/>
          </a:p>
        </p:txBody>
      </p:sp>
      <p:sp>
        <p:nvSpPr>
          <p:cNvPr id="370" name="Google Shape;370;p57"/>
          <p:cNvSpPr/>
          <p:nvPr/>
        </p:nvSpPr>
        <p:spPr>
          <a:xfrm>
            <a:off x="793790" y="1587801"/>
            <a:ext cx="4881600" cy="372000"/>
          </a:xfrm>
          <a:prstGeom prst="rect">
            <a:avLst/>
          </a:prstGeom>
          <a:noFill/>
          <a:ln>
            <a:noFill/>
          </a:ln>
        </p:spPr>
        <p:txBody>
          <a:bodyPr anchorCtr="0" anchor="t" bIns="0" lIns="0" spcFirstLastPara="1" rIns="0" wrap="square" tIns="0">
            <a:noAutofit/>
          </a:bodyPr>
          <a:lstStyle/>
          <a:p>
            <a:pPr indent="0" lvl="0" marL="0" marR="0" rtl="0" algn="l">
              <a:lnSpc>
                <a:spcPct val="126086"/>
              </a:lnSpc>
              <a:spcBef>
                <a:spcPts val="0"/>
              </a:spcBef>
              <a:spcAft>
                <a:spcPts val="0"/>
              </a:spcAft>
              <a:buClr>
                <a:srgbClr val="000000"/>
              </a:buClr>
              <a:buSzPts val="2300"/>
              <a:buFont typeface="Petrona"/>
              <a:buNone/>
            </a:pPr>
            <a:r>
              <a:rPr b="1" i="0" lang="en-US" sz="2300" u="none" cap="none" strike="noStrike">
                <a:solidFill>
                  <a:srgbClr val="000000"/>
                </a:solidFill>
                <a:latin typeface="Petrona"/>
                <a:ea typeface="Petrona"/>
                <a:cs typeface="Petrona"/>
                <a:sym typeface="Petrona"/>
              </a:rPr>
              <a:t>Chat-based UI &amp; Loading Indicators</a:t>
            </a:r>
            <a:endParaRPr b="0" i="0" sz="2300" u="none" cap="none" strike="noStrike"/>
          </a:p>
        </p:txBody>
      </p:sp>
      <p:sp>
        <p:nvSpPr>
          <p:cNvPr id="371" name="Google Shape;371;p57"/>
          <p:cNvSpPr/>
          <p:nvPr/>
        </p:nvSpPr>
        <p:spPr>
          <a:xfrm>
            <a:off x="793790" y="2186686"/>
            <a:ext cx="6244800" cy="7257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Giao diện chat tương tác giữa người dùng và AI, hiển thị trạng thái xử lý để thông báo tiến trình.</a:t>
            </a:r>
            <a:endParaRPr b="0" i="0" sz="1750" u="none" cap="none" strike="noStrike"/>
          </a:p>
        </p:txBody>
      </p:sp>
      <p:sp>
        <p:nvSpPr>
          <p:cNvPr id="372" name="Google Shape;372;p57"/>
          <p:cNvSpPr/>
          <p:nvPr/>
        </p:nvSpPr>
        <p:spPr>
          <a:xfrm>
            <a:off x="7532296" y="1442526"/>
            <a:ext cx="6244800" cy="744000"/>
          </a:xfrm>
          <a:prstGeom prst="rect">
            <a:avLst/>
          </a:prstGeom>
          <a:noFill/>
          <a:ln>
            <a:noFill/>
          </a:ln>
        </p:spPr>
        <p:txBody>
          <a:bodyPr anchorCtr="0" anchor="t" bIns="0" lIns="0" spcFirstLastPara="1" rIns="0" wrap="square" tIns="0">
            <a:noAutofit/>
          </a:bodyPr>
          <a:lstStyle/>
          <a:p>
            <a:pPr indent="0" lvl="0" marL="0" marR="0" rtl="0" algn="l">
              <a:lnSpc>
                <a:spcPct val="126086"/>
              </a:lnSpc>
              <a:spcBef>
                <a:spcPts val="0"/>
              </a:spcBef>
              <a:spcAft>
                <a:spcPts val="0"/>
              </a:spcAft>
              <a:buClr>
                <a:srgbClr val="000000"/>
              </a:buClr>
              <a:buSzPts val="2300"/>
              <a:buFont typeface="Petrona"/>
              <a:buNone/>
            </a:pPr>
            <a:r>
              <a:rPr b="1" i="0" lang="en-US" sz="2300" u="none" cap="none" strike="noStrike">
                <a:solidFill>
                  <a:srgbClr val="000000"/>
                </a:solidFill>
                <a:latin typeface="Petrona"/>
                <a:ea typeface="Petrona"/>
                <a:cs typeface="Petrona"/>
                <a:sym typeface="Petrona"/>
              </a:rPr>
              <a:t>Custom CSS &amp; Connection String Management</a:t>
            </a:r>
            <a:endParaRPr b="0" i="0" sz="2300" u="none" cap="none" strike="noStrike"/>
          </a:p>
        </p:txBody>
      </p:sp>
      <p:sp>
        <p:nvSpPr>
          <p:cNvPr id="373" name="Google Shape;373;p57"/>
          <p:cNvSpPr/>
          <p:nvPr/>
        </p:nvSpPr>
        <p:spPr>
          <a:xfrm>
            <a:off x="7532346" y="2114981"/>
            <a:ext cx="6244800" cy="7257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Tùy chỉnh giao diện web bằng CSS, quản lý an toàn thông tin kết nối cơ sở dữ liệu tập trung trong Config.</a:t>
            </a:r>
            <a:endParaRPr b="0" i="0" sz="1750" u="none" cap="none" strike="noStrike"/>
          </a:p>
        </p:txBody>
      </p:sp>
      <p:pic>
        <p:nvPicPr>
          <p:cNvPr id="374" name="Google Shape;374;p57"/>
          <p:cNvPicPr preferRelativeResize="0"/>
          <p:nvPr/>
        </p:nvPicPr>
        <p:blipFill>
          <a:blip r:embed="rId3">
            <a:alphaModFix/>
          </a:blip>
          <a:stretch>
            <a:fillRect/>
          </a:stretch>
        </p:blipFill>
        <p:spPr>
          <a:xfrm>
            <a:off x="1569125" y="3584855"/>
            <a:ext cx="3465200" cy="4268225"/>
          </a:xfrm>
          <a:prstGeom prst="rect">
            <a:avLst/>
          </a:prstGeom>
          <a:noFill/>
          <a:ln>
            <a:noFill/>
          </a:ln>
        </p:spPr>
      </p:pic>
      <p:sp>
        <p:nvSpPr>
          <p:cNvPr id="375" name="Google Shape;375;p57"/>
          <p:cNvSpPr txBox="1"/>
          <p:nvPr/>
        </p:nvSpPr>
        <p:spPr>
          <a:xfrm>
            <a:off x="7532350" y="3321425"/>
            <a:ext cx="5941500" cy="1285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1200"/>
              </a:spcAft>
              <a:buNone/>
            </a:pPr>
            <a:r>
              <a:rPr i="1" lang="en-US" sz="1300">
                <a:solidFill>
                  <a:srgbClr val="C695C6"/>
                </a:solidFill>
                <a:highlight>
                  <a:srgbClr val="FCFDFD"/>
                </a:highlight>
              </a:rPr>
              <a:t>def</a:t>
            </a:r>
            <a:r>
              <a:rPr lang="en-US" sz="1300">
                <a:solidFill>
                  <a:srgbClr val="333333"/>
                </a:solidFill>
                <a:highlight>
                  <a:srgbClr val="FCFDFD"/>
                </a:highlight>
              </a:rPr>
              <a:t> </a:t>
            </a:r>
            <a:r>
              <a:rPr lang="en-US" sz="1300">
                <a:solidFill>
                  <a:srgbClr val="5FB4B4"/>
                </a:solidFill>
                <a:highlight>
                  <a:srgbClr val="FCFDFD"/>
                </a:highlight>
              </a:rPr>
              <a:t>load_css</a:t>
            </a:r>
            <a:r>
              <a:rPr lang="en-US" sz="1300">
                <a:solidFill>
                  <a:srgbClr val="333333"/>
                </a:solidFill>
                <a:highlight>
                  <a:srgbClr val="FCFDFD"/>
                </a:highlight>
              </a:rPr>
              <a:t>(</a:t>
            </a:r>
            <a:r>
              <a:rPr lang="en-US" sz="1300">
                <a:solidFill>
                  <a:srgbClr val="F9AE58"/>
                </a:solidFill>
                <a:highlight>
                  <a:srgbClr val="FCFDFD"/>
                </a:highlight>
              </a:rPr>
              <a:t>css_file</a:t>
            </a:r>
            <a:r>
              <a:rPr lang="en-US" sz="1300">
                <a:solidFill>
                  <a:srgbClr val="333333"/>
                </a:solidFill>
                <a:highlight>
                  <a:srgbClr val="FCFDFD"/>
                </a:highlight>
              </a:rPr>
              <a:t>):</a:t>
            </a:r>
            <a:br>
              <a:rPr lang="en-US" sz="1300">
                <a:solidFill>
                  <a:srgbClr val="333333"/>
                </a:solidFill>
                <a:highlight>
                  <a:srgbClr val="FCFDFD"/>
                </a:highlight>
              </a:rPr>
            </a:br>
            <a:r>
              <a:rPr lang="en-US" sz="1300">
                <a:solidFill>
                  <a:srgbClr val="333333"/>
                </a:solidFill>
                <a:highlight>
                  <a:srgbClr val="FCFDFD"/>
                </a:highlight>
              </a:rPr>
              <a:t>    </a:t>
            </a:r>
            <a:r>
              <a:rPr lang="en-US" sz="1300">
                <a:solidFill>
                  <a:srgbClr val="C695C6"/>
                </a:solidFill>
                <a:highlight>
                  <a:srgbClr val="FCFDFD"/>
                </a:highlight>
              </a:rPr>
              <a:t>with</a:t>
            </a:r>
            <a:r>
              <a:rPr lang="en-US" sz="1300">
                <a:solidFill>
                  <a:srgbClr val="333333"/>
                </a:solidFill>
                <a:highlight>
                  <a:srgbClr val="FCFDFD"/>
                </a:highlight>
              </a:rPr>
              <a:t> </a:t>
            </a:r>
            <a:r>
              <a:rPr i="1" lang="en-US" sz="1300">
                <a:solidFill>
                  <a:srgbClr val="6699CC"/>
                </a:solidFill>
                <a:highlight>
                  <a:srgbClr val="FCFDFD"/>
                </a:highlight>
              </a:rPr>
              <a:t>open</a:t>
            </a:r>
            <a:r>
              <a:rPr lang="en-US" sz="1300">
                <a:solidFill>
                  <a:srgbClr val="333333"/>
                </a:solidFill>
                <a:highlight>
                  <a:srgbClr val="FCFDFD"/>
                </a:highlight>
              </a:rPr>
              <a:t>(</a:t>
            </a:r>
            <a:r>
              <a:rPr lang="en-US" sz="1300">
                <a:solidFill>
                  <a:srgbClr val="5FB4B4"/>
                </a:solidFill>
                <a:highlight>
                  <a:srgbClr val="FCFDFD"/>
                </a:highlight>
              </a:rPr>
              <a:t>"</a:t>
            </a:r>
            <a:r>
              <a:rPr lang="en-US" sz="1300">
                <a:solidFill>
                  <a:srgbClr val="80B979"/>
                </a:solidFill>
                <a:highlight>
                  <a:srgbClr val="FCFDFD"/>
                </a:highlight>
              </a:rPr>
              <a:t>C:/Users/yonor/OneDrive/Documents/Đồ án CNLTHD/querymancer/assets/style.css</a:t>
            </a:r>
            <a:r>
              <a:rPr lang="en-US" sz="1300">
                <a:solidFill>
                  <a:srgbClr val="5FB4B4"/>
                </a:solidFill>
                <a:highlight>
                  <a:srgbClr val="FCFDFD"/>
                </a:highlight>
              </a:rPr>
              <a:t>"</a:t>
            </a:r>
            <a:r>
              <a:rPr lang="en-US" sz="1300">
                <a:solidFill>
                  <a:srgbClr val="333333"/>
                </a:solidFill>
                <a:highlight>
                  <a:srgbClr val="FCFDFD"/>
                </a:highlight>
              </a:rPr>
              <a:t>) </a:t>
            </a:r>
            <a:r>
              <a:rPr lang="en-US" sz="1300">
                <a:solidFill>
                  <a:srgbClr val="C695C6"/>
                </a:solidFill>
                <a:highlight>
                  <a:srgbClr val="FCFDFD"/>
                </a:highlight>
              </a:rPr>
              <a:t>as</a:t>
            </a:r>
            <a:r>
              <a:rPr lang="en-US" sz="1300">
                <a:solidFill>
                  <a:srgbClr val="333333"/>
                </a:solidFill>
                <a:highlight>
                  <a:srgbClr val="FCFDFD"/>
                </a:highlight>
              </a:rPr>
              <a:t> f:</a:t>
            </a:r>
            <a:br>
              <a:rPr lang="en-US" sz="1300">
                <a:solidFill>
                  <a:srgbClr val="333333"/>
                </a:solidFill>
                <a:highlight>
                  <a:srgbClr val="FCFDFD"/>
                </a:highlight>
              </a:rPr>
            </a:br>
            <a:r>
              <a:rPr lang="en-US" sz="1300">
                <a:solidFill>
                  <a:srgbClr val="333333"/>
                </a:solidFill>
                <a:highlight>
                  <a:srgbClr val="FCFDFD"/>
                </a:highlight>
              </a:rPr>
              <a:t>        st</a:t>
            </a:r>
            <a:r>
              <a:rPr lang="en-US" sz="1300">
                <a:solidFill>
                  <a:srgbClr val="F97B58"/>
                </a:solidFill>
                <a:highlight>
                  <a:srgbClr val="FCFDFD"/>
                </a:highlight>
              </a:rPr>
              <a:t>.</a:t>
            </a:r>
            <a:r>
              <a:rPr lang="en-US" sz="1300">
                <a:solidFill>
                  <a:srgbClr val="6699CC"/>
                </a:solidFill>
                <a:highlight>
                  <a:srgbClr val="FCFDFD"/>
                </a:highlight>
              </a:rPr>
              <a:t>markdown</a:t>
            </a:r>
            <a:r>
              <a:rPr lang="en-US" sz="1300">
                <a:solidFill>
                  <a:srgbClr val="333333"/>
                </a:solidFill>
                <a:highlight>
                  <a:srgbClr val="FCFDFD"/>
                </a:highlight>
              </a:rPr>
              <a:t>(</a:t>
            </a:r>
            <a:r>
              <a:rPr i="1" lang="en-US" sz="1300">
                <a:solidFill>
                  <a:srgbClr val="C695C6"/>
                </a:solidFill>
                <a:highlight>
                  <a:srgbClr val="FCFDFD"/>
                </a:highlight>
              </a:rPr>
              <a:t>f</a:t>
            </a:r>
            <a:r>
              <a:rPr lang="en-US" sz="1300">
                <a:solidFill>
                  <a:srgbClr val="5FB4B4"/>
                </a:solidFill>
                <a:highlight>
                  <a:srgbClr val="FCFDFD"/>
                </a:highlight>
              </a:rPr>
              <a:t>"</a:t>
            </a:r>
            <a:r>
              <a:rPr lang="en-US" sz="1300">
                <a:solidFill>
                  <a:srgbClr val="80B979"/>
                </a:solidFill>
                <a:highlight>
                  <a:srgbClr val="FCFDFD"/>
                </a:highlight>
              </a:rPr>
              <a:t>&lt;style&gt;</a:t>
            </a:r>
            <a:r>
              <a:rPr lang="en-US" sz="1300">
                <a:solidFill>
                  <a:srgbClr val="333333"/>
                </a:solidFill>
                <a:highlight>
                  <a:srgbClr val="FCFDFD"/>
                </a:highlight>
              </a:rPr>
              <a:t>{f</a:t>
            </a:r>
            <a:r>
              <a:rPr lang="en-US" sz="1300">
                <a:solidFill>
                  <a:srgbClr val="F97B58"/>
                </a:solidFill>
                <a:highlight>
                  <a:srgbClr val="FCFDFD"/>
                </a:highlight>
              </a:rPr>
              <a:t>.</a:t>
            </a:r>
            <a:r>
              <a:rPr lang="en-US" sz="1300">
                <a:solidFill>
                  <a:srgbClr val="6699CC"/>
                </a:solidFill>
                <a:highlight>
                  <a:srgbClr val="FCFDFD"/>
                </a:highlight>
              </a:rPr>
              <a:t>read</a:t>
            </a:r>
            <a:r>
              <a:rPr lang="en-US" sz="1300">
                <a:solidFill>
                  <a:srgbClr val="333333"/>
                </a:solidFill>
                <a:highlight>
                  <a:srgbClr val="FCFDFD"/>
                </a:highlight>
              </a:rPr>
              <a:t>()}</a:t>
            </a:r>
            <a:r>
              <a:rPr lang="en-US" sz="1300">
                <a:solidFill>
                  <a:srgbClr val="80B979"/>
                </a:solidFill>
                <a:highlight>
                  <a:srgbClr val="FCFDFD"/>
                </a:highlight>
              </a:rPr>
              <a:t>&lt;/style&gt;</a:t>
            </a:r>
            <a:r>
              <a:rPr lang="en-US" sz="1300">
                <a:solidFill>
                  <a:srgbClr val="5FB4B4"/>
                </a:solidFill>
                <a:highlight>
                  <a:srgbClr val="FCFDFD"/>
                </a:highlight>
              </a:rPr>
              <a:t>"</a:t>
            </a:r>
            <a:r>
              <a:rPr lang="en-US" sz="1300">
                <a:solidFill>
                  <a:srgbClr val="AC7A68"/>
                </a:solidFill>
                <a:highlight>
                  <a:srgbClr val="FCFDFD"/>
                </a:highlight>
              </a:rPr>
              <a:t>,</a:t>
            </a:r>
            <a:r>
              <a:rPr lang="en-US" sz="1300">
                <a:solidFill>
                  <a:srgbClr val="333333"/>
                </a:solidFill>
                <a:highlight>
                  <a:srgbClr val="FCFDFD"/>
                </a:highlight>
              </a:rPr>
              <a:t> </a:t>
            </a:r>
            <a:r>
              <a:rPr lang="en-US" sz="1300">
                <a:solidFill>
                  <a:srgbClr val="F9AE58"/>
                </a:solidFill>
                <a:highlight>
                  <a:srgbClr val="FCFDFD"/>
                </a:highlight>
              </a:rPr>
              <a:t>unsafe_allow_html</a:t>
            </a:r>
            <a:r>
              <a:rPr lang="en-US" sz="1300">
                <a:solidFill>
                  <a:srgbClr val="F97B58"/>
                </a:solidFill>
                <a:highlight>
                  <a:srgbClr val="FCFDFD"/>
                </a:highlight>
              </a:rPr>
              <a:t>=</a:t>
            </a:r>
            <a:r>
              <a:rPr i="1" lang="en-US" sz="1300">
                <a:solidFill>
                  <a:srgbClr val="EC5F66"/>
                </a:solidFill>
                <a:highlight>
                  <a:srgbClr val="FCFDFD"/>
                </a:highlight>
              </a:rPr>
              <a:t>True</a:t>
            </a:r>
            <a:r>
              <a:rPr lang="en-US" sz="1300">
                <a:solidFill>
                  <a:srgbClr val="333333"/>
                </a:solidFill>
                <a:highlight>
                  <a:srgbClr val="FCFDFD"/>
                </a:highlight>
              </a:rPr>
              <a:t>)</a:t>
            </a:r>
            <a:endParaRPr sz="1300">
              <a:solidFill>
                <a:srgbClr val="333333"/>
              </a:solidFill>
              <a:highlight>
                <a:srgbClr val="FCFDFD"/>
              </a:highlight>
            </a:endParaRPr>
          </a:p>
        </p:txBody>
      </p:sp>
      <p:sp>
        <p:nvSpPr>
          <p:cNvPr id="376" name="Google Shape;376;p57"/>
          <p:cNvSpPr txBox="1"/>
          <p:nvPr/>
        </p:nvSpPr>
        <p:spPr>
          <a:xfrm>
            <a:off x="7532350" y="4823425"/>
            <a:ext cx="6667800" cy="2185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1200"/>
              </a:spcAft>
              <a:buNone/>
            </a:pPr>
            <a:r>
              <a:rPr i="1" lang="en-US" sz="1300">
                <a:solidFill>
                  <a:srgbClr val="C695C6"/>
                </a:solidFill>
                <a:highlight>
                  <a:srgbClr val="FCFDFD"/>
                </a:highlight>
              </a:rPr>
              <a:t>def</a:t>
            </a:r>
            <a:r>
              <a:rPr lang="en-US" sz="1300">
                <a:solidFill>
                  <a:srgbClr val="333333"/>
                </a:solidFill>
                <a:highlight>
                  <a:srgbClr val="FCFDFD"/>
                </a:highlight>
              </a:rPr>
              <a:t> </a:t>
            </a:r>
            <a:r>
              <a:rPr lang="en-US" sz="1300">
                <a:solidFill>
                  <a:srgbClr val="5FB4B4"/>
                </a:solidFill>
                <a:highlight>
                  <a:srgbClr val="FCFDFD"/>
                </a:highlight>
              </a:rPr>
              <a:t>connect_db</a:t>
            </a:r>
            <a:r>
              <a:rPr lang="en-US" sz="1300">
                <a:solidFill>
                  <a:srgbClr val="333333"/>
                </a:solidFill>
                <a:highlight>
                  <a:srgbClr val="FCFDFD"/>
                </a:highlight>
              </a:rPr>
              <a:t>():</a:t>
            </a:r>
            <a:br>
              <a:rPr lang="en-US" sz="1300">
                <a:solidFill>
                  <a:srgbClr val="333333"/>
                </a:solidFill>
                <a:highlight>
                  <a:srgbClr val="FCFDFD"/>
                </a:highlight>
              </a:rPr>
            </a:br>
            <a:r>
              <a:rPr lang="en-US" sz="1300">
                <a:solidFill>
                  <a:srgbClr val="333333"/>
                </a:solidFill>
                <a:highlight>
                  <a:srgbClr val="FCFDFD"/>
                </a:highlight>
              </a:rPr>
              <a:t>    conn </a:t>
            </a:r>
            <a:r>
              <a:rPr lang="en-US" sz="1300">
                <a:solidFill>
                  <a:srgbClr val="F97B58"/>
                </a:solidFill>
                <a:highlight>
                  <a:srgbClr val="FCFDFD"/>
                </a:highlight>
              </a:rPr>
              <a:t>=</a:t>
            </a:r>
            <a:r>
              <a:rPr lang="en-US" sz="1300">
                <a:solidFill>
                  <a:srgbClr val="333333"/>
                </a:solidFill>
                <a:highlight>
                  <a:srgbClr val="FCFDFD"/>
                </a:highlight>
              </a:rPr>
              <a:t> pyodbc</a:t>
            </a:r>
            <a:r>
              <a:rPr lang="en-US" sz="1300">
                <a:solidFill>
                  <a:srgbClr val="F97B58"/>
                </a:solidFill>
                <a:highlight>
                  <a:srgbClr val="FCFDFD"/>
                </a:highlight>
              </a:rPr>
              <a:t>.</a:t>
            </a:r>
            <a:r>
              <a:rPr lang="en-US" sz="1300">
                <a:solidFill>
                  <a:srgbClr val="6699CC"/>
                </a:solidFill>
                <a:highlight>
                  <a:srgbClr val="FCFDFD"/>
                </a:highlight>
              </a:rPr>
              <a:t>connect</a:t>
            </a:r>
            <a:r>
              <a:rPr lang="en-US" sz="1300">
                <a:solidFill>
                  <a:srgbClr val="333333"/>
                </a:solidFill>
                <a:highlight>
                  <a:srgbClr val="FCFDFD"/>
                </a:highlight>
              </a:rPr>
              <a:t>(</a:t>
            </a:r>
            <a:br>
              <a:rPr lang="en-US" sz="1300">
                <a:solidFill>
                  <a:srgbClr val="333333"/>
                </a:solidFill>
                <a:highlight>
                  <a:srgbClr val="FCFDFD"/>
                </a:highlight>
              </a:rPr>
            </a:br>
            <a:r>
              <a:rPr lang="en-US" sz="1300">
                <a:solidFill>
                  <a:srgbClr val="333333"/>
                </a:solidFill>
                <a:highlight>
                  <a:srgbClr val="FCFDFD"/>
                </a:highlight>
              </a:rPr>
              <a:t>        </a:t>
            </a:r>
            <a:r>
              <a:rPr lang="en-US" sz="1300">
                <a:solidFill>
                  <a:srgbClr val="5FB4B4"/>
                </a:solidFill>
                <a:highlight>
                  <a:srgbClr val="FCFDFD"/>
                </a:highlight>
              </a:rPr>
              <a:t>'</a:t>
            </a:r>
            <a:r>
              <a:rPr lang="en-US" sz="1300">
                <a:solidFill>
                  <a:srgbClr val="80B979"/>
                </a:solidFill>
                <a:highlight>
                  <a:srgbClr val="FCFDFD"/>
                </a:highlight>
              </a:rPr>
              <a:t>DRIVER={ODBC Driver 17 for SQL Server};</a:t>
            </a:r>
            <a:r>
              <a:rPr lang="en-US" sz="1300">
                <a:solidFill>
                  <a:srgbClr val="5FB4B4"/>
                </a:solidFill>
                <a:highlight>
                  <a:srgbClr val="FCFDFD"/>
                </a:highlight>
              </a:rPr>
              <a:t>'</a:t>
            </a:r>
            <a:br>
              <a:rPr lang="en-US" sz="1300">
                <a:solidFill>
                  <a:srgbClr val="5FB4B4"/>
                </a:solidFill>
                <a:highlight>
                  <a:srgbClr val="FCFDFD"/>
                </a:highlight>
              </a:rPr>
            </a:br>
            <a:r>
              <a:rPr lang="en-US" sz="1300">
                <a:solidFill>
                  <a:srgbClr val="333333"/>
                </a:solidFill>
                <a:highlight>
                  <a:srgbClr val="FCFDFD"/>
                </a:highlight>
              </a:rPr>
              <a:t>        </a:t>
            </a:r>
            <a:r>
              <a:rPr lang="en-US" sz="1300">
                <a:solidFill>
                  <a:srgbClr val="5FB4B4"/>
                </a:solidFill>
                <a:highlight>
                  <a:srgbClr val="FCFDFD"/>
                </a:highlight>
              </a:rPr>
              <a:t>'</a:t>
            </a:r>
            <a:r>
              <a:rPr lang="en-US" sz="1300">
                <a:solidFill>
                  <a:srgbClr val="80B979"/>
                </a:solidFill>
                <a:highlight>
                  <a:srgbClr val="FCFDFD"/>
                </a:highlight>
              </a:rPr>
              <a:t>SERVER=YONORIKOMANA</a:t>
            </a:r>
            <a:r>
              <a:rPr lang="en-US" sz="1300">
                <a:solidFill>
                  <a:srgbClr val="C695C6"/>
                </a:solidFill>
                <a:highlight>
                  <a:srgbClr val="FCFDFD"/>
                </a:highlight>
              </a:rPr>
              <a:t>\\</a:t>
            </a:r>
            <a:r>
              <a:rPr lang="en-US" sz="1300">
                <a:solidFill>
                  <a:srgbClr val="80B979"/>
                </a:solidFill>
                <a:highlight>
                  <a:srgbClr val="FCFDFD"/>
                </a:highlight>
              </a:rPr>
              <a:t>QUOCDUONG;</a:t>
            </a:r>
            <a:r>
              <a:rPr lang="en-US" sz="1300">
                <a:solidFill>
                  <a:srgbClr val="5FB4B4"/>
                </a:solidFill>
                <a:highlight>
                  <a:srgbClr val="FCFDFD"/>
                </a:highlight>
              </a:rPr>
              <a:t>'</a:t>
            </a:r>
            <a:br>
              <a:rPr lang="en-US" sz="1300">
                <a:solidFill>
                  <a:srgbClr val="5FB4B4"/>
                </a:solidFill>
                <a:highlight>
                  <a:srgbClr val="FCFDFD"/>
                </a:highlight>
              </a:rPr>
            </a:br>
            <a:r>
              <a:rPr lang="en-US" sz="1300">
                <a:solidFill>
                  <a:srgbClr val="333333"/>
                </a:solidFill>
                <a:highlight>
                  <a:srgbClr val="FCFDFD"/>
                </a:highlight>
              </a:rPr>
              <a:t>        </a:t>
            </a:r>
            <a:r>
              <a:rPr lang="en-US" sz="1300">
                <a:solidFill>
                  <a:srgbClr val="5FB4B4"/>
                </a:solidFill>
                <a:highlight>
                  <a:srgbClr val="FCFDFD"/>
                </a:highlight>
              </a:rPr>
              <a:t>'</a:t>
            </a:r>
            <a:r>
              <a:rPr lang="en-US" sz="1300">
                <a:solidFill>
                  <a:srgbClr val="80B979"/>
                </a:solidFill>
                <a:highlight>
                  <a:srgbClr val="FCFDFD"/>
                </a:highlight>
              </a:rPr>
              <a:t>DATABASE=test;</a:t>
            </a:r>
            <a:r>
              <a:rPr lang="en-US" sz="1300">
                <a:solidFill>
                  <a:srgbClr val="5FB4B4"/>
                </a:solidFill>
                <a:highlight>
                  <a:srgbClr val="FCFDFD"/>
                </a:highlight>
              </a:rPr>
              <a:t>'</a:t>
            </a:r>
            <a:br>
              <a:rPr lang="en-US" sz="1300">
                <a:solidFill>
                  <a:srgbClr val="5FB4B4"/>
                </a:solidFill>
                <a:highlight>
                  <a:srgbClr val="FCFDFD"/>
                </a:highlight>
              </a:rPr>
            </a:br>
            <a:r>
              <a:rPr lang="en-US" sz="1300">
                <a:solidFill>
                  <a:srgbClr val="333333"/>
                </a:solidFill>
                <a:highlight>
                  <a:srgbClr val="FCFDFD"/>
                </a:highlight>
              </a:rPr>
              <a:t>        </a:t>
            </a:r>
            <a:r>
              <a:rPr lang="en-US" sz="1300">
                <a:solidFill>
                  <a:srgbClr val="5FB4B4"/>
                </a:solidFill>
                <a:highlight>
                  <a:srgbClr val="FCFDFD"/>
                </a:highlight>
              </a:rPr>
              <a:t>'</a:t>
            </a:r>
            <a:r>
              <a:rPr lang="en-US" sz="1300">
                <a:solidFill>
                  <a:srgbClr val="80B979"/>
                </a:solidFill>
                <a:highlight>
                  <a:srgbClr val="FCFDFD"/>
                </a:highlight>
              </a:rPr>
              <a:t>UID=sa;PWD=1234;Encrypt=no</a:t>
            </a:r>
            <a:r>
              <a:rPr lang="en-US" sz="1300">
                <a:solidFill>
                  <a:srgbClr val="5FB4B4"/>
                </a:solidFill>
                <a:highlight>
                  <a:srgbClr val="FCFDFD"/>
                </a:highlight>
              </a:rPr>
              <a:t>'</a:t>
            </a:r>
            <a:r>
              <a:rPr lang="en-US" sz="1300">
                <a:solidFill>
                  <a:srgbClr val="333333"/>
                </a:solidFill>
                <a:highlight>
                  <a:srgbClr val="FCFDFD"/>
                </a:highlight>
              </a:rPr>
              <a:t>)</a:t>
            </a:r>
            <a:br>
              <a:rPr lang="en-US" sz="1300">
                <a:solidFill>
                  <a:srgbClr val="333333"/>
                </a:solidFill>
                <a:highlight>
                  <a:srgbClr val="FCFDFD"/>
                </a:highlight>
              </a:rPr>
            </a:br>
            <a:r>
              <a:rPr lang="en-US" sz="1300">
                <a:solidFill>
                  <a:srgbClr val="333333"/>
                </a:solidFill>
                <a:highlight>
                  <a:srgbClr val="FCFDFD"/>
                </a:highlight>
              </a:rPr>
              <a:t>    </a:t>
            </a:r>
            <a:r>
              <a:rPr lang="en-US" sz="1300">
                <a:solidFill>
                  <a:srgbClr val="C695C6"/>
                </a:solidFill>
                <a:highlight>
                  <a:srgbClr val="FCFDFD"/>
                </a:highlight>
              </a:rPr>
              <a:t>return</a:t>
            </a:r>
            <a:r>
              <a:rPr lang="en-US" sz="1300">
                <a:solidFill>
                  <a:srgbClr val="333333"/>
                </a:solidFill>
                <a:highlight>
                  <a:srgbClr val="FCFDFD"/>
                </a:highlight>
              </a:rPr>
              <a:t> conn</a:t>
            </a:r>
            <a:endParaRPr sz="1300">
              <a:solidFill>
                <a:srgbClr val="333333"/>
              </a:solidFill>
              <a:highlight>
                <a:srgbClr val="FCFDFD"/>
              </a:highligh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58"/>
          <p:cNvSpPr/>
          <p:nvPr/>
        </p:nvSpPr>
        <p:spPr>
          <a:xfrm>
            <a:off x="793790" y="1331357"/>
            <a:ext cx="7556421" cy="1488519"/>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000000"/>
              </a:buClr>
              <a:buSzPts val="4650"/>
              <a:buFont typeface="Petrona"/>
              <a:buNone/>
            </a:pPr>
            <a:r>
              <a:rPr b="1" i="0" lang="en-US" sz="4650" u="none" cap="none" strike="noStrike">
                <a:solidFill>
                  <a:srgbClr val="000000"/>
                </a:solidFill>
                <a:latin typeface="Petrona"/>
                <a:ea typeface="Petrona"/>
                <a:cs typeface="Petrona"/>
                <a:sym typeface="Petrona"/>
              </a:rPr>
              <a:t>Xử Lý Ngôn Ngữ Tự Nhiên và Prompt Engineering</a:t>
            </a:r>
            <a:endParaRPr b="0" i="0" sz="4650" u="none" cap="none" strike="noStrike"/>
          </a:p>
        </p:txBody>
      </p:sp>
      <p:pic>
        <p:nvPicPr>
          <p:cNvPr descr="preencoded.png" id="383" name="Google Shape;383;p58"/>
          <p:cNvPicPr preferRelativeResize="0"/>
          <p:nvPr/>
        </p:nvPicPr>
        <p:blipFill rotWithShape="1">
          <a:blip r:embed="rId3">
            <a:alphaModFix/>
          </a:blip>
          <a:srcRect b="0" l="0" r="0" t="0"/>
          <a:stretch/>
        </p:blipFill>
        <p:spPr>
          <a:xfrm>
            <a:off x="793790" y="3160038"/>
            <a:ext cx="1134070" cy="1687592"/>
          </a:xfrm>
          <a:prstGeom prst="rect">
            <a:avLst/>
          </a:prstGeom>
          <a:noFill/>
          <a:ln>
            <a:noFill/>
          </a:ln>
        </p:spPr>
      </p:pic>
      <p:sp>
        <p:nvSpPr>
          <p:cNvPr id="384" name="Google Shape;384;p58"/>
          <p:cNvSpPr/>
          <p:nvPr/>
        </p:nvSpPr>
        <p:spPr>
          <a:xfrm>
            <a:off x="2268022" y="3386852"/>
            <a:ext cx="2977039" cy="372070"/>
          </a:xfrm>
          <a:prstGeom prst="rect">
            <a:avLst/>
          </a:prstGeom>
          <a:noFill/>
          <a:ln>
            <a:noFill/>
          </a:ln>
        </p:spPr>
        <p:txBody>
          <a:bodyPr anchorCtr="0" anchor="t" bIns="0" lIns="0" spcFirstLastPara="1" rIns="0" wrap="square" tIns="0">
            <a:noAutofit/>
          </a:bodyPr>
          <a:lstStyle/>
          <a:p>
            <a:pPr indent="0" lvl="0" marL="0" marR="0" rtl="0" algn="l">
              <a:lnSpc>
                <a:spcPct val="126086"/>
              </a:lnSpc>
              <a:spcBef>
                <a:spcPts val="0"/>
              </a:spcBef>
              <a:spcAft>
                <a:spcPts val="0"/>
              </a:spcAft>
              <a:buClr>
                <a:srgbClr val="272525"/>
              </a:buClr>
              <a:buSzPts val="2300"/>
              <a:buFont typeface="Petrona"/>
              <a:buNone/>
            </a:pPr>
            <a:r>
              <a:rPr b="1" i="0" lang="en-US" sz="2300" u="none" cap="none" strike="noStrike">
                <a:solidFill>
                  <a:srgbClr val="272525"/>
                </a:solidFill>
                <a:latin typeface="Petrona"/>
                <a:ea typeface="Petrona"/>
                <a:cs typeface="Petrona"/>
                <a:sym typeface="Petrona"/>
              </a:rPr>
              <a:t>NLP to SQL</a:t>
            </a:r>
            <a:endParaRPr b="0" i="0" sz="2300" u="none" cap="none" strike="noStrike"/>
          </a:p>
        </p:txBody>
      </p:sp>
      <p:sp>
        <p:nvSpPr>
          <p:cNvPr id="385" name="Google Shape;385;p58"/>
          <p:cNvSpPr/>
          <p:nvPr/>
        </p:nvSpPr>
        <p:spPr>
          <a:xfrm>
            <a:off x="2268022" y="3895011"/>
            <a:ext cx="6082189"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Công nghệ chuyển đổi câu hỏi ngôn ngữ tự nhiên thành câu truy vấn SQL, trọng tâm của dự án Querymancer.</a:t>
            </a:r>
            <a:endParaRPr b="0" i="0" sz="1750" u="none" cap="none" strike="noStrike"/>
          </a:p>
        </p:txBody>
      </p:sp>
      <p:pic>
        <p:nvPicPr>
          <p:cNvPr descr="preencoded.png" id="386" name="Google Shape;386;p58"/>
          <p:cNvPicPr preferRelativeResize="0"/>
          <p:nvPr/>
        </p:nvPicPr>
        <p:blipFill rotWithShape="1">
          <a:blip r:embed="rId4">
            <a:alphaModFix/>
          </a:blip>
          <a:srcRect b="0" l="0" r="0" t="0"/>
          <a:stretch/>
        </p:blipFill>
        <p:spPr>
          <a:xfrm>
            <a:off x="793790" y="4847630"/>
            <a:ext cx="1134070" cy="2050494"/>
          </a:xfrm>
          <a:prstGeom prst="rect">
            <a:avLst/>
          </a:prstGeom>
          <a:noFill/>
          <a:ln>
            <a:noFill/>
          </a:ln>
        </p:spPr>
      </p:pic>
      <p:sp>
        <p:nvSpPr>
          <p:cNvPr id="387" name="Google Shape;387;p58"/>
          <p:cNvSpPr/>
          <p:nvPr/>
        </p:nvSpPr>
        <p:spPr>
          <a:xfrm>
            <a:off x="2268022" y="5074444"/>
            <a:ext cx="2977039" cy="372070"/>
          </a:xfrm>
          <a:prstGeom prst="rect">
            <a:avLst/>
          </a:prstGeom>
          <a:noFill/>
          <a:ln>
            <a:noFill/>
          </a:ln>
        </p:spPr>
        <p:txBody>
          <a:bodyPr anchorCtr="0" anchor="t" bIns="0" lIns="0" spcFirstLastPara="1" rIns="0" wrap="square" tIns="0">
            <a:noAutofit/>
          </a:bodyPr>
          <a:lstStyle/>
          <a:p>
            <a:pPr indent="0" lvl="0" marL="0" marR="0" rtl="0" algn="l">
              <a:lnSpc>
                <a:spcPct val="126086"/>
              </a:lnSpc>
              <a:spcBef>
                <a:spcPts val="0"/>
              </a:spcBef>
              <a:spcAft>
                <a:spcPts val="0"/>
              </a:spcAft>
              <a:buClr>
                <a:srgbClr val="272525"/>
              </a:buClr>
              <a:buSzPts val="2300"/>
              <a:buFont typeface="Petrona"/>
              <a:buNone/>
            </a:pPr>
            <a:r>
              <a:rPr b="1" i="0" lang="en-US" sz="2300" u="none" cap="none" strike="noStrike">
                <a:solidFill>
                  <a:srgbClr val="272525"/>
                </a:solidFill>
                <a:latin typeface="Petrona"/>
                <a:ea typeface="Petrona"/>
                <a:cs typeface="Petrona"/>
                <a:sym typeface="Petrona"/>
              </a:rPr>
              <a:t>Prompt Engineering</a:t>
            </a:r>
            <a:endParaRPr b="0" i="0" sz="2300" u="none" cap="none" strike="noStrike"/>
          </a:p>
        </p:txBody>
      </p:sp>
      <p:sp>
        <p:nvSpPr>
          <p:cNvPr id="388" name="Google Shape;388;p58"/>
          <p:cNvSpPr/>
          <p:nvPr/>
        </p:nvSpPr>
        <p:spPr>
          <a:xfrm>
            <a:off x="2268022" y="5582603"/>
            <a:ext cx="6082189" cy="108870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Thiết kế hướng dẫn cho mô hình ngôn ngữ lớn để tạo câu truy vấn chính xác và hiệu quả theo yêu cầu người dùng.</a:t>
            </a:r>
            <a:endParaRPr b="0" i="0" sz="1750" u="none" cap="none" strike="noStrike"/>
          </a:p>
        </p:txBody>
      </p:sp>
      <p:pic>
        <p:nvPicPr>
          <p:cNvPr id="389" name="Google Shape;389;p58"/>
          <p:cNvPicPr preferRelativeResize="0"/>
          <p:nvPr/>
        </p:nvPicPr>
        <p:blipFill>
          <a:blip r:embed="rId5">
            <a:alphaModFix/>
          </a:blip>
          <a:stretch>
            <a:fillRect/>
          </a:stretch>
        </p:blipFill>
        <p:spPr>
          <a:xfrm>
            <a:off x="8583267" y="1671925"/>
            <a:ext cx="5984075" cy="55895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59"/>
          <p:cNvSpPr/>
          <p:nvPr/>
        </p:nvSpPr>
        <p:spPr>
          <a:xfrm>
            <a:off x="793790" y="1421725"/>
            <a:ext cx="7556421" cy="1417558"/>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E3C4E"/>
              </a:buClr>
              <a:buSzPts val="4450"/>
              <a:buFont typeface="Host Grotesk"/>
              <a:buNone/>
            </a:pPr>
            <a:r>
              <a:rPr b="0" i="0" lang="en-US" sz="4450" u="none" cap="none" strike="noStrike">
                <a:solidFill>
                  <a:srgbClr val="2E3C4E"/>
                </a:solidFill>
                <a:latin typeface="Host Grotesk"/>
                <a:ea typeface="Host Grotesk"/>
                <a:cs typeface="Host Grotesk"/>
                <a:sym typeface="Host Grotesk"/>
              </a:rPr>
              <a:t>Phương Pháp Đề Xuất Xây Dựng Text to SQL</a:t>
            </a:r>
            <a:endParaRPr b="0" i="0" sz="4450" u="none" cap="none" strike="noStrike"/>
          </a:p>
        </p:txBody>
      </p:sp>
      <p:sp>
        <p:nvSpPr>
          <p:cNvPr id="396" name="Google Shape;396;p59"/>
          <p:cNvSpPr/>
          <p:nvPr/>
        </p:nvSpPr>
        <p:spPr>
          <a:xfrm>
            <a:off x="793790" y="3179445"/>
            <a:ext cx="7556421" cy="1700808"/>
          </a:xfrm>
          <a:prstGeom prst="rect">
            <a:avLst/>
          </a:prstGeom>
          <a:noFill/>
          <a:ln>
            <a:noFill/>
          </a:ln>
        </p:spPr>
        <p:txBody>
          <a:bodyPr anchorCtr="0" anchor="t" bIns="0" lIns="0" spcFirstLastPara="1" rIns="0" wrap="square" tIns="0">
            <a:noAutofit/>
          </a:bodyPr>
          <a:lstStyle/>
          <a:p>
            <a:pPr indent="0" lvl="0" marL="0" marR="0" rtl="0" algn="l">
              <a:lnSpc>
                <a:spcPct val="151428"/>
              </a:lnSpc>
              <a:spcBef>
                <a:spcPts val="0"/>
              </a:spcBef>
              <a:spcAft>
                <a:spcPts val="0"/>
              </a:spcAft>
              <a:buClr>
                <a:srgbClr val="384653"/>
              </a:buClr>
              <a:buSzPts val="1750"/>
              <a:buFont typeface="Roboto"/>
              <a:buNone/>
            </a:pPr>
            <a:r>
              <a:rPr b="0" i="0" lang="en-US" sz="1750" u="none" cap="none" strike="noStrike">
                <a:solidFill>
                  <a:srgbClr val="384653"/>
                </a:solidFill>
                <a:latin typeface="Roboto"/>
                <a:ea typeface="Roboto"/>
                <a:cs typeface="Roboto"/>
                <a:sym typeface="Roboto"/>
              </a:rPr>
              <a:t>Phương pháp đề xuất trong hệ thống Querymancer sử dụng AI model dựa trên Model Ollama - qwen2.5, kết hợp với các công cụ xử lý để chuyển câu hỏi ngôn ngữ tự nhiên thành truy vấn SQL chính xác. Quy trình gồm nhiều bước từ nhận câu hỏi, phân tích, tạo truy vấn đến trả kết quả cho người dùng.</a:t>
            </a:r>
            <a:endParaRPr b="0" i="0" sz="1750" u="none" cap="none" strike="noStrike"/>
          </a:p>
        </p:txBody>
      </p:sp>
      <p:sp>
        <p:nvSpPr>
          <p:cNvPr id="397" name="Google Shape;397;p59"/>
          <p:cNvSpPr/>
          <p:nvPr/>
        </p:nvSpPr>
        <p:spPr>
          <a:xfrm>
            <a:off x="793790" y="5135404"/>
            <a:ext cx="7556421" cy="1020485"/>
          </a:xfrm>
          <a:prstGeom prst="rect">
            <a:avLst/>
          </a:prstGeom>
          <a:noFill/>
          <a:ln>
            <a:noFill/>
          </a:ln>
        </p:spPr>
        <p:txBody>
          <a:bodyPr anchorCtr="0" anchor="t" bIns="0" lIns="0" spcFirstLastPara="1" rIns="0" wrap="square" tIns="0">
            <a:noAutofit/>
          </a:bodyPr>
          <a:lstStyle/>
          <a:p>
            <a:pPr indent="0" lvl="0" marL="0" marR="0" rtl="0" algn="l">
              <a:lnSpc>
                <a:spcPct val="151428"/>
              </a:lnSpc>
              <a:spcBef>
                <a:spcPts val="0"/>
              </a:spcBef>
              <a:spcAft>
                <a:spcPts val="0"/>
              </a:spcAft>
              <a:buClr>
                <a:srgbClr val="384653"/>
              </a:buClr>
              <a:buSzPts val="1750"/>
              <a:buFont typeface="Roboto"/>
              <a:buNone/>
            </a:pPr>
            <a:r>
              <a:rPr b="0" i="0" lang="en-US" sz="1750" u="none" cap="none" strike="noStrike">
                <a:solidFill>
                  <a:srgbClr val="384653"/>
                </a:solidFill>
                <a:latin typeface="Roboto"/>
                <a:ea typeface="Roboto"/>
                <a:cs typeface="Roboto"/>
                <a:sym typeface="Roboto"/>
              </a:rPr>
              <a:t>Quy trình xử lý câu hỏi được minh họa rõ qua sơ đồ, thể hiện sự phối hợp giữa AI model, công cụ tạo truy vấn và cơ sở dữ liệu để trả về kết quả phù hợp.</a:t>
            </a:r>
            <a:endParaRPr b="0" i="0" sz="1750" u="none" cap="none" strike="noStrike"/>
          </a:p>
        </p:txBody>
      </p:sp>
      <p:sp>
        <p:nvSpPr>
          <p:cNvPr id="398" name="Google Shape;398;p59"/>
          <p:cNvSpPr/>
          <p:nvPr/>
        </p:nvSpPr>
        <p:spPr>
          <a:xfrm>
            <a:off x="793790" y="6427946"/>
            <a:ext cx="362903" cy="362903"/>
          </a:xfrm>
          <a:prstGeom prst="roundRect">
            <a:avLst>
              <a:gd fmla="val 25194296"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99" name="Google Shape;399;p59"/>
          <p:cNvPicPr preferRelativeResize="0"/>
          <p:nvPr/>
        </p:nvPicPr>
        <p:blipFill>
          <a:blip r:embed="rId3">
            <a:alphaModFix/>
          </a:blip>
          <a:stretch>
            <a:fillRect/>
          </a:stretch>
        </p:blipFill>
        <p:spPr>
          <a:xfrm>
            <a:off x="8408486" y="2384000"/>
            <a:ext cx="5810250" cy="37719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60"/>
          <p:cNvSpPr/>
          <p:nvPr/>
        </p:nvSpPr>
        <p:spPr>
          <a:xfrm>
            <a:off x="6280190" y="1135618"/>
            <a:ext cx="7556421" cy="1417558"/>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E3C4E"/>
              </a:buClr>
              <a:buSzPts val="4450"/>
              <a:buFont typeface="Host Grotesk"/>
              <a:buNone/>
            </a:pPr>
            <a:r>
              <a:rPr b="0" i="0" lang="en-US" sz="4450" u="none" cap="none" strike="noStrike">
                <a:solidFill>
                  <a:srgbClr val="2E3C4E"/>
                </a:solidFill>
                <a:latin typeface="Host Grotesk"/>
                <a:ea typeface="Host Grotesk"/>
                <a:cs typeface="Host Grotesk"/>
                <a:sym typeface="Host Grotesk"/>
              </a:rPr>
              <a:t>Thành Phần Prompt Trong Phương Pháp</a:t>
            </a:r>
            <a:endParaRPr b="0" i="0" sz="4450" u="none" cap="none" strike="noStrike"/>
          </a:p>
        </p:txBody>
      </p:sp>
      <p:sp>
        <p:nvSpPr>
          <p:cNvPr id="406" name="Google Shape;406;p60"/>
          <p:cNvSpPr/>
          <p:nvPr/>
        </p:nvSpPr>
        <p:spPr>
          <a:xfrm>
            <a:off x="6280190" y="2893338"/>
            <a:ext cx="3664863" cy="2334101"/>
          </a:xfrm>
          <a:prstGeom prst="roundRect">
            <a:avLst>
              <a:gd fmla="val 4082" name="adj"/>
            </a:avLst>
          </a:prstGeom>
          <a:solidFill>
            <a:srgbClr val="D9EDF2"/>
          </a:solidFill>
          <a:ln cap="flat" cmpd="sng" w="9525">
            <a:solidFill>
              <a:srgbClr val="BFD3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60"/>
          <p:cNvSpPr/>
          <p:nvPr/>
        </p:nvSpPr>
        <p:spPr>
          <a:xfrm>
            <a:off x="6514624" y="3127772"/>
            <a:ext cx="3195995"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84653"/>
              </a:buClr>
              <a:buSzPts val="2200"/>
              <a:buFont typeface="Host Grotesk"/>
              <a:buNone/>
            </a:pPr>
            <a:r>
              <a:rPr b="0" i="0" lang="en-US" sz="2200" u="none" cap="none" strike="noStrike">
                <a:solidFill>
                  <a:srgbClr val="384653"/>
                </a:solidFill>
                <a:latin typeface="Host Grotesk"/>
                <a:ea typeface="Host Grotesk"/>
                <a:cs typeface="Host Grotesk"/>
                <a:sym typeface="Host Grotesk"/>
              </a:rPr>
              <a:t>Nhận Câu Hỏi Người Dùng</a:t>
            </a:r>
            <a:endParaRPr b="0" i="0" sz="2200" u="none" cap="none" strike="noStrike"/>
          </a:p>
        </p:txBody>
      </p:sp>
      <p:sp>
        <p:nvSpPr>
          <p:cNvPr id="408" name="Google Shape;408;p60"/>
          <p:cNvSpPr/>
          <p:nvPr/>
        </p:nvSpPr>
        <p:spPr>
          <a:xfrm>
            <a:off x="6514624" y="3972520"/>
            <a:ext cx="3195995" cy="1020485"/>
          </a:xfrm>
          <a:prstGeom prst="rect">
            <a:avLst/>
          </a:prstGeom>
          <a:noFill/>
          <a:ln>
            <a:noFill/>
          </a:ln>
        </p:spPr>
        <p:txBody>
          <a:bodyPr anchorCtr="0" anchor="t" bIns="0" lIns="0" spcFirstLastPara="1" rIns="0" wrap="square" tIns="0">
            <a:noAutofit/>
          </a:bodyPr>
          <a:lstStyle/>
          <a:p>
            <a:pPr indent="0" lvl="0" marL="0" marR="0" rtl="0" algn="l">
              <a:lnSpc>
                <a:spcPct val="151428"/>
              </a:lnSpc>
              <a:spcBef>
                <a:spcPts val="0"/>
              </a:spcBef>
              <a:spcAft>
                <a:spcPts val="0"/>
              </a:spcAft>
              <a:buClr>
                <a:srgbClr val="384653"/>
              </a:buClr>
              <a:buSzPts val="1750"/>
              <a:buFont typeface="Roboto"/>
              <a:buNone/>
            </a:pPr>
            <a:r>
              <a:rPr b="0" i="0" lang="en-US" sz="1750" u="none" cap="none" strike="noStrike">
                <a:solidFill>
                  <a:srgbClr val="384653"/>
                </a:solidFill>
                <a:latin typeface="Roboto"/>
                <a:ea typeface="Roboto"/>
                <a:cs typeface="Roboto"/>
                <a:sym typeface="Roboto"/>
              </a:rPr>
              <a:t>Prompt nhận câu hỏi từ người dùng qua giao diện, ví dụ dùng lệnh st.chat_input().</a:t>
            </a:r>
            <a:endParaRPr b="0" i="0" sz="1750" u="none" cap="none" strike="noStrike"/>
          </a:p>
        </p:txBody>
      </p:sp>
      <p:sp>
        <p:nvSpPr>
          <p:cNvPr id="409" name="Google Shape;409;p60"/>
          <p:cNvSpPr/>
          <p:nvPr/>
        </p:nvSpPr>
        <p:spPr>
          <a:xfrm>
            <a:off x="10171867" y="2893338"/>
            <a:ext cx="3664863" cy="2334101"/>
          </a:xfrm>
          <a:prstGeom prst="roundRect">
            <a:avLst>
              <a:gd fmla="val 4082" name="adj"/>
            </a:avLst>
          </a:prstGeom>
          <a:solidFill>
            <a:srgbClr val="D9EDF2"/>
          </a:solidFill>
          <a:ln cap="flat" cmpd="sng" w="9525">
            <a:solidFill>
              <a:srgbClr val="BFD3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60"/>
          <p:cNvSpPr/>
          <p:nvPr/>
        </p:nvSpPr>
        <p:spPr>
          <a:xfrm>
            <a:off x="10406301" y="3127772"/>
            <a:ext cx="3195995"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84653"/>
              </a:buClr>
              <a:buSzPts val="2200"/>
              <a:buFont typeface="Host Grotesk"/>
              <a:buNone/>
            </a:pPr>
            <a:r>
              <a:rPr b="0" i="0" lang="en-US" sz="2200" u="none" cap="none" strike="noStrike">
                <a:solidFill>
                  <a:srgbClr val="384653"/>
                </a:solidFill>
                <a:latin typeface="Host Grotesk"/>
                <a:ea typeface="Host Grotesk"/>
                <a:cs typeface="Host Grotesk"/>
                <a:sym typeface="Host Grotesk"/>
              </a:rPr>
              <a:t>Gửi Câu Hỏi Cho AI Model</a:t>
            </a:r>
            <a:endParaRPr b="0" i="0" sz="2200" u="none" cap="none" strike="noStrike"/>
          </a:p>
        </p:txBody>
      </p:sp>
      <p:sp>
        <p:nvSpPr>
          <p:cNvPr id="411" name="Google Shape;411;p60"/>
          <p:cNvSpPr/>
          <p:nvPr/>
        </p:nvSpPr>
        <p:spPr>
          <a:xfrm>
            <a:off x="10406301" y="3972520"/>
            <a:ext cx="3195995" cy="680323"/>
          </a:xfrm>
          <a:prstGeom prst="rect">
            <a:avLst/>
          </a:prstGeom>
          <a:noFill/>
          <a:ln>
            <a:noFill/>
          </a:ln>
        </p:spPr>
        <p:txBody>
          <a:bodyPr anchorCtr="0" anchor="t" bIns="0" lIns="0" spcFirstLastPara="1" rIns="0" wrap="square" tIns="0">
            <a:noAutofit/>
          </a:bodyPr>
          <a:lstStyle/>
          <a:p>
            <a:pPr indent="0" lvl="0" marL="0" marR="0" rtl="0" algn="l">
              <a:lnSpc>
                <a:spcPct val="151428"/>
              </a:lnSpc>
              <a:spcBef>
                <a:spcPts val="0"/>
              </a:spcBef>
              <a:spcAft>
                <a:spcPts val="0"/>
              </a:spcAft>
              <a:buClr>
                <a:srgbClr val="384653"/>
              </a:buClr>
              <a:buSzPts val="1750"/>
              <a:buFont typeface="Roboto"/>
              <a:buNone/>
            </a:pPr>
            <a:r>
              <a:rPr b="0" i="0" lang="en-US" sz="1750" u="none" cap="none" strike="noStrike">
                <a:solidFill>
                  <a:srgbClr val="384653"/>
                </a:solidFill>
                <a:latin typeface="Roboto"/>
                <a:ea typeface="Roboto"/>
                <a:cs typeface="Roboto"/>
                <a:sym typeface="Roboto"/>
              </a:rPr>
              <a:t>Câu hỏi được chuyển tiếp đến AI Model để xử lý và phân tích.</a:t>
            </a:r>
            <a:endParaRPr b="0" i="0" sz="1750" u="none" cap="none" strike="noStrike"/>
          </a:p>
        </p:txBody>
      </p:sp>
      <p:sp>
        <p:nvSpPr>
          <p:cNvPr id="412" name="Google Shape;412;p60"/>
          <p:cNvSpPr/>
          <p:nvPr/>
        </p:nvSpPr>
        <p:spPr>
          <a:xfrm>
            <a:off x="6280190" y="5454253"/>
            <a:ext cx="7556421" cy="1639610"/>
          </a:xfrm>
          <a:prstGeom prst="roundRect">
            <a:avLst>
              <a:gd fmla="val 5810" name="adj"/>
            </a:avLst>
          </a:prstGeom>
          <a:solidFill>
            <a:srgbClr val="D9EDF2"/>
          </a:solidFill>
          <a:ln cap="flat" cmpd="sng" w="9525">
            <a:solidFill>
              <a:srgbClr val="BFD3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60"/>
          <p:cNvSpPr/>
          <p:nvPr/>
        </p:nvSpPr>
        <p:spPr>
          <a:xfrm>
            <a:off x="6514624" y="5688687"/>
            <a:ext cx="2987873"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84653"/>
              </a:buClr>
              <a:buSzPts val="2200"/>
              <a:buFont typeface="Host Grotesk"/>
              <a:buNone/>
            </a:pPr>
            <a:r>
              <a:rPr b="0" i="0" lang="en-US" sz="2200" u="none" cap="none" strike="noStrike">
                <a:solidFill>
                  <a:srgbClr val="384653"/>
                </a:solidFill>
                <a:latin typeface="Host Grotesk"/>
                <a:ea typeface="Host Grotesk"/>
                <a:cs typeface="Host Grotesk"/>
                <a:sym typeface="Host Grotesk"/>
              </a:rPr>
              <a:t>Trả Kết Quả Về Prompt</a:t>
            </a:r>
            <a:endParaRPr b="0" i="0" sz="2200" u="none" cap="none" strike="noStrike"/>
          </a:p>
        </p:txBody>
      </p:sp>
      <p:sp>
        <p:nvSpPr>
          <p:cNvPr id="414" name="Google Shape;414;p60"/>
          <p:cNvSpPr/>
          <p:nvPr/>
        </p:nvSpPr>
        <p:spPr>
          <a:xfrm>
            <a:off x="6514624" y="6179106"/>
            <a:ext cx="7087553" cy="680323"/>
          </a:xfrm>
          <a:prstGeom prst="rect">
            <a:avLst/>
          </a:prstGeom>
          <a:noFill/>
          <a:ln>
            <a:noFill/>
          </a:ln>
        </p:spPr>
        <p:txBody>
          <a:bodyPr anchorCtr="0" anchor="t" bIns="0" lIns="0" spcFirstLastPara="1" rIns="0" wrap="square" tIns="0">
            <a:noAutofit/>
          </a:bodyPr>
          <a:lstStyle/>
          <a:p>
            <a:pPr indent="0" lvl="0" marL="0" marR="0" rtl="0" algn="l">
              <a:lnSpc>
                <a:spcPct val="151428"/>
              </a:lnSpc>
              <a:spcBef>
                <a:spcPts val="0"/>
              </a:spcBef>
              <a:spcAft>
                <a:spcPts val="0"/>
              </a:spcAft>
              <a:buClr>
                <a:srgbClr val="384653"/>
              </a:buClr>
              <a:buSzPts val="1750"/>
              <a:buFont typeface="Roboto"/>
              <a:buNone/>
            </a:pPr>
            <a:r>
              <a:rPr b="0" i="0" lang="en-US" sz="1750" u="none" cap="none" strike="noStrike">
                <a:solidFill>
                  <a:srgbClr val="384653"/>
                </a:solidFill>
                <a:latin typeface="Roboto"/>
                <a:ea typeface="Roboto"/>
                <a:cs typeface="Roboto"/>
                <a:sym typeface="Roboto"/>
              </a:rPr>
              <a:t>Kết quả xử lý được gửi về Prompt để hiển thị cho người dùng, ví dụ dùng message_placeholder.markdown(response).</a:t>
            </a:r>
            <a:endParaRPr b="0" i="0" sz="1750" u="none" cap="none" strike="noStrike"/>
          </a:p>
        </p:txBody>
      </p:sp>
      <p:pic>
        <p:nvPicPr>
          <p:cNvPr id="415" name="Google Shape;415;p60"/>
          <p:cNvPicPr preferRelativeResize="0"/>
          <p:nvPr/>
        </p:nvPicPr>
        <p:blipFill>
          <a:blip r:embed="rId3">
            <a:alphaModFix/>
          </a:blip>
          <a:stretch>
            <a:fillRect/>
          </a:stretch>
        </p:blipFill>
        <p:spPr>
          <a:xfrm>
            <a:off x="138950" y="3675525"/>
            <a:ext cx="5975390" cy="2102967"/>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61"/>
          <p:cNvSpPr/>
          <p:nvPr/>
        </p:nvSpPr>
        <p:spPr>
          <a:xfrm>
            <a:off x="6280190" y="1420297"/>
            <a:ext cx="7556421" cy="1417558"/>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E3C4E"/>
              </a:buClr>
              <a:buSzPts val="4450"/>
              <a:buFont typeface="Host Grotesk"/>
              <a:buNone/>
            </a:pPr>
            <a:r>
              <a:rPr b="0" i="0" lang="en-US" sz="4450" u="none" cap="none" strike="noStrike">
                <a:solidFill>
                  <a:srgbClr val="2E3C4E"/>
                </a:solidFill>
                <a:latin typeface="Host Grotesk"/>
                <a:ea typeface="Host Grotesk"/>
                <a:cs typeface="Host Grotesk"/>
                <a:sym typeface="Host Grotesk"/>
              </a:rPr>
              <a:t>Thành Phần AI Model Trong Phương Pháp</a:t>
            </a:r>
            <a:endParaRPr b="0" i="0" sz="4450" u="none" cap="none" strike="noStrike"/>
          </a:p>
        </p:txBody>
      </p:sp>
      <p:sp>
        <p:nvSpPr>
          <p:cNvPr id="422" name="Google Shape;422;p61"/>
          <p:cNvSpPr/>
          <p:nvPr/>
        </p:nvSpPr>
        <p:spPr>
          <a:xfrm>
            <a:off x="6280190" y="3178016"/>
            <a:ext cx="510302" cy="510302"/>
          </a:xfrm>
          <a:prstGeom prst="roundRect">
            <a:avLst>
              <a:gd fmla="val 18669" name="adj"/>
            </a:avLst>
          </a:prstGeom>
          <a:solidFill>
            <a:srgbClr val="D9EDF2"/>
          </a:solidFill>
          <a:ln cap="flat" cmpd="sng" w="9525">
            <a:solidFill>
              <a:srgbClr val="BFD3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61"/>
          <p:cNvSpPr/>
          <p:nvPr/>
        </p:nvSpPr>
        <p:spPr>
          <a:xfrm>
            <a:off x="7017306" y="3255883"/>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84653"/>
              </a:buClr>
              <a:buSzPts val="2200"/>
              <a:buFont typeface="Host Grotesk"/>
              <a:buNone/>
            </a:pPr>
            <a:r>
              <a:rPr b="0" i="0" lang="en-US" sz="2200" u="none" cap="none" strike="noStrike">
                <a:solidFill>
                  <a:srgbClr val="384653"/>
                </a:solidFill>
                <a:latin typeface="Host Grotesk"/>
                <a:ea typeface="Host Grotesk"/>
                <a:cs typeface="Host Grotesk"/>
                <a:sym typeface="Host Grotesk"/>
              </a:rPr>
              <a:t>Tiếp Nhận Câu Hỏi</a:t>
            </a:r>
            <a:endParaRPr b="0" i="0" sz="2200" u="none" cap="none" strike="noStrike"/>
          </a:p>
        </p:txBody>
      </p:sp>
      <p:sp>
        <p:nvSpPr>
          <p:cNvPr id="424" name="Google Shape;424;p61"/>
          <p:cNvSpPr/>
          <p:nvPr/>
        </p:nvSpPr>
        <p:spPr>
          <a:xfrm>
            <a:off x="7017306" y="3746302"/>
            <a:ext cx="2899410" cy="680323"/>
          </a:xfrm>
          <a:prstGeom prst="rect">
            <a:avLst/>
          </a:prstGeom>
          <a:noFill/>
          <a:ln>
            <a:noFill/>
          </a:ln>
        </p:spPr>
        <p:txBody>
          <a:bodyPr anchorCtr="0" anchor="t" bIns="0" lIns="0" spcFirstLastPara="1" rIns="0" wrap="square" tIns="0">
            <a:noAutofit/>
          </a:bodyPr>
          <a:lstStyle/>
          <a:p>
            <a:pPr indent="0" lvl="0" marL="0" marR="0" rtl="0" algn="l">
              <a:lnSpc>
                <a:spcPct val="151428"/>
              </a:lnSpc>
              <a:spcBef>
                <a:spcPts val="0"/>
              </a:spcBef>
              <a:spcAft>
                <a:spcPts val="0"/>
              </a:spcAft>
              <a:buClr>
                <a:srgbClr val="384653"/>
              </a:buClr>
              <a:buSzPts val="1750"/>
              <a:buFont typeface="Roboto"/>
              <a:buNone/>
            </a:pPr>
            <a:r>
              <a:rPr b="0" i="0" lang="en-US" sz="1750" u="none" cap="none" strike="noStrike">
                <a:solidFill>
                  <a:srgbClr val="384653"/>
                </a:solidFill>
                <a:latin typeface="Roboto"/>
                <a:ea typeface="Roboto"/>
                <a:cs typeface="Roboto"/>
                <a:sym typeface="Roboto"/>
              </a:rPr>
              <a:t>AI Model nhận câu hỏi từ Prompt và chuẩn bị xử lý.</a:t>
            </a:r>
            <a:endParaRPr b="0" i="0" sz="1750" u="none" cap="none" strike="noStrike"/>
          </a:p>
        </p:txBody>
      </p:sp>
      <p:sp>
        <p:nvSpPr>
          <p:cNvPr id="425" name="Google Shape;425;p61"/>
          <p:cNvSpPr/>
          <p:nvPr/>
        </p:nvSpPr>
        <p:spPr>
          <a:xfrm>
            <a:off x="10200203" y="3178016"/>
            <a:ext cx="510302" cy="510302"/>
          </a:xfrm>
          <a:prstGeom prst="roundRect">
            <a:avLst>
              <a:gd fmla="val 18669" name="adj"/>
            </a:avLst>
          </a:prstGeom>
          <a:solidFill>
            <a:srgbClr val="D9EDF2"/>
          </a:solidFill>
          <a:ln cap="flat" cmpd="sng" w="9525">
            <a:solidFill>
              <a:srgbClr val="BFD3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61"/>
          <p:cNvSpPr/>
          <p:nvPr/>
        </p:nvSpPr>
        <p:spPr>
          <a:xfrm>
            <a:off x="10937319" y="3255883"/>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84653"/>
              </a:buClr>
              <a:buSzPts val="2200"/>
              <a:buFont typeface="Host Grotesk"/>
              <a:buNone/>
            </a:pPr>
            <a:r>
              <a:rPr b="0" i="0" lang="en-US" sz="2200" u="none" cap="none" strike="noStrike">
                <a:solidFill>
                  <a:srgbClr val="384653"/>
                </a:solidFill>
                <a:latin typeface="Host Grotesk"/>
                <a:ea typeface="Host Grotesk"/>
                <a:cs typeface="Host Grotesk"/>
                <a:sym typeface="Host Grotesk"/>
              </a:rPr>
              <a:t>Hướng Dẫn Mô Hình</a:t>
            </a:r>
            <a:endParaRPr b="0" i="0" sz="2200" u="none" cap="none" strike="noStrike"/>
          </a:p>
        </p:txBody>
      </p:sp>
      <p:sp>
        <p:nvSpPr>
          <p:cNvPr id="427" name="Google Shape;427;p61"/>
          <p:cNvSpPr/>
          <p:nvPr/>
        </p:nvSpPr>
        <p:spPr>
          <a:xfrm>
            <a:off x="10937319" y="3746302"/>
            <a:ext cx="2899410" cy="1360646"/>
          </a:xfrm>
          <a:prstGeom prst="rect">
            <a:avLst/>
          </a:prstGeom>
          <a:noFill/>
          <a:ln>
            <a:noFill/>
          </a:ln>
        </p:spPr>
        <p:txBody>
          <a:bodyPr anchorCtr="0" anchor="t" bIns="0" lIns="0" spcFirstLastPara="1" rIns="0" wrap="square" tIns="0">
            <a:noAutofit/>
          </a:bodyPr>
          <a:lstStyle/>
          <a:p>
            <a:pPr indent="0" lvl="0" marL="0" marR="0" rtl="0" algn="l">
              <a:lnSpc>
                <a:spcPct val="151428"/>
              </a:lnSpc>
              <a:spcBef>
                <a:spcPts val="0"/>
              </a:spcBef>
              <a:spcAft>
                <a:spcPts val="0"/>
              </a:spcAft>
              <a:buClr>
                <a:srgbClr val="384653"/>
              </a:buClr>
              <a:buSzPts val="1750"/>
              <a:buFont typeface="Roboto"/>
              <a:buNone/>
            </a:pPr>
            <a:r>
              <a:rPr b="0" i="0" lang="en-US" sz="1750" u="none" cap="none" strike="noStrike">
                <a:solidFill>
                  <a:srgbClr val="384653"/>
                </a:solidFill>
                <a:latin typeface="Roboto"/>
                <a:ea typeface="Roboto"/>
                <a:cs typeface="Roboto"/>
                <a:sym typeface="Roboto"/>
              </a:rPr>
              <a:t>Sử dụng system_prompt để hướng dẫn mô hình sẵn có xử lý câu hỏi phù hợp với ngữ cảnh.</a:t>
            </a:r>
            <a:endParaRPr b="0" i="0" sz="1750" u="none" cap="none" strike="noStrike"/>
          </a:p>
        </p:txBody>
      </p:sp>
      <p:sp>
        <p:nvSpPr>
          <p:cNvPr id="428" name="Google Shape;428;p61"/>
          <p:cNvSpPr/>
          <p:nvPr/>
        </p:nvSpPr>
        <p:spPr>
          <a:xfrm>
            <a:off x="6280190" y="5560576"/>
            <a:ext cx="510302" cy="510302"/>
          </a:xfrm>
          <a:prstGeom prst="roundRect">
            <a:avLst>
              <a:gd fmla="val 18669" name="adj"/>
            </a:avLst>
          </a:prstGeom>
          <a:solidFill>
            <a:srgbClr val="D9EDF2"/>
          </a:solidFill>
          <a:ln cap="flat" cmpd="sng" w="9525">
            <a:solidFill>
              <a:srgbClr val="BFD3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61"/>
          <p:cNvSpPr/>
          <p:nvPr/>
        </p:nvSpPr>
        <p:spPr>
          <a:xfrm>
            <a:off x="7017306" y="5638443"/>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84653"/>
              </a:buClr>
              <a:buSzPts val="2200"/>
              <a:buFont typeface="Host Grotesk"/>
              <a:buNone/>
            </a:pPr>
            <a:r>
              <a:rPr b="0" i="0" lang="en-US" sz="2200" u="none" cap="none" strike="noStrike">
                <a:solidFill>
                  <a:srgbClr val="384653"/>
                </a:solidFill>
                <a:latin typeface="Host Grotesk"/>
                <a:ea typeface="Host Grotesk"/>
                <a:cs typeface="Host Grotesk"/>
                <a:sym typeface="Host Grotesk"/>
              </a:rPr>
              <a:t>Gọi Công Cụ Xử Lý</a:t>
            </a:r>
            <a:endParaRPr b="0" i="0" sz="2200" u="none" cap="none" strike="noStrike"/>
          </a:p>
        </p:txBody>
      </p:sp>
      <p:sp>
        <p:nvSpPr>
          <p:cNvPr id="430" name="Google Shape;430;p61"/>
          <p:cNvSpPr/>
          <p:nvPr/>
        </p:nvSpPr>
        <p:spPr>
          <a:xfrm>
            <a:off x="7017306" y="6128861"/>
            <a:ext cx="6819305" cy="680323"/>
          </a:xfrm>
          <a:prstGeom prst="rect">
            <a:avLst/>
          </a:prstGeom>
          <a:noFill/>
          <a:ln>
            <a:noFill/>
          </a:ln>
        </p:spPr>
        <p:txBody>
          <a:bodyPr anchorCtr="0" anchor="t" bIns="0" lIns="0" spcFirstLastPara="1" rIns="0" wrap="square" tIns="0">
            <a:noAutofit/>
          </a:bodyPr>
          <a:lstStyle/>
          <a:p>
            <a:pPr indent="0" lvl="0" marL="0" marR="0" rtl="0" algn="l">
              <a:lnSpc>
                <a:spcPct val="151428"/>
              </a:lnSpc>
              <a:spcBef>
                <a:spcPts val="0"/>
              </a:spcBef>
              <a:spcAft>
                <a:spcPts val="0"/>
              </a:spcAft>
              <a:buClr>
                <a:srgbClr val="384653"/>
              </a:buClr>
              <a:buSzPts val="1750"/>
              <a:buFont typeface="Roboto"/>
              <a:buNone/>
            </a:pPr>
            <a:r>
              <a:rPr b="0" i="0" lang="en-US" sz="1750" u="none" cap="none" strike="noStrike">
                <a:solidFill>
                  <a:srgbClr val="384653"/>
                </a:solidFill>
                <a:latin typeface="Roboto"/>
                <a:ea typeface="Roboto"/>
                <a:cs typeface="Roboto"/>
                <a:sym typeface="Roboto"/>
              </a:rPr>
              <a:t>Nếu câu hỏi liên quan đến cơ sở dữ liệu, AI Model sẽ gọi Tool để tạo truy vấn SQL.</a:t>
            </a:r>
            <a:endParaRPr b="0" i="0" sz="1750" u="none" cap="none" strike="noStrike"/>
          </a:p>
        </p:txBody>
      </p:sp>
      <p:pic>
        <p:nvPicPr>
          <p:cNvPr id="431" name="Google Shape;431;p61"/>
          <p:cNvPicPr preferRelativeResize="0"/>
          <p:nvPr/>
        </p:nvPicPr>
        <p:blipFill>
          <a:blip r:embed="rId3">
            <a:alphaModFix/>
          </a:blip>
          <a:stretch>
            <a:fillRect/>
          </a:stretch>
        </p:blipFill>
        <p:spPr>
          <a:xfrm>
            <a:off x="100275" y="2922500"/>
            <a:ext cx="5953125" cy="28098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62"/>
          <p:cNvSpPr/>
          <p:nvPr/>
        </p:nvSpPr>
        <p:spPr>
          <a:xfrm>
            <a:off x="793790" y="314912"/>
            <a:ext cx="9618300" cy="7089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E3C4E"/>
              </a:buClr>
              <a:buSzPts val="4450"/>
              <a:buFont typeface="Host Grotesk"/>
              <a:buNone/>
            </a:pPr>
            <a:r>
              <a:rPr b="0" i="0" lang="en-US" sz="4450" u="none" cap="none" strike="noStrike">
                <a:solidFill>
                  <a:srgbClr val="2E3C4E"/>
                </a:solidFill>
                <a:latin typeface="Host Grotesk"/>
                <a:ea typeface="Host Grotesk"/>
                <a:cs typeface="Host Grotesk"/>
                <a:sym typeface="Host Grotesk"/>
              </a:rPr>
              <a:t>Thành Phần Tool Trong Phương Pháp</a:t>
            </a:r>
            <a:endParaRPr b="0" i="0" sz="4450" u="none" cap="none" strike="noStrike"/>
          </a:p>
        </p:txBody>
      </p:sp>
      <p:sp>
        <p:nvSpPr>
          <p:cNvPr id="438" name="Google Shape;438;p62"/>
          <p:cNvSpPr/>
          <p:nvPr/>
        </p:nvSpPr>
        <p:spPr>
          <a:xfrm>
            <a:off x="787003" y="4508667"/>
            <a:ext cx="34290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E3C4E"/>
              </a:buClr>
              <a:buSzPts val="2200"/>
              <a:buFont typeface="Host Grotesk"/>
              <a:buNone/>
            </a:pPr>
            <a:r>
              <a:rPr b="0" i="0" lang="en-US" sz="2200" u="none" cap="none" strike="noStrike">
                <a:solidFill>
                  <a:srgbClr val="2E3C4E"/>
                </a:solidFill>
                <a:latin typeface="Host Grotesk"/>
                <a:ea typeface="Host Grotesk"/>
                <a:cs typeface="Host Grotesk"/>
                <a:sym typeface="Host Grotesk"/>
              </a:rPr>
              <a:t>Nhận Câu Hỏi Từ AI Model</a:t>
            </a:r>
            <a:endParaRPr b="0" i="0" sz="2200" u="none" cap="none" strike="noStrike"/>
          </a:p>
        </p:txBody>
      </p:sp>
      <p:sp>
        <p:nvSpPr>
          <p:cNvPr id="439" name="Google Shape;439;p62"/>
          <p:cNvSpPr/>
          <p:nvPr/>
        </p:nvSpPr>
        <p:spPr>
          <a:xfrm>
            <a:off x="787003" y="5089811"/>
            <a:ext cx="3978000" cy="680400"/>
          </a:xfrm>
          <a:prstGeom prst="rect">
            <a:avLst/>
          </a:prstGeom>
          <a:noFill/>
          <a:ln>
            <a:noFill/>
          </a:ln>
        </p:spPr>
        <p:txBody>
          <a:bodyPr anchorCtr="0" anchor="t" bIns="0" lIns="0" spcFirstLastPara="1" rIns="0" wrap="square" tIns="0">
            <a:noAutofit/>
          </a:bodyPr>
          <a:lstStyle/>
          <a:p>
            <a:pPr indent="0" lvl="0" marL="0" marR="0" rtl="0" algn="l">
              <a:lnSpc>
                <a:spcPct val="151428"/>
              </a:lnSpc>
              <a:spcBef>
                <a:spcPts val="0"/>
              </a:spcBef>
              <a:spcAft>
                <a:spcPts val="0"/>
              </a:spcAft>
              <a:buClr>
                <a:srgbClr val="384653"/>
              </a:buClr>
              <a:buSzPts val="1750"/>
              <a:buFont typeface="Roboto"/>
              <a:buNone/>
            </a:pPr>
            <a:r>
              <a:rPr b="0" i="0" lang="en-US" sz="1750" u="none" cap="none" strike="noStrike">
                <a:solidFill>
                  <a:srgbClr val="384653"/>
                </a:solidFill>
                <a:latin typeface="Roboto"/>
                <a:ea typeface="Roboto"/>
                <a:cs typeface="Roboto"/>
                <a:sym typeface="Roboto"/>
              </a:rPr>
              <a:t>Tool nhận yêu cầu tạo truy vấn từ AI Model.</a:t>
            </a:r>
            <a:endParaRPr b="0" i="0" sz="1750" u="none" cap="none" strike="noStrike"/>
          </a:p>
        </p:txBody>
      </p:sp>
      <p:sp>
        <p:nvSpPr>
          <p:cNvPr id="440" name="Google Shape;440;p62"/>
          <p:cNvSpPr/>
          <p:nvPr/>
        </p:nvSpPr>
        <p:spPr>
          <a:xfrm>
            <a:off x="5326141" y="4508667"/>
            <a:ext cx="28353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E3C4E"/>
              </a:buClr>
              <a:buSzPts val="2200"/>
              <a:buFont typeface="Host Grotesk"/>
              <a:buNone/>
            </a:pPr>
            <a:r>
              <a:rPr b="0" i="0" lang="en-US" sz="2200" u="none" cap="none" strike="noStrike">
                <a:solidFill>
                  <a:srgbClr val="2E3C4E"/>
                </a:solidFill>
                <a:latin typeface="Host Grotesk"/>
                <a:ea typeface="Host Grotesk"/>
                <a:cs typeface="Host Grotesk"/>
                <a:sym typeface="Host Grotesk"/>
              </a:rPr>
              <a:t>Tạo Truy Vấn SQL</a:t>
            </a:r>
            <a:endParaRPr b="0" i="0" sz="2200" u="none" cap="none" strike="noStrike"/>
          </a:p>
        </p:txBody>
      </p:sp>
      <p:sp>
        <p:nvSpPr>
          <p:cNvPr id="441" name="Google Shape;441;p62"/>
          <p:cNvSpPr/>
          <p:nvPr/>
        </p:nvSpPr>
        <p:spPr>
          <a:xfrm>
            <a:off x="5326141" y="5089811"/>
            <a:ext cx="3978000" cy="680400"/>
          </a:xfrm>
          <a:prstGeom prst="rect">
            <a:avLst/>
          </a:prstGeom>
          <a:noFill/>
          <a:ln>
            <a:noFill/>
          </a:ln>
        </p:spPr>
        <p:txBody>
          <a:bodyPr anchorCtr="0" anchor="t" bIns="0" lIns="0" spcFirstLastPara="1" rIns="0" wrap="square" tIns="0">
            <a:noAutofit/>
          </a:bodyPr>
          <a:lstStyle/>
          <a:p>
            <a:pPr indent="0" lvl="0" marL="0" marR="0" rtl="0" algn="l">
              <a:lnSpc>
                <a:spcPct val="151428"/>
              </a:lnSpc>
              <a:spcBef>
                <a:spcPts val="0"/>
              </a:spcBef>
              <a:spcAft>
                <a:spcPts val="0"/>
              </a:spcAft>
              <a:buClr>
                <a:srgbClr val="384653"/>
              </a:buClr>
              <a:buSzPts val="1750"/>
              <a:buFont typeface="Roboto"/>
              <a:buNone/>
            </a:pPr>
            <a:r>
              <a:rPr b="0" i="0" lang="en-US" sz="1750" u="none" cap="none" strike="noStrike">
                <a:solidFill>
                  <a:srgbClr val="384653"/>
                </a:solidFill>
                <a:latin typeface="Roboto"/>
                <a:ea typeface="Roboto"/>
                <a:cs typeface="Roboto"/>
                <a:sym typeface="Roboto"/>
              </a:rPr>
              <a:t>Tool xây dựng câu truy vấn SQL dựa trên yêu cầu và cấu trúc cơ sở dữ liệu.</a:t>
            </a:r>
            <a:endParaRPr b="0" i="0" sz="1750" u="none" cap="none" strike="noStrike"/>
          </a:p>
        </p:txBody>
      </p:sp>
      <p:sp>
        <p:nvSpPr>
          <p:cNvPr id="442" name="Google Shape;442;p62"/>
          <p:cNvSpPr/>
          <p:nvPr/>
        </p:nvSpPr>
        <p:spPr>
          <a:xfrm>
            <a:off x="9865280" y="4508667"/>
            <a:ext cx="28353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E3C4E"/>
              </a:buClr>
              <a:buSzPts val="2200"/>
              <a:buFont typeface="Host Grotesk"/>
              <a:buNone/>
            </a:pPr>
            <a:r>
              <a:rPr b="0" i="0" lang="en-US" sz="2200" u="none" cap="none" strike="noStrike">
                <a:solidFill>
                  <a:srgbClr val="2E3C4E"/>
                </a:solidFill>
                <a:latin typeface="Host Grotesk"/>
                <a:ea typeface="Host Grotesk"/>
                <a:cs typeface="Host Grotesk"/>
                <a:sym typeface="Host Grotesk"/>
              </a:rPr>
              <a:t>Xử Lý Lỗi</a:t>
            </a:r>
            <a:endParaRPr b="0" i="0" sz="2200" u="none" cap="none" strike="noStrike"/>
          </a:p>
        </p:txBody>
      </p:sp>
      <p:sp>
        <p:nvSpPr>
          <p:cNvPr id="443" name="Google Shape;443;p62"/>
          <p:cNvSpPr/>
          <p:nvPr/>
        </p:nvSpPr>
        <p:spPr>
          <a:xfrm>
            <a:off x="9865280" y="5089811"/>
            <a:ext cx="3978000" cy="1020600"/>
          </a:xfrm>
          <a:prstGeom prst="rect">
            <a:avLst/>
          </a:prstGeom>
          <a:noFill/>
          <a:ln>
            <a:noFill/>
          </a:ln>
        </p:spPr>
        <p:txBody>
          <a:bodyPr anchorCtr="0" anchor="t" bIns="0" lIns="0" spcFirstLastPara="1" rIns="0" wrap="square" tIns="0">
            <a:noAutofit/>
          </a:bodyPr>
          <a:lstStyle/>
          <a:p>
            <a:pPr indent="0" lvl="0" marL="0" marR="0" rtl="0" algn="l">
              <a:lnSpc>
                <a:spcPct val="151428"/>
              </a:lnSpc>
              <a:spcBef>
                <a:spcPts val="0"/>
              </a:spcBef>
              <a:spcAft>
                <a:spcPts val="0"/>
              </a:spcAft>
              <a:buClr>
                <a:srgbClr val="384653"/>
              </a:buClr>
              <a:buSzPts val="1750"/>
              <a:buFont typeface="Roboto"/>
              <a:buNone/>
            </a:pPr>
            <a:r>
              <a:rPr b="0" i="0" lang="en-US" sz="1750" u="none" cap="none" strike="noStrike">
                <a:solidFill>
                  <a:srgbClr val="384653"/>
                </a:solidFill>
                <a:latin typeface="Roboto"/>
                <a:ea typeface="Roboto"/>
                <a:cs typeface="Roboto"/>
                <a:sym typeface="Roboto"/>
              </a:rPr>
              <a:t>Nếu không thể tạo truy vấn, Tool gửi thông báo lỗi về AI Model để phản hồi người dùng.</a:t>
            </a:r>
            <a:endParaRPr b="0" i="0" sz="1750" u="none" cap="none" strike="noStrike"/>
          </a:p>
        </p:txBody>
      </p:sp>
      <p:pic>
        <p:nvPicPr>
          <p:cNvPr id="444" name="Google Shape;444;p62"/>
          <p:cNvPicPr preferRelativeResize="0"/>
          <p:nvPr/>
        </p:nvPicPr>
        <p:blipFill>
          <a:blip r:embed="rId3">
            <a:alphaModFix/>
          </a:blip>
          <a:stretch>
            <a:fillRect/>
          </a:stretch>
        </p:blipFill>
        <p:spPr>
          <a:xfrm>
            <a:off x="4222675" y="1337562"/>
            <a:ext cx="5676900" cy="19907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63"/>
          <p:cNvSpPr/>
          <p:nvPr/>
        </p:nvSpPr>
        <p:spPr>
          <a:xfrm>
            <a:off x="793790" y="1251109"/>
            <a:ext cx="10659189"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E3C4E"/>
              </a:buClr>
              <a:buSzPts val="4450"/>
              <a:buFont typeface="Host Grotesk"/>
              <a:buNone/>
            </a:pPr>
            <a:r>
              <a:rPr b="0" i="0" lang="en-US" sz="4450" u="none" cap="none" strike="noStrike">
                <a:solidFill>
                  <a:srgbClr val="2E3C4E"/>
                </a:solidFill>
                <a:latin typeface="Host Grotesk"/>
                <a:ea typeface="Host Grotesk"/>
                <a:cs typeface="Host Grotesk"/>
                <a:sym typeface="Host Grotesk"/>
              </a:rPr>
              <a:t>Thành Phần Kết Quả Trong Phương Pháp</a:t>
            </a:r>
            <a:endParaRPr b="0" i="0" sz="4450" u="none" cap="none" strike="noStrike"/>
          </a:p>
        </p:txBody>
      </p:sp>
      <p:sp>
        <p:nvSpPr>
          <p:cNvPr id="451" name="Google Shape;451;p63"/>
          <p:cNvSpPr/>
          <p:nvPr/>
        </p:nvSpPr>
        <p:spPr>
          <a:xfrm>
            <a:off x="1857256" y="2884289"/>
            <a:ext cx="2835235" cy="354330"/>
          </a:xfrm>
          <a:prstGeom prst="rect">
            <a:avLst/>
          </a:prstGeom>
          <a:noFill/>
          <a:ln>
            <a:noFill/>
          </a:ln>
        </p:spPr>
        <p:txBody>
          <a:bodyPr anchorCtr="0" anchor="t" bIns="0" lIns="0" spcFirstLastPara="1" rIns="0" wrap="square" tIns="0">
            <a:noAutofit/>
          </a:bodyPr>
          <a:lstStyle/>
          <a:p>
            <a:pPr indent="0" lvl="0" marL="0" marR="0" rtl="0" algn="r">
              <a:lnSpc>
                <a:spcPct val="125000"/>
              </a:lnSpc>
              <a:spcBef>
                <a:spcPts val="0"/>
              </a:spcBef>
              <a:spcAft>
                <a:spcPts val="0"/>
              </a:spcAft>
              <a:buClr>
                <a:srgbClr val="384653"/>
              </a:buClr>
              <a:buSzPts val="2200"/>
              <a:buFont typeface="Host Grotesk"/>
              <a:buNone/>
            </a:pPr>
            <a:r>
              <a:rPr b="0" i="0" lang="en-US" sz="2200" u="none" cap="none" strike="noStrike">
                <a:solidFill>
                  <a:srgbClr val="384653"/>
                </a:solidFill>
                <a:latin typeface="Host Grotesk"/>
                <a:ea typeface="Host Grotesk"/>
                <a:cs typeface="Host Grotesk"/>
                <a:sym typeface="Host Grotesk"/>
              </a:rPr>
              <a:t>Khung Dữ Liệu</a:t>
            </a:r>
            <a:endParaRPr b="0" i="0" sz="2200" u="none" cap="none" strike="noStrike"/>
          </a:p>
        </p:txBody>
      </p:sp>
      <p:sp>
        <p:nvSpPr>
          <p:cNvPr id="452" name="Google Shape;452;p63"/>
          <p:cNvSpPr/>
          <p:nvPr/>
        </p:nvSpPr>
        <p:spPr>
          <a:xfrm>
            <a:off x="793790" y="3374708"/>
            <a:ext cx="3898702" cy="680323"/>
          </a:xfrm>
          <a:prstGeom prst="rect">
            <a:avLst/>
          </a:prstGeom>
          <a:noFill/>
          <a:ln>
            <a:noFill/>
          </a:ln>
        </p:spPr>
        <p:txBody>
          <a:bodyPr anchorCtr="0" anchor="t" bIns="0" lIns="0" spcFirstLastPara="1" rIns="0" wrap="square" tIns="0">
            <a:noAutofit/>
          </a:bodyPr>
          <a:lstStyle/>
          <a:p>
            <a:pPr indent="0" lvl="0" marL="0" marR="0" rtl="0" algn="r">
              <a:lnSpc>
                <a:spcPct val="151428"/>
              </a:lnSpc>
              <a:spcBef>
                <a:spcPts val="0"/>
              </a:spcBef>
              <a:spcAft>
                <a:spcPts val="0"/>
              </a:spcAft>
              <a:buClr>
                <a:srgbClr val="384653"/>
              </a:buClr>
              <a:buSzPts val="1750"/>
              <a:buFont typeface="Roboto"/>
              <a:buNone/>
            </a:pPr>
            <a:r>
              <a:rPr b="0" i="0" lang="en-US" sz="1750" u="none" cap="none" strike="noStrike">
                <a:solidFill>
                  <a:srgbClr val="384653"/>
                </a:solidFill>
                <a:latin typeface="Roboto"/>
                <a:ea typeface="Roboto"/>
                <a:cs typeface="Roboto"/>
                <a:sym typeface="Roboto"/>
              </a:rPr>
              <a:t>Hiển thị bảng dữ liệu trả về từ cơ sở dữ liệu.</a:t>
            </a:r>
            <a:endParaRPr b="0" i="0" sz="1750" u="none" cap="none" strike="noStrike"/>
          </a:p>
        </p:txBody>
      </p:sp>
      <p:pic>
        <p:nvPicPr>
          <p:cNvPr descr="preencoded.png" id="453" name="Google Shape;453;p63"/>
          <p:cNvPicPr preferRelativeResize="0"/>
          <p:nvPr/>
        </p:nvPicPr>
        <p:blipFill rotWithShape="1">
          <a:blip r:embed="rId3">
            <a:alphaModFix/>
          </a:blip>
          <a:srcRect b="0" l="0" r="0" t="0"/>
          <a:stretch/>
        </p:blipFill>
        <p:spPr>
          <a:xfrm>
            <a:off x="5032653" y="2413516"/>
            <a:ext cx="4564975" cy="4564975"/>
          </a:xfrm>
          <a:prstGeom prst="rect">
            <a:avLst/>
          </a:prstGeom>
          <a:noFill/>
          <a:ln>
            <a:noFill/>
          </a:ln>
        </p:spPr>
      </p:pic>
      <p:sp>
        <p:nvSpPr>
          <p:cNvPr id="454" name="Google Shape;454;p63"/>
          <p:cNvSpPr/>
          <p:nvPr/>
        </p:nvSpPr>
        <p:spPr>
          <a:xfrm>
            <a:off x="6015633" y="3353991"/>
            <a:ext cx="339328" cy="424220"/>
          </a:xfrm>
          <a:prstGeom prst="rect">
            <a:avLst/>
          </a:prstGeom>
          <a:noFill/>
          <a:ln>
            <a:noFill/>
          </a:ln>
        </p:spPr>
        <p:txBody>
          <a:bodyPr anchorCtr="0" anchor="t" bIns="0" lIns="0" spcFirstLastPara="1" rIns="0" wrap="square" tIns="0">
            <a:noAutofit/>
          </a:bodyPr>
          <a:lstStyle/>
          <a:p>
            <a:pPr indent="0" lvl="0" marL="0" marR="0" rtl="0" algn="l">
              <a:lnSpc>
                <a:spcPct val="150943"/>
              </a:lnSpc>
              <a:spcBef>
                <a:spcPts val="0"/>
              </a:spcBef>
              <a:spcAft>
                <a:spcPts val="0"/>
              </a:spcAft>
              <a:buClr>
                <a:srgbClr val="384653"/>
              </a:buClr>
              <a:buSzPts val="2650"/>
              <a:buFont typeface="Host Grotesk"/>
              <a:buNone/>
            </a:pPr>
            <a:r>
              <a:rPr b="0" i="0" lang="en-US" sz="2650" u="none" cap="none" strike="noStrike">
                <a:solidFill>
                  <a:srgbClr val="384653"/>
                </a:solidFill>
                <a:latin typeface="Host Grotesk"/>
                <a:ea typeface="Host Grotesk"/>
                <a:cs typeface="Host Grotesk"/>
                <a:sym typeface="Host Grotesk"/>
              </a:rPr>
              <a:t>1</a:t>
            </a:r>
            <a:endParaRPr b="0" i="0" sz="2650" u="none" cap="none" strike="noStrike"/>
          </a:p>
        </p:txBody>
      </p:sp>
      <p:sp>
        <p:nvSpPr>
          <p:cNvPr id="455" name="Google Shape;455;p63"/>
          <p:cNvSpPr/>
          <p:nvPr/>
        </p:nvSpPr>
        <p:spPr>
          <a:xfrm>
            <a:off x="9937790" y="2884289"/>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84653"/>
              </a:buClr>
              <a:buSzPts val="2200"/>
              <a:buFont typeface="Host Grotesk"/>
              <a:buNone/>
            </a:pPr>
            <a:r>
              <a:rPr b="0" i="0" lang="en-US" sz="2200" u="none" cap="none" strike="noStrike">
                <a:solidFill>
                  <a:srgbClr val="384653"/>
                </a:solidFill>
                <a:latin typeface="Host Grotesk"/>
                <a:ea typeface="Host Grotesk"/>
                <a:cs typeface="Host Grotesk"/>
                <a:sym typeface="Host Grotesk"/>
              </a:rPr>
              <a:t>Kết Quả Câu Hỏi</a:t>
            </a:r>
            <a:endParaRPr b="0" i="0" sz="2200" u="none" cap="none" strike="noStrike"/>
          </a:p>
        </p:txBody>
      </p:sp>
      <p:sp>
        <p:nvSpPr>
          <p:cNvPr id="456" name="Google Shape;456;p63"/>
          <p:cNvSpPr/>
          <p:nvPr/>
        </p:nvSpPr>
        <p:spPr>
          <a:xfrm>
            <a:off x="9937790" y="3374708"/>
            <a:ext cx="3898821" cy="680323"/>
          </a:xfrm>
          <a:prstGeom prst="rect">
            <a:avLst/>
          </a:prstGeom>
          <a:noFill/>
          <a:ln>
            <a:noFill/>
          </a:ln>
        </p:spPr>
        <p:txBody>
          <a:bodyPr anchorCtr="0" anchor="t" bIns="0" lIns="0" spcFirstLastPara="1" rIns="0" wrap="square" tIns="0">
            <a:noAutofit/>
          </a:bodyPr>
          <a:lstStyle/>
          <a:p>
            <a:pPr indent="0" lvl="0" marL="0" marR="0" rtl="0" algn="l">
              <a:lnSpc>
                <a:spcPct val="151428"/>
              </a:lnSpc>
              <a:spcBef>
                <a:spcPts val="0"/>
              </a:spcBef>
              <a:spcAft>
                <a:spcPts val="0"/>
              </a:spcAft>
              <a:buClr>
                <a:srgbClr val="384653"/>
              </a:buClr>
              <a:buSzPts val="1750"/>
              <a:buFont typeface="Roboto"/>
              <a:buNone/>
            </a:pPr>
            <a:r>
              <a:rPr b="0" i="0" lang="en-US" sz="1750" u="none" cap="none" strike="noStrike">
                <a:solidFill>
                  <a:srgbClr val="384653"/>
                </a:solidFill>
                <a:latin typeface="Roboto"/>
                <a:ea typeface="Roboto"/>
                <a:cs typeface="Roboto"/>
                <a:sym typeface="Roboto"/>
              </a:rPr>
              <a:t>Tóm tắt câu trả lời ngắn gọn, ví dụ: sản phẩm giá 1200 là Laptop.</a:t>
            </a:r>
            <a:endParaRPr b="0" i="0" sz="1750" u="none" cap="none" strike="noStrike"/>
          </a:p>
        </p:txBody>
      </p:sp>
      <p:pic>
        <p:nvPicPr>
          <p:cNvPr descr="preencoded.png" id="457" name="Google Shape;457;p63"/>
          <p:cNvPicPr preferRelativeResize="0"/>
          <p:nvPr/>
        </p:nvPicPr>
        <p:blipFill rotWithShape="1">
          <a:blip r:embed="rId4">
            <a:alphaModFix/>
          </a:blip>
          <a:srcRect b="0" l="0" r="0" t="0"/>
          <a:stretch/>
        </p:blipFill>
        <p:spPr>
          <a:xfrm>
            <a:off x="5032653" y="2413516"/>
            <a:ext cx="4564975" cy="4564975"/>
          </a:xfrm>
          <a:prstGeom prst="rect">
            <a:avLst/>
          </a:prstGeom>
          <a:noFill/>
          <a:ln>
            <a:noFill/>
          </a:ln>
        </p:spPr>
      </p:pic>
      <p:sp>
        <p:nvSpPr>
          <p:cNvPr id="458" name="Google Shape;458;p63"/>
          <p:cNvSpPr/>
          <p:nvPr/>
        </p:nvSpPr>
        <p:spPr>
          <a:xfrm>
            <a:off x="8275201" y="3353991"/>
            <a:ext cx="339328" cy="424220"/>
          </a:xfrm>
          <a:prstGeom prst="rect">
            <a:avLst/>
          </a:prstGeom>
          <a:noFill/>
          <a:ln>
            <a:noFill/>
          </a:ln>
        </p:spPr>
        <p:txBody>
          <a:bodyPr anchorCtr="0" anchor="t" bIns="0" lIns="0" spcFirstLastPara="1" rIns="0" wrap="square" tIns="0">
            <a:noAutofit/>
          </a:bodyPr>
          <a:lstStyle/>
          <a:p>
            <a:pPr indent="0" lvl="0" marL="0" marR="0" rtl="0" algn="l">
              <a:lnSpc>
                <a:spcPct val="150943"/>
              </a:lnSpc>
              <a:spcBef>
                <a:spcPts val="0"/>
              </a:spcBef>
              <a:spcAft>
                <a:spcPts val="0"/>
              </a:spcAft>
              <a:buClr>
                <a:srgbClr val="384653"/>
              </a:buClr>
              <a:buSzPts val="2650"/>
              <a:buFont typeface="Host Grotesk"/>
              <a:buNone/>
            </a:pPr>
            <a:r>
              <a:rPr b="0" i="0" lang="en-US" sz="2650" u="none" cap="none" strike="noStrike">
                <a:solidFill>
                  <a:srgbClr val="384653"/>
                </a:solidFill>
                <a:latin typeface="Host Grotesk"/>
                <a:ea typeface="Host Grotesk"/>
                <a:cs typeface="Host Grotesk"/>
                <a:sym typeface="Host Grotesk"/>
              </a:rPr>
              <a:t>2</a:t>
            </a:r>
            <a:endParaRPr b="0" i="0" sz="2650" u="none" cap="none" strike="noStrike"/>
          </a:p>
        </p:txBody>
      </p:sp>
      <p:sp>
        <p:nvSpPr>
          <p:cNvPr id="459" name="Google Shape;459;p63"/>
          <p:cNvSpPr/>
          <p:nvPr/>
        </p:nvSpPr>
        <p:spPr>
          <a:xfrm>
            <a:off x="9937790" y="5336858"/>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84653"/>
              </a:buClr>
              <a:buSzPts val="2200"/>
              <a:buFont typeface="Host Grotesk"/>
              <a:buNone/>
            </a:pPr>
            <a:r>
              <a:rPr b="0" i="0" lang="en-US" sz="2200" u="none" cap="none" strike="noStrike">
                <a:solidFill>
                  <a:srgbClr val="384653"/>
                </a:solidFill>
                <a:latin typeface="Host Grotesk"/>
                <a:ea typeface="Host Grotesk"/>
                <a:cs typeface="Host Grotesk"/>
                <a:sym typeface="Host Grotesk"/>
              </a:rPr>
              <a:t>Câu Hỏi Mới</a:t>
            </a:r>
            <a:endParaRPr b="0" i="0" sz="2200" u="none" cap="none" strike="noStrike"/>
          </a:p>
        </p:txBody>
      </p:sp>
      <p:sp>
        <p:nvSpPr>
          <p:cNvPr id="460" name="Google Shape;460;p63"/>
          <p:cNvSpPr/>
          <p:nvPr/>
        </p:nvSpPr>
        <p:spPr>
          <a:xfrm>
            <a:off x="9937790" y="5827276"/>
            <a:ext cx="3898821" cy="680323"/>
          </a:xfrm>
          <a:prstGeom prst="rect">
            <a:avLst/>
          </a:prstGeom>
          <a:noFill/>
          <a:ln>
            <a:noFill/>
          </a:ln>
        </p:spPr>
        <p:txBody>
          <a:bodyPr anchorCtr="0" anchor="t" bIns="0" lIns="0" spcFirstLastPara="1" rIns="0" wrap="square" tIns="0">
            <a:noAutofit/>
          </a:bodyPr>
          <a:lstStyle/>
          <a:p>
            <a:pPr indent="0" lvl="0" marL="0" marR="0" rtl="0" algn="l">
              <a:lnSpc>
                <a:spcPct val="151428"/>
              </a:lnSpc>
              <a:spcBef>
                <a:spcPts val="0"/>
              </a:spcBef>
              <a:spcAft>
                <a:spcPts val="0"/>
              </a:spcAft>
              <a:buClr>
                <a:srgbClr val="384653"/>
              </a:buClr>
              <a:buSzPts val="1750"/>
              <a:buFont typeface="Roboto"/>
              <a:buNone/>
            </a:pPr>
            <a:r>
              <a:rPr b="0" i="0" lang="en-US" sz="1750" u="none" cap="none" strike="noStrike">
                <a:solidFill>
                  <a:srgbClr val="384653"/>
                </a:solidFill>
                <a:latin typeface="Roboto"/>
                <a:ea typeface="Roboto"/>
                <a:cs typeface="Roboto"/>
                <a:sym typeface="Roboto"/>
              </a:rPr>
              <a:t>Hệ thống hỏi thêm thông tin để tạo truy vấn chính xác hơn.</a:t>
            </a:r>
            <a:endParaRPr b="0" i="0" sz="1750" u="none" cap="none" strike="noStrike"/>
          </a:p>
        </p:txBody>
      </p:sp>
      <p:pic>
        <p:nvPicPr>
          <p:cNvPr descr="preencoded.png" id="461" name="Google Shape;461;p63"/>
          <p:cNvPicPr preferRelativeResize="0"/>
          <p:nvPr/>
        </p:nvPicPr>
        <p:blipFill rotWithShape="1">
          <a:blip r:embed="rId5">
            <a:alphaModFix/>
          </a:blip>
          <a:srcRect b="0" l="0" r="0" t="0"/>
          <a:stretch/>
        </p:blipFill>
        <p:spPr>
          <a:xfrm>
            <a:off x="5032653" y="2413516"/>
            <a:ext cx="4564975" cy="4564975"/>
          </a:xfrm>
          <a:prstGeom prst="rect">
            <a:avLst/>
          </a:prstGeom>
          <a:noFill/>
          <a:ln>
            <a:noFill/>
          </a:ln>
        </p:spPr>
      </p:pic>
      <p:sp>
        <p:nvSpPr>
          <p:cNvPr id="462" name="Google Shape;462;p63"/>
          <p:cNvSpPr/>
          <p:nvPr/>
        </p:nvSpPr>
        <p:spPr>
          <a:xfrm>
            <a:off x="8275201" y="5613559"/>
            <a:ext cx="339328" cy="424220"/>
          </a:xfrm>
          <a:prstGeom prst="rect">
            <a:avLst/>
          </a:prstGeom>
          <a:noFill/>
          <a:ln>
            <a:noFill/>
          </a:ln>
        </p:spPr>
        <p:txBody>
          <a:bodyPr anchorCtr="0" anchor="t" bIns="0" lIns="0" spcFirstLastPara="1" rIns="0" wrap="square" tIns="0">
            <a:noAutofit/>
          </a:bodyPr>
          <a:lstStyle/>
          <a:p>
            <a:pPr indent="0" lvl="0" marL="0" marR="0" rtl="0" algn="l">
              <a:lnSpc>
                <a:spcPct val="150943"/>
              </a:lnSpc>
              <a:spcBef>
                <a:spcPts val="0"/>
              </a:spcBef>
              <a:spcAft>
                <a:spcPts val="0"/>
              </a:spcAft>
              <a:buClr>
                <a:srgbClr val="384653"/>
              </a:buClr>
              <a:buSzPts val="2650"/>
              <a:buFont typeface="Host Grotesk"/>
              <a:buNone/>
            </a:pPr>
            <a:r>
              <a:rPr b="0" i="0" lang="en-US" sz="2650" u="none" cap="none" strike="noStrike">
                <a:solidFill>
                  <a:srgbClr val="384653"/>
                </a:solidFill>
                <a:latin typeface="Host Grotesk"/>
                <a:ea typeface="Host Grotesk"/>
                <a:cs typeface="Host Grotesk"/>
                <a:sym typeface="Host Grotesk"/>
              </a:rPr>
              <a:t>3</a:t>
            </a:r>
            <a:endParaRPr b="0" i="0" sz="2650" u="none" cap="none" strike="noStrike"/>
          </a:p>
        </p:txBody>
      </p:sp>
      <p:sp>
        <p:nvSpPr>
          <p:cNvPr id="463" name="Google Shape;463;p63"/>
          <p:cNvSpPr/>
          <p:nvPr/>
        </p:nvSpPr>
        <p:spPr>
          <a:xfrm>
            <a:off x="1857256" y="5336858"/>
            <a:ext cx="2835235" cy="354330"/>
          </a:xfrm>
          <a:prstGeom prst="rect">
            <a:avLst/>
          </a:prstGeom>
          <a:noFill/>
          <a:ln>
            <a:noFill/>
          </a:ln>
        </p:spPr>
        <p:txBody>
          <a:bodyPr anchorCtr="0" anchor="t" bIns="0" lIns="0" spcFirstLastPara="1" rIns="0" wrap="square" tIns="0">
            <a:noAutofit/>
          </a:bodyPr>
          <a:lstStyle/>
          <a:p>
            <a:pPr indent="0" lvl="0" marL="0" marR="0" rtl="0" algn="r">
              <a:lnSpc>
                <a:spcPct val="125000"/>
              </a:lnSpc>
              <a:spcBef>
                <a:spcPts val="0"/>
              </a:spcBef>
              <a:spcAft>
                <a:spcPts val="0"/>
              </a:spcAft>
              <a:buClr>
                <a:srgbClr val="384653"/>
              </a:buClr>
              <a:buSzPts val="2200"/>
              <a:buFont typeface="Host Grotesk"/>
              <a:buNone/>
            </a:pPr>
            <a:r>
              <a:rPr b="0" i="0" lang="en-US" sz="2200" u="none" cap="none" strike="noStrike">
                <a:solidFill>
                  <a:srgbClr val="384653"/>
                </a:solidFill>
                <a:latin typeface="Host Grotesk"/>
                <a:ea typeface="Host Grotesk"/>
                <a:cs typeface="Host Grotesk"/>
                <a:sym typeface="Host Grotesk"/>
              </a:rPr>
              <a:t>Truy Vấn SQL</a:t>
            </a:r>
            <a:endParaRPr b="0" i="0" sz="2200" u="none" cap="none" strike="noStrike"/>
          </a:p>
        </p:txBody>
      </p:sp>
      <p:sp>
        <p:nvSpPr>
          <p:cNvPr id="464" name="Google Shape;464;p63"/>
          <p:cNvSpPr/>
          <p:nvPr/>
        </p:nvSpPr>
        <p:spPr>
          <a:xfrm>
            <a:off x="793790" y="5827276"/>
            <a:ext cx="3898702" cy="680323"/>
          </a:xfrm>
          <a:prstGeom prst="rect">
            <a:avLst/>
          </a:prstGeom>
          <a:noFill/>
          <a:ln>
            <a:noFill/>
          </a:ln>
        </p:spPr>
        <p:txBody>
          <a:bodyPr anchorCtr="0" anchor="t" bIns="0" lIns="0" spcFirstLastPara="1" rIns="0" wrap="square" tIns="0">
            <a:noAutofit/>
          </a:bodyPr>
          <a:lstStyle/>
          <a:p>
            <a:pPr indent="0" lvl="0" marL="0" marR="0" rtl="0" algn="r">
              <a:lnSpc>
                <a:spcPct val="151428"/>
              </a:lnSpc>
              <a:spcBef>
                <a:spcPts val="0"/>
              </a:spcBef>
              <a:spcAft>
                <a:spcPts val="0"/>
              </a:spcAft>
              <a:buClr>
                <a:srgbClr val="384653"/>
              </a:buClr>
              <a:buSzPts val="1750"/>
              <a:buFont typeface="Roboto"/>
              <a:buNone/>
            </a:pPr>
            <a:r>
              <a:rPr b="0" i="0" lang="en-US" sz="1750" u="none" cap="none" strike="noStrike">
                <a:solidFill>
                  <a:srgbClr val="384653"/>
                </a:solidFill>
                <a:latin typeface="Roboto"/>
                <a:ea typeface="Roboto"/>
                <a:cs typeface="Roboto"/>
                <a:sym typeface="Roboto"/>
              </a:rPr>
              <a:t>Hiển thị câu truy vấn SQL để người dùng có thể kiểm tra hoặc thử nghiệm.</a:t>
            </a:r>
            <a:endParaRPr b="0" i="0" sz="1750" u="none" cap="none" strike="noStrike"/>
          </a:p>
        </p:txBody>
      </p:sp>
      <p:pic>
        <p:nvPicPr>
          <p:cNvPr descr="preencoded.png" id="465" name="Google Shape;465;p63"/>
          <p:cNvPicPr preferRelativeResize="0"/>
          <p:nvPr/>
        </p:nvPicPr>
        <p:blipFill rotWithShape="1">
          <a:blip r:embed="rId6">
            <a:alphaModFix/>
          </a:blip>
          <a:srcRect b="0" l="0" r="0" t="0"/>
          <a:stretch/>
        </p:blipFill>
        <p:spPr>
          <a:xfrm>
            <a:off x="5032653" y="2413516"/>
            <a:ext cx="4564975" cy="4564975"/>
          </a:xfrm>
          <a:prstGeom prst="rect">
            <a:avLst/>
          </a:prstGeom>
          <a:noFill/>
          <a:ln>
            <a:noFill/>
          </a:ln>
        </p:spPr>
      </p:pic>
      <p:sp>
        <p:nvSpPr>
          <p:cNvPr id="466" name="Google Shape;466;p63"/>
          <p:cNvSpPr/>
          <p:nvPr/>
        </p:nvSpPr>
        <p:spPr>
          <a:xfrm>
            <a:off x="6015633" y="5613559"/>
            <a:ext cx="339328" cy="424220"/>
          </a:xfrm>
          <a:prstGeom prst="rect">
            <a:avLst/>
          </a:prstGeom>
          <a:noFill/>
          <a:ln>
            <a:noFill/>
          </a:ln>
        </p:spPr>
        <p:txBody>
          <a:bodyPr anchorCtr="0" anchor="t" bIns="0" lIns="0" spcFirstLastPara="1" rIns="0" wrap="square" tIns="0">
            <a:noAutofit/>
          </a:bodyPr>
          <a:lstStyle/>
          <a:p>
            <a:pPr indent="0" lvl="0" marL="0" marR="0" rtl="0" algn="l">
              <a:lnSpc>
                <a:spcPct val="150943"/>
              </a:lnSpc>
              <a:spcBef>
                <a:spcPts val="0"/>
              </a:spcBef>
              <a:spcAft>
                <a:spcPts val="0"/>
              </a:spcAft>
              <a:buClr>
                <a:srgbClr val="384653"/>
              </a:buClr>
              <a:buSzPts val="2650"/>
              <a:buFont typeface="Host Grotesk"/>
              <a:buNone/>
            </a:pPr>
            <a:r>
              <a:rPr b="0" i="0" lang="en-US" sz="2650" u="none" cap="none" strike="noStrike">
                <a:solidFill>
                  <a:srgbClr val="384653"/>
                </a:solidFill>
                <a:latin typeface="Host Grotesk"/>
                <a:ea typeface="Host Grotesk"/>
                <a:cs typeface="Host Grotesk"/>
                <a:sym typeface="Host Grotesk"/>
              </a:rPr>
              <a:t>4</a:t>
            </a:r>
            <a:endParaRPr b="0" i="0" sz="2650" u="none" cap="none" strike="noStrike"/>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64"/>
          <p:cNvSpPr/>
          <p:nvPr/>
        </p:nvSpPr>
        <p:spPr>
          <a:xfrm>
            <a:off x="793796" y="177425"/>
            <a:ext cx="8067900" cy="7089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E3C4E"/>
              </a:buClr>
              <a:buSzPts val="4450"/>
              <a:buFont typeface="Host Grotesk"/>
              <a:buNone/>
            </a:pPr>
            <a:r>
              <a:rPr b="0" i="0" lang="en-US" sz="4450" u="none" cap="none" strike="noStrike">
                <a:solidFill>
                  <a:srgbClr val="2E3C4E"/>
                </a:solidFill>
                <a:latin typeface="Host Grotesk"/>
                <a:ea typeface="Host Grotesk"/>
                <a:cs typeface="Host Grotesk"/>
                <a:sym typeface="Host Grotesk"/>
              </a:rPr>
              <a:t>Mô Hình Hóa Xử Lý Truy Vấn Ngôn Ngữ Tự Nhiên</a:t>
            </a:r>
            <a:endParaRPr b="0" i="0" sz="4450" u="none" cap="none" strike="noStrike"/>
          </a:p>
        </p:txBody>
      </p:sp>
      <p:sp>
        <p:nvSpPr>
          <p:cNvPr id="473" name="Google Shape;473;p64"/>
          <p:cNvSpPr/>
          <p:nvPr/>
        </p:nvSpPr>
        <p:spPr>
          <a:xfrm>
            <a:off x="793790" y="2052518"/>
            <a:ext cx="170021" cy="830580"/>
          </a:xfrm>
          <a:prstGeom prst="roundRect">
            <a:avLst>
              <a:gd fmla="val 56033" name="adj"/>
            </a:avLst>
          </a:prstGeom>
          <a:solidFill>
            <a:srgbClr val="D9EDF2"/>
          </a:solidFill>
          <a:ln cap="flat" cmpd="sng" w="9525">
            <a:solidFill>
              <a:srgbClr val="BFD3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64"/>
          <p:cNvSpPr/>
          <p:nvPr/>
        </p:nvSpPr>
        <p:spPr>
          <a:xfrm>
            <a:off x="1303973" y="2052518"/>
            <a:ext cx="3540204"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84653"/>
              </a:buClr>
              <a:buSzPts val="2200"/>
              <a:buFont typeface="Host Grotesk"/>
              <a:buNone/>
            </a:pPr>
            <a:r>
              <a:rPr b="0" i="0" lang="en-US" sz="2200" u="none" cap="none" strike="noStrike">
                <a:solidFill>
                  <a:srgbClr val="384653"/>
                </a:solidFill>
                <a:latin typeface="Host Grotesk"/>
                <a:ea typeface="Host Grotesk"/>
                <a:cs typeface="Host Grotesk"/>
                <a:sym typeface="Host Grotesk"/>
              </a:rPr>
              <a:t>Người Dùng Nhập Truy Vấn</a:t>
            </a:r>
            <a:endParaRPr b="0" i="0" sz="2200" u="none" cap="none" strike="noStrike"/>
          </a:p>
        </p:txBody>
      </p:sp>
      <p:sp>
        <p:nvSpPr>
          <p:cNvPr id="475" name="Google Shape;475;p64"/>
          <p:cNvSpPr/>
          <p:nvPr/>
        </p:nvSpPr>
        <p:spPr>
          <a:xfrm>
            <a:off x="1303973" y="2542937"/>
            <a:ext cx="12532638" cy="340162"/>
          </a:xfrm>
          <a:prstGeom prst="rect">
            <a:avLst/>
          </a:prstGeom>
          <a:noFill/>
          <a:ln>
            <a:noFill/>
          </a:ln>
        </p:spPr>
        <p:txBody>
          <a:bodyPr anchorCtr="0" anchor="t" bIns="0" lIns="0" spcFirstLastPara="1" rIns="0" wrap="square" tIns="0">
            <a:noAutofit/>
          </a:bodyPr>
          <a:lstStyle/>
          <a:p>
            <a:pPr indent="0" lvl="0" marL="0" marR="0" rtl="0" algn="l">
              <a:lnSpc>
                <a:spcPct val="151428"/>
              </a:lnSpc>
              <a:spcBef>
                <a:spcPts val="0"/>
              </a:spcBef>
              <a:spcAft>
                <a:spcPts val="0"/>
              </a:spcAft>
              <a:buClr>
                <a:srgbClr val="384653"/>
              </a:buClr>
              <a:buSzPts val="1750"/>
              <a:buFont typeface="Roboto"/>
              <a:buNone/>
            </a:pPr>
            <a:r>
              <a:rPr b="0" i="0" lang="en-US" sz="1750" u="none" cap="none" strike="noStrike">
                <a:solidFill>
                  <a:srgbClr val="384653"/>
                </a:solidFill>
                <a:latin typeface="Roboto"/>
                <a:ea typeface="Roboto"/>
                <a:cs typeface="Roboto"/>
                <a:sym typeface="Roboto"/>
              </a:rPr>
              <a:t>Người dùng nhập câu hỏi hoặc truy vấn tự nhiên vào hệ thống.</a:t>
            </a:r>
            <a:endParaRPr b="0" i="0" sz="1750" u="none" cap="none" strike="noStrike"/>
          </a:p>
        </p:txBody>
      </p:sp>
      <p:sp>
        <p:nvSpPr>
          <p:cNvPr id="476" name="Google Shape;476;p64"/>
          <p:cNvSpPr/>
          <p:nvPr/>
        </p:nvSpPr>
        <p:spPr>
          <a:xfrm>
            <a:off x="1133951" y="3109913"/>
            <a:ext cx="170021" cy="830580"/>
          </a:xfrm>
          <a:prstGeom prst="roundRect">
            <a:avLst>
              <a:gd fmla="val 56033" name="adj"/>
            </a:avLst>
          </a:prstGeom>
          <a:solidFill>
            <a:srgbClr val="D9EDF2"/>
          </a:solidFill>
          <a:ln cap="flat" cmpd="sng" w="9525">
            <a:solidFill>
              <a:srgbClr val="BFD3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64"/>
          <p:cNvSpPr/>
          <p:nvPr/>
        </p:nvSpPr>
        <p:spPr>
          <a:xfrm>
            <a:off x="1644134" y="3109913"/>
            <a:ext cx="4075986"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84653"/>
              </a:buClr>
              <a:buSzPts val="2200"/>
              <a:buFont typeface="Host Grotesk"/>
              <a:buNone/>
            </a:pPr>
            <a:r>
              <a:rPr b="0" i="0" lang="en-US" sz="2200" u="none" cap="none" strike="noStrike">
                <a:solidFill>
                  <a:srgbClr val="384653"/>
                </a:solidFill>
                <a:latin typeface="Host Grotesk"/>
                <a:ea typeface="Host Grotesk"/>
                <a:cs typeface="Host Grotesk"/>
                <a:sym typeface="Host Grotesk"/>
              </a:rPr>
              <a:t>Agent Sử Dụng System Prompt</a:t>
            </a:r>
            <a:endParaRPr b="0" i="0" sz="2200" u="none" cap="none" strike="noStrike"/>
          </a:p>
        </p:txBody>
      </p:sp>
      <p:sp>
        <p:nvSpPr>
          <p:cNvPr id="478" name="Google Shape;478;p64"/>
          <p:cNvSpPr/>
          <p:nvPr/>
        </p:nvSpPr>
        <p:spPr>
          <a:xfrm>
            <a:off x="1644134" y="3600331"/>
            <a:ext cx="12192476" cy="340162"/>
          </a:xfrm>
          <a:prstGeom prst="rect">
            <a:avLst/>
          </a:prstGeom>
          <a:noFill/>
          <a:ln>
            <a:noFill/>
          </a:ln>
        </p:spPr>
        <p:txBody>
          <a:bodyPr anchorCtr="0" anchor="t" bIns="0" lIns="0" spcFirstLastPara="1" rIns="0" wrap="square" tIns="0">
            <a:noAutofit/>
          </a:bodyPr>
          <a:lstStyle/>
          <a:p>
            <a:pPr indent="0" lvl="0" marL="0" marR="0" rtl="0" algn="l">
              <a:lnSpc>
                <a:spcPct val="151428"/>
              </a:lnSpc>
              <a:spcBef>
                <a:spcPts val="0"/>
              </a:spcBef>
              <a:spcAft>
                <a:spcPts val="0"/>
              </a:spcAft>
              <a:buClr>
                <a:srgbClr val="384653"/>
              </a:buClr>
              <a:buSzPts val="1750"/>
              <a:buFont typeface="Roboto"/>
              <a:buNone/>
            </a:pPr>
            <a:r>
              <a:rPr b="0" i="0" lang="en-US" sz="1750" u="none" cap="none" strike="noStrike">
                <a:solidFill>
                  <a:srgbClr val="384653"/>
                </a:solidFill>
                <a:latin typeface="Roboto"/>
                <a:ea typeface="Roboto"/>
                <a:cs typeface="Roboto"/>
                <a:sym typeface="Roboto"/>
              </a:rPr>
              <a:t>Agent dựa trên System Prompt để phân tích và lên kế hoạch xử lý truy vấn.</a:t>
            </a:r>
            <a:endParaRPr b="0" i="0" sz="1750" u="none" cap="none" strike="noStrike"/>
          </a:p>
        </p:txBody>
      </p:sp>
      <p:sp>
        <p:nvSpPr>
          <p:cNvPr id="479" name="Google Shape;479;p64"/>
          <p:cNvSpPr/>
          <p:nvPr/>
        </p:nvSpPr>
        <p:spPr>
          <a:xfrm>
            <a:off x="1474232" y="4167307"/>
            <a:ext cx="170021" cy="830580"/>
          </a:xfrm>
          <a:prstGeom prst="roundRect">
            <a:avLst>
              <a:gd fmla="val 56033" name="adj"/>
            </a:avLst>
          </a:prstGeom>
          <a:solidFill>
            <a:srgbClr val="D9EDF2"/>
          </a:solidFill>
          <a:ln cap="flat" cmpd="sng" w="9525">
            <a:solidFill>
              <a:srgbClr val="BFD3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64"/>
          <p:cNvSpPr/>
          <p:nvPr/>
        </p:nvSpPr>
        <p:spPr>
          <a:xfrm>
            <a:off x="1984415" y="4167307"/>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84653"/>
              </a:buClr>
              <a:buSzPts val="2200"/>
              <a:buFont typeface="Host Grotesk"/>
              <a:buNone/>
            </a:pPr>
            <a:r>
              <a:rPr b="0" i="0" lang="en-US" sz="2200" u="none" cap="none" strike="noStrike">
                <a:solidFill>
                  <a:srgbClr val="384653"/>
                </a:solidFill>
                <a:latin typeface="Host Grotesk"/>
                <a:ea typeface="Host Grotesk"/>
                <a:cs typeface="Host Grotesk"/>
                <a:sym typeface="Host Grotesk"/>
              </a:rPr>
              <a:t>Agent Tạo ToolCall</a:t>
            </a:r>
            <a:endParaRPr b="0" i="0" sz="2200" u="none" cap="none" strike="noStrike"/>
          </a:p>
        </p:txBody>
      </p:sp>
      <p:sp>
        <p:nvSpPr>
          <p:cNvPr id="481" name="Google Shape;481;p64"/>
          <p:cNvSpPr/>
          <p:nvPr/>
        </p:nvSpPr>
        <p:spPr>
          <a:xfrm>
            <a:off x="1984415" y="4657725"/>
            <a:ext cx="11852196" cy="340162"/>
          </a:xfrm>
          <a:prstGeom prst="rect">
            <a:avLst/>
          </a:prstGeom>
          <a:noFill/>
          <a:ln>
            <a:noFill/>
          </a:ln>
        </p:spPr>
        <p:txBody>
          <a:bodyPr anchorCtr="0" anchor="t" bIns="0" lIns="0" spcFirstLastPara="1" rIns="0" wrap="square" tIns="0">
            <a:noAutofit/>
          </a:bodyPr>
          <a:lstStyle/>
          <a:p>
            <a:pPr indent="0" lvl="0" marL="0" marR="0" rtl="0" algn="l">
              <a:lnSpc>
                <a:spcPct val="151428"/>
              </a:lnSpc>
              <a:spcBef>
                <a:spcPts val="0"/>
              </a:spcBef>
              <a:spcAft>
                <a:spcPts val="0"/>
              </a:spcAft>
              <a:buClr>
                <a:srgbClr val="384653"/>
              </a:buClr>
              <a:buSzPts val="1750"/>
              <a:buFont typeface="Roboto"/>
              <a:buNone/>
            </a:pPr>
            <a:r>
              <a:rPr b="0" i="0" lang="en-US" sz="1750" u="none" cap="none" strike="noStrike">
                <a:solidFill>
                  <a:srgbClr val="384653"/>
                </a:solidFill>
                <a:latin typeface="Roboto"/>
                <a:ea typeface="Roboto"/>
                <a:cs typeface="Roboto"/>
                <a:sym typeface="Roboto"/>
              </a:rPr>
              <a:t>Agent tạo lệnh gọi công cụ xử lý truy vấn SQL.</a:t>
            </a:r>
            <a:endParaRPr b="0" i="0" sz="1750" u="none" cap="none" strike="noStrike"/>
          </a:p>
        </p:txBody>
      </p:sp>
      <p:sp>
        <p:nvSpPr>
          <p:cNvPr id="482" name="Google Shape;482;p64"/>
          <p:cNvSpPr/>
          <p:nvPr/>
        </p:nvSpPr>
        <p:spPr>
          <a:xfrm>
            <a:off x="1814513" y="5224701"/>
            <a:ext cx="170021" cy="830580"/>
          </a:xfrm>
          <a:prstGeom prst="roundRect">
            <a:avLst>
              <a:gd fmla="val 56033" name="adj"/>
            </a:avLst>
          </a:prstGeom>
          <a:solidFill>
            <a:srgbClr val="D9EDF2"/>
          </a:solidFill>
          <a:ln cap="flat" cmpd="sng" w="9525">
            <a:solidFill>
              <a:srgbClr val="BFD3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64"/>
          <p:cNvSpPr/>
          <p:nvPr/>
        </p:nvSpPr>
        <p:spPr>
          <a:xfrm>
            <a:off x="2324695" y="5224701"/>
            <a:ext cx="29876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84653"/>
              </a:buClr>
              <a:buSzPts val="2200"/>
              <a:buFont typeface="Host Grotesk"/>
              <a:buNone/>
            </a:pPr>
            <a:r>
              <a:rPr b="0" i="0" lang="en-US" sz="2200" u="none" cap="none" strike="noStrike">
                <a:solidFill>
                  <a:srgbClr val="384653"/>
                </a:solidFill>
                <a:latin typeface="Host Grotesk"/>
                <a:ea typeface="Host Grotesk"/>
                <a:cs typeface="Host Grotesk"/>
                <a:sym typeface="Host Grotesk"/>
              </a:rPr>
              <a:t>Thực Thi Truy Vấn SQL</a:t>
            </a:r>
            <a:endParaRPr b="0" i="0" sz="2200" u="none" cap="none" strike="noStrike"/>
          </a:p>
        </p:txBody>
      </p:sp>
      <p:sp>
        <p:nvSpPr>
          <p:cNvPr id="484" name="Google Shape;484;p64"/>
          <p:cNvSpPr/>
          <p:nvPr/>
        </p:nvSpPr>
        <p:spPr>
          <a:xfrm>
            <a:off x="2324695" y="5715119"/>
            <a:ext cx="11511915" cy="340162"/>
          </a:xfrm>
          <a:prstGeom prst="rect">
            <a:avLst/>
          </a:prstGeom>
          <a:noFill/>
          <a:ln>
            <a:noFill/>
          </a:ln>
        </p:spPr>
        <p:txBody>
          <a:bodyPr anchorCtr="0" anchor="t" bIns="0" lIns="0" spcFirstLastPara="1" rIns="0" wrap="square" tIns="0">
            <a:noAutofit/>
          </a:bodyPr>
          <a:lstStyle/>
          <a:p>
            <a:pPr indent="0" lvl="0" marL="0" marR="0" rtl="0" algn="l">
              <a:lnSpc>
                <a:spcPct val="151428"/>
              </a:lnSpc>
              <a:spcBef>
                <a:spcPts val="0"/>
              </a:spcBef>
              <a:spcAft>
                <a:spcPts val="0"/>
              </a:spcAft>
              <a:buClr>
                <a:srgbClr val="384653"/>
              </a:buClr>
              <a:buSzPts val="1750"/>
              <a:buFont typeface="Roboto"/>
              <a:buNone/>
            </a:pPr>
            <a:r>
              <a:rPr b="0" i="0" lang="en-US" sz="1750" u="none" cap="none" strike="noStrike">
                <a:solidFill>
                  <a:srgbClr val="384653"/>
                </a:solidFill>
                <a:latin typeface="Roboto"/>
                <a:ea typeface="Roboto"/>
                <a:cs typeface="Roboto"/>
                <a:sym typeface="Roboto"/>
              </a:rPr>
              <a:t>ToolHandler kết nối và thực thi truy vấn trên SQL Server.</a:t>
            </a:r>
            <a:endParaRPr b="0" i="0" sz="1750" u="none" cap="none" strike="noStrike"/>
          </a:p>
        </p:txBody>
      </p:sp>
      <p:sp>
        <p:nvSpPr>
          <p:cNvPr id="485" name="Google Shape;485;p64"/>
          <p:cNvSpPr/>
          <p:nvPr/>
        </p:nvSpPr>
        <p:spPr>
          <a:xfrm>
            <a:off x="1474232" y="6282095"/>
            <a:ext cx="170021" cy="830580"/>
          </a:xfrm>
          <a:prstGeom prst="roundRect">
            <a:avLst>
              <a:gd fmla="val 56033" name="adj"/>
            </a:avLst>
          </a:prstGeom>
          <a:solidFill>
            <a:srgbClr val="D9EDF2"/>
          </a:solidFill>
          <a:ln cap="flat" cmpd="sng" w="9525">
            <a:solidFill>
              <a:srgbClr val="BFD3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64"/>
          <p:cNvSpPr/>
          <p:nvPr/>
        </p:nvSpPr>
        <p:spPr>
          <a:xfrm>
            <a:off x="1984415" y="6282095"/>
            <a:ext cx="3770590"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84653"/>
              </a:buClr>
              <a:buSzPts val="2200"/>
              <a:buFont typeface="Host Grotesk"/>
              <a:buNone/>
            </a:pPr>
            <a:r>
              <a:rPr b="0" i="0" lang="en-US" sz="2200" u="none" cap="none" strike="noStrike">
                <a:solidFill>
                  <a:srgbClr val="384653"/>
                </a:solidFill>
                <a:latin typeface="Host Grotesk"/>
                <a:ea typeface="Host Grotesk"/>
                <a:cs typeface="Host Grotesk"/>
                <a:sym typeface="Host Grotesk"/>
              </a:rPr>
              <a:t>Trả Kết Quả Cho Người Dùng</a:t>
            </a:r>
            <a:endParaRPr b="0" i="0" sz="2200" u="none" cap="none" strike="noStrike"/>
          </a:p>
        </p:txBody>
      </p:sp>
      <p:sp>
        <p:nvSpPr>
          <p:cNvPr id="487" name="Google Shape;487;p64"/>
          <p:cNvSpPr/>
          <p:nvPr/>
        </p:nvSpPr>
        <p:spPr>
          <a:xfrm>
            <a:off x="1984415" y="6772513"/>
            <a:ext cx="11852196" cy="340162"/>
          </a:xfrm>
          <a:prstGeom prst="rect">
            <a:avLst/>
          </a:prstGeom>
          <a:noFill/>
          <a:ln>
            <a:noFill/>
          </a:ln>
        </p:spPr>
        <p:txBody>
          <a:bodyPr anchorCtr="0" anchor="t" bIns="0" lIns="0" spcFirstLastPara="1" rIns="0" wrap="square" tIns="0">
            <a:noAutofit/>
          </a:bodyPr>
          <a:lstStyle/>
          <a:p>
            <a:pPr indent="0" lvl="0" marL="0" marR="0" rtl="0" algn="l">
              <a:lnSpc>
                <a:spcPct val="151428"/>
              </a:lnSpc>
              <a:spcBef>
                <a:spcPts val="0"/>
              </a:spcBef>
              <a:spcAft>
                <a:spcPts val="0"/>
              </a:spcAft>
              <a:buClr>
                <a:srgbClr val="384653"/>
              </a:buClr>
              <a:buSzPts val="1750"/>
              <a:buFont typeface="Roboto"/>
              <a:buNone/>
            </a:pPr>
            <a:r>
              <a:rPr b="0" i="0" lang="en-US" sz="1750" u="none" cap="none" strike="noStrike">
                <a:solidFill>
                  <a:srgbClr val="384653"/>
                </a:solidFill>
                <a:latin typeface="Roboto"/>
                <a:ea typeface="Roboto"/>
                <a:cs typeface="Roboto"/>
                <a:sym typeface="Roboto"/>
              </a:rPr>
              <a:t>Kết quả truy vấn được trả về và hiển thị cho người dùng.</a:t>
            </a:r>
            <a:endParaRPr b="0" i="0" sz="1750" u="none" cap="none" strike="noStrike"/>
          </a:p>
        </p:txBody>
      </p:sp>
      <p:pic>
        <p:nvPicPr>
          <p:cNvPr id="488" name="Google Shape;488;p64"/>
          <p:cNvPicPr preferRelativeResize="0"/>
          <p:nvPr/>
        </p:nvPicPr>
        <p:blipFill>
          <a:blip r:embed="rId3">
            <a:alphaModFix/>
          </a:blip>
          <a:stretch>
            <a:fillRect/>
          </a:stretch>
        </p:blipFill>
        <p:spPr>
          <a:xfrm>
            <a:off x="8933433" y="184988"/>
            <a:ext cx="5616300" cy="717083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65"/>
          <p:cNvSpPr/>
          <p:nvPr/>
        </p:nvSpPr>
        <p:spPr>
          <a:xfrm>
            <a:off x="995068" y="706050"/>
            <a:ext cx="12927300" cy="1264800"/>
          </a:xfrm>
          <a:prstGeom prst="rect">
            <a:avLst/>
          </a:prstGeom>
          <a:noFill/>
          <a:ln>
            <a:noFill/>
          </a:ln>
        </p:spPr>
        <p:txBody>
          <a:bodyPr anchorCtr="0" anchor="t" bIns="0" lIns="0" spcFirstLastPara="1" rIns="0" wrap="square" tIns="0">
            <a:noAutofit/>
          </a:bodyPr>
          <a:lstStyle/>
          <a:p>
            <a:pPr indent="0" lvl="0" marL="0" marR="0" rtl="0" algn="l">
              <a:lnSpc>
                <a:spcPct val="125316"/>
              </a:lnSpc>
              <a:spcBef>
                <a:spcPts val="0"/>
              </a:spcBef>
              <a:spcAft>
                <a:spcPts val="0"/>
              </a:spcAft>
              <a:buClr>
                <a:srgbClr val="2E3C4E"/>
              </a:buClr>
              <a:buSzPts val="3950"/>
              <a:buFont typeface="Host Grotesk"/>
              <a:buNone/>
            </a:pPr>
            <a:r>
              <a:rPr b="0" i="0" lang="en-US" sz="3950" u="none" cap="none" strike="noStrike">
                <a:solidFill>
                  <a:srgbClr val="2E3C4E"/>
                </a:solidFill>
                <a:latin typeface="Host Grotesk"/>
                <a:ea typeface="Host Grotesk"/>
                <a:cs typeface="Host Grotesk"/>
                <a:sym typeface="Host Grotesk"/>
              </a:rPr>
              <a:t>Chi Tiết Hướng Dẫn System Prompt</a:t>
            </a:r>
            <a:endParaRPr b="0" i="0" sz="3950" u="none" cap="none" strike="noStrike"/>
          </a:p>
        </p:txBody>
      </p:sp>
      <p:sp>
        <p:nvSpPr>
          <p:cNvPr id="495" name="Google Shape;495;p65"/>
          <p:cNvSpPr/>
          <p:nvPr/>
        </p:nvSpPr>
        <p:spPr>
          <a:xfrm>
            <a:off x="995081" y="2341475"/>
            <a:ext cx="12613500" cy="1160700"/>
          </a:xfrm>
          <a:prstGeom prst="roundRect">
            <a:avLst>
              <a:gd fmla="val 7322" name="adj"/>
            </a:avLst>
          </a:prstGeom>
          <a:solidFill>
            <a:srgbClr val="D9EDF2"/>
          </a:solidFill>
          <a:ln cap="flat" cmpd="sng" w="9525">
            <a:solidFill>
              <a:srgbClr val="BFD3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65"/>
          <p:cNvSpPr/>
          <p:nvPr/>
        </p:nvSpPr>
        <p:spPr>
          <a:xfrm>
            <a:off x="1337684" y="2551382"/>
            <a:ext cx="4127700" cy="316200"/>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384653"/>
              </a:buClr>
              <a:buSzPts val="1950"/>
              <a:buFont typeface="Host Grotesk"/>
              <a:buNone/>
            </a:pPr>
            <a:r>
              <a:rPr b="0" i="0" lang="en-US" sz="1950" u="none" cap="none" strike="noStrike">
                <a:solidFill>
                  <a:srgbClr val="384653"/>
                </a:solidFill>
                <a:latin typeface="Host Grotesk"/>
                <a:ea typeface="Host Grotesk"/>
                <a:cs typeface="Host Grotesk"/>
                <a:sym typeface="Host Grotesk"/>
              </a:rPr>
              <a:t>Cú Pháp SQL Server</a:t>
            </a:r>
            <a:endParaRPr b="0" i="0" sz="1950" u="none" cap="none" strike="noStrike"/>
          </a:p>
        </p:txBody>
      </p:sp>
      <p:sp>
        <p:nvSpPr>
          <p:cNvPr id="497" name="Google Shape;497;p65"/>
          <p:cNvSpPr/>
          <p:nvPr/>
        </p:nvSpPr>
        <p:spPr>
          <a:xfrm>
            <a:off x="1337684" y="2988818"/>
            <a:ext cx="11927700" cy="303300"/>
          </a:xfrm>
          <a:prstGeom prst="rect">
            <a:avLst/>
          </a:prstGeom>
          <a:noFill/>
          <a:ln>
            <a:noFill/>
          </a:ln>
        </p:spPr>
        <p:txBody>
          <a:bodyPr anchorCtr="0" anchor="t" bIns="0" lIns="0" spcFirstLastPara="1" rIns="0" wrap="square" tIns="0">
            <a:noAutofit/>
          </a:bodyPr>
          <a:lstStyle/>
          <a:p>
            <a:pPr indent="0" lvl="0" marL="0" marR="0" rtl="0" algn="l">
              <a:lnSpc>
                <a:spcPct val="151612"/>
              </a:lnSpc>
              <a:spcBef>
                <a:spcPts val="0"/>
              </a:spcBef>
              <a:spcAft>
                <a:spcPts val="0"/>
              </a:spcAft>
              <a:buClr>
                <a:srgbClr val="384653"/>
              </a:buClr>
              <a:buSzPts val="1550"/>
              <a:buFont typeface="Roboto"/>
              <a:buNone/>
            </a:pPr>
            <a:r>
              <a:rPr b="0" i="0" lang="en-US" sz="1550" u="none" cap="none" strike="noStrike">
                <a:solidFill>
                  <a:srgbClr val="384653"/>
                </a:solidFill>
                <a:latin typeface="Roboto"/>
                <a:ea typeface="Roboto"/>
                <a:cs typeface="Roboto"/>
                <a:sym typeface="Roboto"/>
              </a:rPr>
              <a:t>Dùng SELECT TOP n thay vì LIMIT trong truy vấn SQL.</a:t>
            </a:r>
            <a:endParaRPr b="0" i="0" sz="1550" u="none" cap="none" strike="noStrike"/>
          </a:p>
        </p:txBody>
      </p:sp>
      <p:sp>
        <p:nvSpPr>
          <p:cNvPr id="498" name="Google Shape;498;p65"/>
          <p:cNvSpPr/>
          <p:nvPr/>
        </p:nvSpPr>
        <p:spPr>
          <a:xfrm>
            <a:off x="995081" y="3704383"/>
            <a:ext cx="12613500" cy="1160700"/>
          </a:xfrm>
          <a:prstGeom prst="roundRect">
            <a:avLst>
              <a:gd fmla="val 7322" name="adj"/>
            </a:avLst>
          </a:prstGeom>
          <a:solidFill>
            <a:srgbClr val="D9EDF2"/>
          </a:solidFill>
          <a:ln cap="flat" cmpd="sng" w="9525">
            <a:solidFill>
              <a:srgbClr val="BFD3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65"/>
          <p:cNvSpPr/>
          <p:nvPr/>
        </p:nvSpPr>
        <p:spPr>
          <a:xfrm>
            <a:off x="1337684" y="3914290"/>
            <a:ext cx="5029200" cy="316200"/>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384653"/>
              </a:buClr>
              <a:buSzPts val="1950"/>
              <a:buFont typeface="Host Grotesk"/>
              <a:buNone/>
            </a:pPr>
            <a:r>
              <a:rPr b="0" i="0" lang="en-US" sz="1950" u="none" cap="none" strike="noStrike">
                <a:solidFill>
                  <a:srgbClr val="384653"/>
                </a:solidFill>
                <a:latin typeface="Host Grotesk"/>
                <a:ea typeface="Host Grotesk"/>
                <a:cs typeface="Host Grotesk"/>
                <a:sym typeface="Host Grotesk"/>
              </a:rPr>
              <a:t>Kế Hoạch Khám Phá CSDL</a:t>
            </a:r>
            <a:endParaRPr b="0" i="0" sz="1950" u="none" cap="none" strike="noStrike"/>
          </a:p>
        </p:txBody>
      </p:sp>
      <p:sp>
        <p:nvSpPr>
          <p:cNvPr id="500" name="Google Shape;500;p65"/>
          <p:cNvSpPr/>
          <p:nvPr/>
        </p:nvSpPr>
        <p:spPr>
          <a:xfrm>
            <a:off x="1337684" y="4351726"/>
            <a:ext cx="11927700" cy="303300"/>
          </a:xfrm>
          <a:prstGeom prst="rect">
            <a:avLst/>
          </a:prstGeom>
          <a:noFill/>
          <a:ln>
            <a:noFill/>
          </a:ln>
        </p:spPr>
        <p:txBody>
          <a:bodyPr anchorCtr="0" anchor="t" bIns="0" lIns="0" spcFirstLastPara="1" rIns="0" wrap="square" tIns="0">
            <a:noAutofit/>
          </a:bodyPr>
          <a:lstStyle/>
          <a:p>
            <a:pPr indent="0" lvl="0" marL="0" marR="0" rtl="0" algn="l">
              <a:lnSpc>
                <a:spcPct val="151612"/>
              </a:lnSpc>
              <a:spcBef>
                <a:spcPts val="0"/>
              </a:spcBef>
              <a:spcAft>
                <a:spcPts val="0"/>
              </a:spcAft>
              <a:buClr>
                <a:srgbClr val="384653"/>
              </a:buClr>
              <a:buSzPts val="1550"/>
              <a:buFont typeface="Roboto"/>
              <a:buNone/>
            </a:pPr>
            <a:r>
              <a:rPr b="0" i="0" lang="en-US" sz="1550" u="none" cap="none" strike="noStrike">
                <a:solidFill>
                  <a:srgbClr val="384653"/>
                </a:solidFill>
                <a:latin typeface="Roboto"/>
                <a:ea typeface="Roboto"/>
                <a:cs typeface="Roboto"/>
                <a:sym typeface="Roboto"/>
              </a:rPr>
              <a:t>Agent tự lên kế hoạch khám phá cơ sở dữ liệu để hiểu cấu trúc trước khi truy vấn.</a:t>
            </a:r>
            <a:endParaRPr b="0" i="0" sz="1550" u="none" cap="none" strike="noStrike"/>
          </a:p>
        </p:txBody>
      </p:sp>
      <p:sp>
        <p:nvSpPr>
          <p:cNvPr id="501" name="Google Shape;501;p65"/>
          <p:cNvSpPr/>
          <p:nvPr/>
        </p:nvSpPr>
        <p:spPr>
          <a:xfrm>
            <a:off x="995081" y="5067292"/>
            <a:ext cx="12613500" cy="1160700"/>
          </a:xfrm>
          <a:prstGeom prst="roundRect">
            <a:avLst>
              <a:gd fmla="val 7322" name="adj"/>
            </a:avLst>
          </a:prstGeom>
          <a:solidFill>
            <a:srgbClr val="D9EDF2"/>
          </a:solidFill>
          <a:ln cap="flat" cmpd="sng" w="9525">
            <a:solidFill>
              <a:srgbClr val="BFD3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65"/>
          <p:cNvSpPr/>
          <p:nvPr/>
        </p:nvSpPr>
        <p:spPr>
          <a:xfrm>
            <a:off x="1337684" y="5277199"/>
            <a:ext cx="4127700" cy="316200"/>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384653"/>
              </a:buClr>
              <a:buSzPts val="1950"/>
              <a:buFont typeface="Host Grotesk"/>
              <a:buNone/>
            </a:pPr>
            <a:r>
              <a:rPr b="0" i="0" lang="en-US" sz="1950" u="none" cap="none" strike="noStrike">
                <a:solidFill>
                  <a:srgbClr val="384653"/>
                </a:solidFill>
                <a:latin typeface="Host Grotesk"/>
                <a:ea typeface="Host Grotesk"/>
                <a:cs typeface="Host Grotesk"/>
                <a:sym typeface="Host Grotesk"/>
              </a:rPr>
              <a:t>Phân Tích Tự Động</a:t>
            </a:r>
            <a:endParaRPr b="0" i="0" sz="1950" u="none" cap="none" strike="noStrike"/>
          </a:p>
        </p:txBody>
      </p:sp>
      <p:sp>
        <p:nvSpPr>
          <p:cNvPr id="503" name="Google Shape;503;p65"/>
          <p:cNvSpPr/>
          <p:nvPr/>
        </p:nvSpPr>
        <p:spPr>
          <a:xfrm>
            <a:off x="1337684" y="5714635"/>
            <a:ext cx="11927700" cy="303300"/>
          </a:xfrm>
          <a:prstGeom prst="rect">
            <a:avLst/>
          </a:prstGeom>
          <a:noFill/>
          <a:ln>
            <a:noFill/>
          </a:ln>
        </p:spPr>
        <p:txBody>
          <a:bodyPr anchorCtr="0" anchor="t" bIns="0" lIns="0" spcFirstLastPara="1" rIns="0" wrap="square" tIns="0">
            <a:noAutofit/>
          </a:bodyPr>
          <a:lstStyle/>
          <a:p>
            <a:pPr indent="0" lvl="0" marL="0" marR="0" rtl="0" algn="l">
              <a:lnSpc>
                <a:spcPct val="151612"/>
              </a:lnSpc>
              <a:spcBef>
                <a:spcPts val="0"/>
              </a:spcBef>
              <a:spcAft>
                <a:spcPts val="0"/>
              </a:spcAft>
              <a:buClr>
                <a:srgbClr val="384653"/>
              </a:buClr>
              <a:buSzPts val="1550"/>
              <a:buFont typeface="Roboto"/>
              <a:buNone/>
            </a:pPr>
            <a:r>
              <a:rPr b="0" i="0" lang="en-US" sz="1550" u="none" cap="none" strike="noStrike">
                <a:solidFill>
                  <a:srgbClr val="384653"/>
                </a:solidFill>
                <a:latin typeface="Roboto"/>
                <a:ea typeface="Roboto"/>
                <a:cs typeface="Roboto"/>
                <a:sym typeface="Roboto"/>
              </a:rPr>
              <a:t>Tự xác định bảng và cột cần kiểm tra để đáp ứng yêu cầu truy vấn.</a:t>
            </a:r>
            <a:endParaRPr b="0" i="0" sz="1550" u="none" cap="none" strike="noStrike"/>
          </a:p>
        </p:txBody>
      </p:sp>
      <p:sp>
        <p:nvSpPr>
          <p:cNvPr id="504" name="Google Shape;504;p65"/>
          <p:cNvSpPr/>
          <p:nvPr/>
        </p:nvSpPr>
        <p:spPr>
          <a:xfrm>
            <a:off x="995081" y="6430200"/>
            <a:ext cx="12613500" cy="1160700"/>
          </a:xfrm>
          <a:prstGeom prst="roundRect">
            <a:avLst>
              <a:gd fmla="val 7322" name="adj"/>
            </a:avLst>
          </a:prstGeom>
          <a:solidFill>
            <a:srgbClr val="D9EDF2"/>
          </a:solidFill>
          <a:ln cap="flat" cmpd="sng" w="9525">
            <a:solidFill>
              <a:srgbClr val="BFD3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65"/>
          <p:cNvSpPr/>
          <p:nvPr/>
        </p:nvSpPr>
        <p:spPr>
          <a:xfrm>
            <a:off x="1337684" y="6640107"/>
            <a:ext cx="4127700" cy="316200"/>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384653"/>
              </a:buClr>
              <a:buSzPts val="1950"/>
              <a:buFont typeface="Host Grotesk"/>
              <a:buNone/>
            </a:pPr>
            <a:r>
              <a:rPr b="0" i="0" lang="en-US" sz="1950" u="none" cap="none" strike="noStrike">
                <a:solidFill>
                  <a:srgbClr val="384653"/>
                </a:solidFill>
                <a:latin typeface="Host Grotesk"/>
                <a:ea typeface="Host Grotesk"/>
                <a:cs typeface="Host Grotesk"/>
                <a:sym typeface="Host Grotesk"/>
              </a:rPr>
              <a:t>Kiểm Tra và Tối Ưu</a:t>
            </a:r>
            <a:endParaRPr b="0" i="0" sz="1950" u="none" cap="none" strike="noStrike"/>
          </a:p>
        </p:txBody>
      </p:sp>
      <p:sp>
        <p:nvSpPr>
          <p:cNvPr id="506" name="Google Shape;506;p65"/>
          <p:cNvSpPr/>
          <p:nvPr/>
        </p:nvSpPr>
        <p:spPr>
          <a:xfrm>
            <a:off x="1337684" y="7077543"/>
            <a:ext cx="11927700" cy="303300"/>
          </a:xfrm>
          <a:prstGeom prst="rect">
            <a:avLst/>
          </a:prstGeom>
          <a:noFill/>
          <a:ln>
            <a:noFill/>
          </a:ln>
        </p:spPr>
        <p:txBody>
          <a:bodyPr anchorCtr="0" anchor="t" bIns="0" lIns="0" spcFirstLastPara="1" rIns="0" wrap="square" tIns="0">
            <a:noAutofit/>
          </a:bodyPr>
          <a:lstStyle/>
          <a:p>
            <a:pPr indent="0" lvl="0" marL="0" marR="0" rtl="0" algn="l">
              <a:lnSpc>
                <a:spcPct val="151612"/>
              </a:lnSpc>
              <a:spcBef>
                <a:spcPts val="0"/>
              </a:spcBef>
              <a:spcAft>
                <a:spcPts val="0"/>
              </a:spcAft>
              <a:buClr>
                <a:srgbClr val="384653"/>
              </a:buClr>
              <a:buSzPts val="1550"/>
              <a:buFont typeface="Roboto"/>
              <a:buNone/>
            </a:pPr>
            <a:r>
              <a:rPr b="0" i="0" lang="en-US" sz="1550" u="none" cap="none" strike="noStrike">
                <a:solidFill>
                  <a:srgbClr val="384653"/>
                </a:solidFill>
                <a:latin typeface="Roboto"/>
                <a:ea typeface="Roboto"/>
                <a:cs typeface="Roboto"/>
                <a:sym typeface="Roboto"/>
              </a:rPr>
              <a:t>Chỉ thực thi truy vấn khi đã xác nhận chính xác và hiệu quả.</a:t>
            </a:r>
            <a:endParaRPr b="0" i="0" sz="1550" u="none" cap="none" strike="noStrike"/>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pic>
        <p:nvPicPr>
          <p:cNvPr descr="preencoded.png" id="512" name="Google Shape;512;p66"/>
          <p:cNvPicPr preferRelativeResize="0"/>
          <p:nvPr/>
        </p:nvPicPr>
        <p:blipFill rotWithShape="1">
          <a:blip r:embed="rId3">
            <a:alphaModFix/>
          </a:blip>
          <a:srcRect b="0" l="0" r="0" t="0"/>
          <a:stretch/>
        </p:blipFill>
        <p:spPr>
          <a:xfrm>
            <a:off x="0" y="0"/>
            <a:ext cx="5760720" cy="8229600"/>
          </a:xfrm>
          <a:prstGeom prst="rect">
            <a:avLst/>
          </a:prstGeom>
          <a:noFill/>
          <a:ln>
            <a:noFill/>
          </a:ln>
        </p:spPr>
      </p:pic>
      <p:sp>
        <p:nvSpPr>
          <p:cNvPr id="513" name="Google Shape;513;p66"/>
          <p:cNvSpPr/>
          <p:nvPr/>
        </p:nvSpPr>
        <p:spPr>
          <a:xfrm>
            <a:off x="6182439" y="547211"/>
            <a:ext cx="7751921" cy="1243013"/>
          </a:xfrm>
          <a:prstGeom prst="rect">
            <a:avLst/>
          </a:prstGeom>
          <a:noFill/>
          <a:ln>
            <a:noFill/>
          </a:ln>
        </p:spPr>
        <p:txBody>
          <a:bodyPr anchorCtr="0" anchor="t" bIns="0" lIns="0" spcFirstLastPara="1" rIns="0" wrap="square" tIns="0">
            <a:noAutofit/>
          </a:bodyPr>
          <a:lstStyle/>
          <a:p>
            <a:pPr indent="0" lvl="0" marL="0" marR="0" rtl="0" algn="l">
              <a:lnSpc>
                <a:spcPct val="124358"/>
              </a:lnSpc>
              <a:spcBef>
                <a:spcPts val="0"/>
              </a:spcBef>
              <a:spcAft>
                <a:spcPts val="0"/>
              </a:spcAft>
              <a:buClr>
                <a:srgbClr val="2E3C4E"/>
              </a:buClr>
              <a:buSzPts val="3900"/>
              <a:buFont typeface="Host Grotesk"/>
              <a:buNone/>
            </a:pPr>
            <a:r>
              <a:rPr b="0" i="0" lang="en-US" sz="3900" u="none" cap="none" strike="noStrike">
                <a:solidFill>
                  <a:srgbClr val="2E3C4E"/>
                </a:solidFill>
                <a:latin typeface="Host Grotesk"/>
                <a:ea typeface="Host Grotesk"/>
                <a:cs typeface="Host Grotesk"/>
                <a:sym typeface="Host Grotesk"/>
              </a:rPr>
              <a:t>Tổng Kết Quy Trình Xử Lý Truy Vấn</a:t>
            </a:r>
            <a:endParaRPr b="0" i="0" sz="3900" u="none" cap="none" strike="noStrike"/>
          </a:p>
        </p:txBody>
      </p:sp>
      <p:pic>
        <p:nvPicPr>
          <p:cNvPr descr="preencoded.png" id="514" name="Google Shape;514;p66"/>
          <p:cNvPicPr preferRelativeResize="0"/>
          <p:nvPr/>
        </p:nvPicPr>
        <p:blipFill rotWithShape="1">
          <a:blip r:embed="rId4">
            <a:alphaModFix/>
          </a:blip>
          <a:srcRect b="0" l="0" r="0" t="0"/>
          <a:stretch/>
        </p:blipFill>
        <p:spPr>
          <a:xfrm>
            <a:off x="6182439" y="2088475"/>
            <a:ext cx="994410" cy="1193363"/>
          </a:xfrm>
          <a:prstGeom prst="rect">
            <a:avLst/>
          </a:prstGeom>
          <a:noFill/>
          <a:ln>
            <a:noFill/>
          </a:ln>
        </p:spPr>
      </p:pic>
      <p:sp>
        <p:nvSpPr>
          <p:cNvPr id="515" name="Google Shape;515;p66"/>
          <p:cNvSpPr/>
          <p:nvPr/>
        </p:nvSpPr>
        <p:spPr>
          <a:xfrm>
            <a:off x="7475101" y="2287310"/>
            <a:ext cx="2486263" cy="310753"/>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384653"/>
              </a:buClr>
              <a:buSzPts val="1950"/>
              <a:buFont typeface="Host Grotesk"/>
              <a:buNone/>
            </a:pPr>
            <a:r>
              <a:rPr b="0" i="0" lang="en-US" sz="1950" u="none" cap="none" strike="noStrike">
                <a:solidFill>
                  <a:srgbClr val="384653"/>
                </a:solidFill>
                <a:latin typeface="Host Grotesk"/>
                <a:ea typeface="Host Grotesk"/>
                <a:cs typeface="Host Grotesk"/>
                <a:sym typeface="Host Grotesk"/>
              </a:rPr>
              <a:t>Nhập Câu Hỏi</a:t>
            </a:r>
            <a:endParaRPr b="0" i="0" sz="1950" u="none" cap="none" strike="noStrike"/>
          </a:p>
        </p:txBody>
      </p:sp>
      <p:sp>
        <p:nvSpPr>
          <p:cNvPr id="516" name="Google Shape;516;p66"/>
          <p:cNvSpPr/>
          <p:nvPr/>
        </p:nvSpPr>
        <p:spPr>
          <a:xfrm>
            <a:off x="7475101" y="2717363"/>
            <a:ext cx="6459260" cy="298371"/>
          </a:xfrm>
          <a:prstGeom prst="rect">
            <a:avLst/>
          </a:prstGeom>
          <a:noFill/>
          <a:ln>
            <a:noFill/>
          </a:ln>
        </p:spPr>
        <p:txBody>
          <a:bodyPr anchorCtr="0" anchor="t" bIns="0" lIns="0" spcFirstLastPara="1" rIns="0" wrap="square" tIns="0">
            <a:noAutofit/>
          </a:bodyPr>
          <a:lstStyle/>
          <a:p>
            <a:pPr indent="0" lvl="0" marL="0" marR="0" rtl="0" algn="l">
              <a:lnSpc>
                <a:spcPct val="148387"/>
              </a:lnSpc>
              <a:spcBef>
                <a:spcPts val="0"/>
              </a:spcBef>
              <a:spcAft>
                <a:spcPts val="0"/>
              </a:spcAft>
              <a:buClr>
                <a:srgbClr val="384653"/>
              </a:buClr>
              <a:buSzPts val="1550"/>
              <a:buFont typeface="Roboto"/>
              <a:buNone/>
            </a:pPr>
            <a:r>
              <a:rPr b="0" i="0" lang="en-US" sz="1550" u="none" cap="none" strike="noStrike">
                <a:solidFill>
                  <a:srgbClr val="384653"/>
                </a:solidFill>
                <a:latin typeface="Roboto"/>
                <a:ea typeface="Roboto"/>
                <a:cs typeface="Roboto"/>
                <a:sym typeface="Roboto"/>
              </a:rPr>
              <a:t>Người dùng nhập truy vấn ngôn ngữ tự nhiên.</a:t>
            </a:r>
            <a:endParaRPr b="0" i="0" sz="1550" u="none" cap="none" strike="noStrike"/>
          </a:p>
        </p:txBody>
      </p:sp>
      <p:pic>
        <p:nvPicPr>
          <p:cNvPr descr="preencoded.png" id="517" name="Google Shape;517;p66"/>
          <p:cNvPicPr preferRelativeResize="0"/>
          <p:nvPr/>
        </p:nvPicPr>
        <p:blipFill rotWithShape="1">
          <a:blip r:embed="rId5">
            <a:alphaModFix/>
          </a:blip>
          <a:srcRect b="0" l="0" r="0" t="0"/>
          <a:stretch/>
        </p:blipFill>
        <p:spPr>
          <a:xfrm>
            <a:off x="6182439" y="3281839"/>
            <a:ext cx="994410" cy="1193363"/>
          </a:xfrm>
          <a:prstGeom prst="rect">
            <a:avLst/>
          </a:prstGeom>
          <a:noFill/>
          <a:ln>
            <a:noFill/>
          </a:ln>
        </p:spPr>
      </p:pic>
      <p:sp>
        <p:nvSpPr>
          <p:cNvPr id="518" name="Google Shape;518;p66"/>
          <p:cNvSpPr/>
          <p:nvPr/>
        </p:nvSpPr>
        <p:spPr>
          <a:xfrm>
            <a:off x="7475101" y="3480673"/>
            <a:ext cx="3120747" cy="310753"/>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384653"/>
              </a:buClr>
              <a:buSzPts val="1950"/>
              <a:buFont typeface="Host Grotesk"/>
              <a:buNone/>
            </a:pPr>
            <a:r>
              <a:rPr b="0" i="0" lang="en-US" sz="1950" u="none" cap="none" strike="noStrike">
                <a:solidFill>
                  <a:srgbClr val="384653"/>
                </a:solidFill>
                <a:latin typeface="Host Grotesk"/>
                <a:ea typeface="Host Grotesk"/>
                <a:cs typeface="Host Grotesk"/>
                <a:sym typeface="Host Grotesk"/>
              </a:rPr>
              <a:t>Phân Tích và Lập Kế Hoạch</a:t>
            </a:r>
            <a:endParaRPr b="0" i="0" sz="1950" u="none" cap="none" strike="noStrike"/>
          </a:p>
        </p:txBody>
      </p:sp>
      <p:sp>
        <p:nvSpPr>
          <p:cNvPr id="519" name="Google Shape;519;p66"/>
          <p:cNvSpPr/>
          <p:nvPr/>
        </p:nvSpPr>
        <p:spPr>
          <a:xfrm>
            <a:off x="7475101" y="3910727"/>
            <a:ext cx="6459260" cy="298371"/>
          </a:xfrm>
          <a:prstGeom prst="rect">
            <a:avLst/>
          </a:prstGeom>
          <a:noFill/>
          <a:ln>
            <a:noFill/>
          </a:ln>
        </p:spPr>
        <p:txBody>
          <a:bodyPr anchorCtr="0" anchor="t" bIns="0" lIns="0" spcFirstLastPara="1" rIns="0" wrap="square" tIns="0">
            <a:noAutofit/>
          </a:bodyPr>
          <a:lstStyle/>
          <a:p>
            <a:pPr indent="0" lvl="0" marL="0" marR="0" rtl="0" algn="l">
              <a:lnSpc>
                <a:spcPct val="148387"/>
              </a:lnSpc>
              <a:spcBef>
                <a:spcPts val="0"/>
              </a:spcBef>
              <a:spcAft>
                <a:spcPts val="0"/>
              </a:spcAft>
              <a:buClr>
                <a:srgbClr val="384653"/>
              </a:buClr>
              <a:buSzPts val="1550"/>
              <a:buFont typeface="Roboto"/>
              <a:buNone/>
            </a:pPr>
            <a:r>
              <a:rPr b="0" i="0" lang="en-US" sz="1550" u="none" cap="none" strike="noStrike">
                <a:solidFill>
                  <a:srgbClr val="384653"/>
                </a:solidFill>
                <a:latin typeface="Roboto"/>
                <a:ea typeface="Roboto"/>
                <a:cs typeface="Roboto"/>
                <a:sym typeface="Roboto"/>
              </a:rPr>
              <a:t>Agent dựa trên System Prompt để phân tích và lên kế hoạch xử lý.</a:t>
            </a:r>
            <a:endParaRPr b="0" i="0" sz="1550" u="none" cap="none" strike="noStrike"/>
          </a:p>
        </p:txBody>
      </p:sp>
      <p:pic>
        <p:nvPicPr>
          <p:cNvPr descr="preencoded.png" id="520" name="Google Shape;520;p66"/>
          <p:cNvPicPr preferRelativeResize="0"/>
          <p:nvPr/>
        </p:nvPicPr>
        <p:blipFill rotWithShape="1">
          <a:blip r:embed="rId6">
            <a:alphaModFix/>
          </a:blip>
          <a:srcRect b="0" l="0" r="0" t="0"/>
          <a:stretch/>
        </p:blipFill>
        <p:spPr>
          <a:xfrm>
            <a:off x="6182439" y="4475202"/>
            <a:ext cx="994410" cy="1193363"/>
          </a:xfrm>
          <a:prstGeom prst="rect">
            <a:avLst/>
          </a:prstGeom>
          <a:noFill/>
          <a:ln>
            <a:noFill/>
          </a:ln>
        </p:spPr>
      </p:pic>
      <p:sp>
        <p:nvSpPr>
          <p:cNvPr id="521" name="Google Shape;521;p66"/>
          <p:cNvSpPr/>
          <p:nvPr/>
        </p:nvSpPr>
        <p:spPr>
          <a:xfrm>
            <a:off x="7475101" y="4674037"/>
            <a:ext cx="2914531" cy="310753"/>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384653"/>
              </a:buClr>
              <a:buSzPts val="1950"/>
              <a:buFont typeface="Host Grotesk"/>
              <a:buNone/>
            </a:pPr>
            <a:r>
              <a:rPr b="0" i="0" lang="en-US" sz="1950" u="none" cap="none" strike="noStrike">
                <a:solidFill>
                  <a:srgbClr val="384653"/>
                </a:solidFill>
                <a:latin typeface="Host Grotesk"/>
                <a:ea typeface="Host Grotesk"/>
                <a:cs typeface="Host Grotesk"/>
                <a:sym typeface="Host Grotesk"/>
              </a:rPr>
              <a:t>Tạo và Thực Thi Truy Vấn</a:t>
            </a:r>
            <a:endParaRPr b="0" i="0" sz="1950" u="none" cap="none" strike="noStrike"/>
          </a:p>
        </p:txBody>
      </p:sp>
      <p:sp>
        <p:nvSpPr>
          <p:cNvPr id="522" name="Google Shape;522;p66"/>
          <p:cNvSpPr/>
          <p:nvPr/>
        </p:nvSpPr>
        <p:spPr>
          <a:xfrm>
            <a:off x="7475101" y="5104090"/>
            <a:ext cx="6459260" cy="298371"/>
          </a:xfrm>
          <a:prstGeom prst="rect">
            <a:avLst/>
          </a:prstGeom>
          <a:noFill/>
          <a:ln>
            <a:noFill/>
          </a:ln>
        </p:spPr>
        <p:txBody>
          <a:bodyPr anchorCtr="0" anchor="t" bIns="0" lIns="0" spcFirstLastPara="1" rIns="0" wrap="square" tIns="0">
            <a:noAutofit/>
          </a:bodyPr>
          <a:lstStyle/>
          <a:p>
            <a:pPr indent="0" lvl="0" marL="0" marR="0" rtl="0" algn="l">
              <a:lnSpc>
                <a:spcPct val="148387"/>
              </a:lnSpc>
              <a:spcBef>
                <a:spcPts val="0"/>
              </a:spcBef>
              <a:spcAft>
                <a:spcPts val="0"/>
              </a:spcAft>
              <a:buClr>
                <a:srgbClr val="384653"/>
              </a:buClr>
              <a:buSzPts val="1550"/>
              <a:buFont typeface="Roboto"/>
              <a:buNone/>
            </a:pPr>
            <a:r>
              <a:rPr b="0" i="0" lang="en-US" sz="1550" u="none" cap="none" strike="noStrike">
                <a:solidFill>
                  <a:srgbClr val="384653"/>
                </a:solidFill>
                <a:latin typeface="Roboto"/>
                <a:ea typeface="Roboto"/>
                <a:cs typeface="Roboto"/>
                <a:sym typeface="Roboto"/>
              </a:rPr>
              <a:t>Gọi Tool tạo truy vấn SQL và thực thi trên cơ sở dữ liệu.</a:t>
            </a:r>
            <a:endParaRPr b="0" i="0" sz="1550" u="none" cap="none" strike="noStrike"/>
          </a:p>
        </p:txBody>
      </p:sp>
      <p:pic>
        <p:nvPicPr>
          <p:cNvPr descr="preencoded.png" id="523" name="Google Shape;523;p66"/>
          <p:cNvPicPr preferRelativeResize="0"/>
          <p:nvPr/>
        </p:nvPicPr>
        <p:blipFill rotWithShape="1">
          <a:blip r:embed="rId7">
            <a:alphaModFix/>
          </a:blip>
          <a:srcRect b="0" l="0" r="0" t="0"/>
          <a:stretch/>
        </p:blipFill>
        <p:spPr>
          <a:xfrm>
            <a:off x="6182439" y="5668566"/>
            <a:ext cx="994410" cy="1193363"/>
          </a:xfrm>
          <a:prstGeom prst="rect">
            <a:avLst/>
          </a:prstGeom>
          <a:noFill/>
          <a:ln>
            <a:noFill/>
          </a:ln>
        </p:spPr>
      </p:pic>
      <p:sp>
        <p:nvSpPr>
          <p:cNvPr id="524" name="Google Shape;524;p66"/>
          <p:cNvSpPr/>
          <p:nvPr/>
        </p:nvSpPr>
        <p:spPr>
          <a:xfrm>
            <a:off x="7475101" y="5867400"/>
            <a:ext cx="2486263" cy="310753"/>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384653"/>
              </a:buClr>
              <a:buSzPts val="1950"/>
              <a:buFont typeface="Host Grotesk"/>
              <a:buNone/>
            </a:pPr>
            <a:r>
              <a:rPr b="0" i="0" lang="en-US" sz="1950" u="none" cap="none" strike="noStrike">
                <a:solidFill>
                  <a:srgbClr val="384653"/>
                </a:solidFill>
                <a:latin typeface="Host Grotesk"/>
                <a:ea typeface="Host Grotesk"/>
                <a:cs typeface="Host Grotesk"/>
                <a:sym typeface="Host Grotesk"/>
              </a:rPr>
              <a:t>Trả Kết Quả</a:t>
            </a:r>
            <a:endParaRPr b="0" i="0" sz="1950" u="none" cap="none" strike="noStrike"/>
          </a:p>
        </p:txBody>
      </p:sp>
      <p:sp>
        <p:nvSpPr>
          <p:cNvPr id="525" name="Google Shape;525;p66"/>
          <p:cNvSpPr/>
          <p:nvPr/>
        </p:nvSpPr>
        <p:spPr>
          <a:xfrm>
            <a:off x="7475101" y="6297454"/>
            <a:ext cx="6459260" cy="298371"/>
          </a:xfrm>
          <a:prstGeom prst="rect">
            <a:avLst/>
          </a:prstGeom>
          <a:noFill/>
          <a:ln>
            <a:noFill/>
          </a:ln>
        </p:spPr>
        <p:txBody>
          <a:bodyPr anchorCtr="0" anchor="t" bIns="0" lIns="0" spcFirstLastPara="1" rIns="0" wrap="square" tIns="0">
            <a:noAutofit/>
          </a:bodyPr>
          <a:lstStyle/>
          <a:p>
            <a:pPr indent="0" lvl="0" marL="0" marR="0" rtl="0" algn="l">
              <a:lnSpc>
                <a:spcPct val="148387"/>
              </a:lnSpc>
              <a:spcBef>
                <a:spcPts val="0"/>
              </a:spcBef>
              <a:spcAft>
                <a:spcPts val="0"/>
              </a:spcAft>
              <a:buClr>
                <a:srgbClr val="384653"/>
              </a:buClr>
              <a:buSzPts val="1550"/>
              <a:buFont typeface="Roboto"/>
              <a:buNone/>
            </a:pPr>
            <a:r>
              <a:rPr b="0" i="0" lang="en-US" sz="1550" u="none" cap="none" strike="noStrike">
                <a:solidFill>
                  <a:srgbClr val="384653"/>
                </a:solidFill>
                <a:latin typeface="Roboto"/>
                <a:ea typeface="Roboto"/>
                <a:cs typeface="Roboto"/>
                <a:sym typeface="Roboto"/>
              </a:rPr>
              <a:t>Hiển thị kết quả truy vấn cho người dùng.</a:t>
            </a:r>
            <a:endParaRPr b="0" i="0" sz="1550" u="none" cap="none" strike="noStrike"/>
          </a:p>
        </p:txBody>
      </p:sp>
      <p:sp>
        <p:nvSpPr>
          <p:cNvPr id="526" name="Google Shape;526;p66"/>
          <p:cNvSpPr/>
          <p:nvPr/>
        </p:nvSpPr>
        <p:spPr>
          <a:xfrm>
            <a:off x="6182439" y="7085648"/>
            <a:ext cx="7751921" cy="596741"/>
          </a:xfrm>
          <a:prstGeom prst="rect">
            <a:avLst/>
          </a:prstGeom>
          <a:noFill/>
          <a:ln>
            <a:noFill/>
          </a:ln>
        </p:spPr>
        <p:txBody>
          <a:bodyPr anchorCtr="0" anchor="t" bIns="0" lIns="0" spcFirstLastPara="1" rIns="0" wrap="square" tIns="0">
            <a:noAutofit/>
          </a:bodyPr>
          <a:lstStyle/>
          <a:p>
            <a:pPr indent="0" lvl="0" marL="0" marR="0" rtl="0" algn="l">
              <a:lnSpc>
                <a:spcPct val="148387"/>
              </a:lnSpc>
              <a:spcBef>
                <a:spcPts val="0"/>
              </a:spcBef>
              <a:spcAft>
                <a:spcPts val="0"/>
              </a:spcAft>
              <a:buClr>
                <a:srgbClr val="384653"/>
              </a:buClr>
              <a:buSzPts val="1550"/>
              <a:buFont typeface="Roboto"/>
              <a:buNone/>
            </a:pPr>
            <a:r>
              <a:rPr b="0" i="0" lang="en-US" sz="1550" u="none" cap="none" strike="noStrike">
                <a:solidFill>
                  <a:srgbClr val="384653"/>
                </a:solidFill>
                <a:latin typeface="Roboto"/>
                <a:ea typeface="Roboto"/>
                <a:cs typeface="Roboto"/>
                <a:sym typeface="Roboto"/>
              </a:rPr>
              <a:t>Quy trình này đảm bảo sự phối hợp hiệu quả giữa AI model, công cụ xử lý và cơ sở dữ liệu để trả lời chính xác các câu hỏi ngôn ngữ tự nhiên.</a:t>
            </a:r>
            <a:endParaRPr b="0" i="0" sz="1550" u="none" cap="none" strike="noStrike"/>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pic>
        <p:nvPicPr>
          <p:cNvPr descr="preencoded.png" id="532" name="Google Shape;532;p67"/>
          <p:cNvPicPr preferRelativeResize="0"/>
          <p:nvPr/>
        </p:nvPicPr>
        <p:blipFill rotWithShape="1">
          <a:blip r:embed="rId3">
            <a:alphaModFix/>
          </a:blip>
          <a:srcRect b="0" l="0" r="0" t="0"/>
          <a:stretch/>
        </p:blipFill>
        <p:spPr>
          <a:xfrm>
            <a:off x="8869680" y="0"/>
            <a:ext cx="5760720" cy="8229600"/>
          </a:xfrm>
          <a:prstGeom prst="rect">
            <a:avLst/>
          </a:prstGeom>
          <a:noFill/>
          <a:ln>
            <a:noFill/>
          </a:ln>
        </p:spPr>
      </p:pic>
      <p:sp>
        <p:nvSpPr>
          <p:cNvPr id="533" name="Google Shape;533;p67"/>
          <p:cNvSpPr/>
          <p:nvPr/>
        </p:nvSpPr>
        <p:spPr>
          <a:xfrm>
            <a:off x="793790" y="2184083"/>
            <a:ext cx="7556421" cy="1417558"/>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091C53"/>
              </a:buClr>
              <a:buSzPts val="4450"/>
              <a:buFont typeface="Instrument Sans"/>
              <a:buNone/>
            </a:pPr>
            <a:r>
              <a:rPr b="0" i="0" lang="en-US" sz="4450" u="none" cap="none" strike="noStrike">
                <a:solidFill>
                  <a:srgbClr val="091C53"/>
                </a:solidFill>
                <a:latin typeface="Instrument Sans"/>
                <a:ea typeface="Instrument Sans"/>
                <a:cs typeface="Instrument Sans"/>
                <a:sym typeface="Instrument Sans"/>
              </a:rPr>
              <a:t>Kết Quả Thử Nghiệm Hệ Thống Querymancer</a:t>
            </a:r>
            <a:endParaRPr b="0" i="0" sz="4450" u="none" cap="none" strike="noStrike"/>
          </a:p>
        </p:txBody>
      </p:sp>
      <p:sp>
        <p:nvSpPr>
          <p:cNvPr id="534" name="Google Shape;534;p67"/>
          <p:cNvSpPr/>
          <p:nvPr/>
        </p:nvSpPr>
        <p:spPr>
          <a:xfrm>
            <a:off x="793790" y="3941802"/>
            <a:ext cx="7556421"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1E3063"/>
              </a:buClr>
              <a:buSzPts val="1750"/>
              <a:buFont typeface="Instrument Sans"/>
              <a:buNone/>
            </a:pPr>
            <a:r>
              <a:rPr b="0" i="0" lang="en-US" sz="1750" u="none" cap="none" strike="noStrike">
                <a:solidFill>
                  <a:srgbClr val="1E3063"/>
                </a:solidFill>
                <a:latin typeface="Instrument Sans"/>
                <a:ea typeface="Instrument Sans"/>
                <a:cs typeface="Instrument Sans"/>
                <a:sym typeface="Instrument Sans"/>
              </a:rPr>
              <a:t>Chúng ta sẽ cùng tìm hiểu về môi trường triển khai, thiết kế cơ sở dữ liệu, dữ liệu demo và kết quả thử nghiệm của hệ thống Querymancer. Bài trình bày này cung cấp cái nhìn chi tiết về cách xây dựng và kiểm thử AI agent trong môi trường thực tế.</a:t>
            </a:r>
            <a:endParaRPr b="0" i="0" sz="1750" u="none" cap="none" strike="noStrike"/>
          </a:p>
        </p:txBody>
      </p:sp>
      <p:sp>
        <p:nvSpPr>
          <p:cNvPr id="535" name="Google Shape;535;p67"/>
          <p:cNvSpPr/>
          <p:nvPr/>
        </p:nvSpPr>
        <p:spPr>
          <a:xfrm>
            <a:off x="793790" y="5665470"/>
            <a:ext cx="362903" cy="362903"/>
          </a:xfrm>
          <a:prstGeom prst="roundRect">
            <a:avLst>
              <a:gd fmla="val 25194296"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pic>
        <p:nvPicPr>
          <p:cNvPr descr="preencoded.png" id="541" name="Google Shape;541;p68"/>
          <p:cNvPicPr preferRelativeResize="0"/>
          <p:nvPr/>
        </p:nvPicPr>
        <p:blipFill rotWithShape="1">
          <a:blip r:embed="rId3">
            <a:alphaModFix/>
          </a:blip>
          <a:srcRect b="0" l="0" r="0" t="0"/>
          <a:stretch/>
        </p:blipFill>
        <p:spPr>
          <a:xfrm>
            <a:off x="8869680" y="0"/>
            <a:ext cx="5760720" cy="8229600"/>
          </a:xfrm>
          <a:prstGeom prst="rect">
            <a:avLst/>
          </a:prstGeom>
          <a:noFill/>
          <a:ln>
            <a:noFill/>
          </a:ln>
        </p:spPr>
      </p:pic>
      <p:sp>
        <p:nvSpPr>
          <p:cNvPr id="542" name="Google Shape;542;p68"/>
          <p:cNvSpPr/>
          <p:nvPr/>
        </p:nvSpPr>
        <p:spPr>
          <a:xfrm>
            <a:off x="793790" y="1271230"/>
            <a:ext cx="7556421" cy="1417558"/>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091C53"/>
              </a:buClr>
              <a:buSzPts val="4450"/>
              <a:buFont typeface="Instrument Sans"/>
              <a:buNone/>
            </a:pPr>
            <a:r>
              <a:rPr b="0" i="0" lang="en-US" sz="4450" u="none" cap="none" strike="noStrike">
                <a:solidFill>
                  <a:srgbClr val="091C53"/>
                </a:solidFill>
                <a:latin typeface="Instrument Sans"/>
                <a:ea typeface="Instrument Sans"/>
                <a:cs typeface="Instrument Sans"/>
                <a:sym typeface="Instrument Sans"/>
              </a:rPr>
              <a:t>Môi Trường Triển Khai Phần Mềm và Phần Cứng</a:t>
            </a:r>
            <a:endParaRPr b="0" i="0" sz="4450" u="none" cap="none" strike="noStrike"/>
          </a:p>
        </p:txBody>
      </p:sp>
      <p:sp>
        <p:nvSpPr>
          <p:cNvPr id="543" name="Google Shape;543;p68"/>
          <p:cNvSpPr/>
          <p:nvPr/>
        </p:nvSpPr>
        <p:spPr>
          <a:xfrm>
            <a:off x="793790" y="3028950"/>
            <a:ext cx="7556421" cy="2032754"/>
          </a:xfrm>
          <a:prstGeom prst="roundRect">
            <a:avLst>
              <a:gd fmla="val 10043" name="adj"/>
            </a:avLst>
          </a:prstGeom>
          <a:solidFill>
            <a:srgbClr val="CEE6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68"/>
          <p:cNvSpPr/>
          <p:nvPr/>
        </p:nvSpPr>
        <p:spPr>
          <a:xfrm>
            <a:off x="1020604" y="3255764"/>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E3063"/>
              </a:buClr>
              <a:buSzPts val="2200"/>
              <a:buFont typeface="Instrument Sans"/>
              <a:buNone/>
            </a:pPr>
            <a:r>
              <a:rPr b="0" i="0" lang="en-US" sz="2200" u="none" cap="none" strike="noStrike">
                <a:solidFill>
                  <a:srgbClr val="1E3063"/>
                </a:solidFill>
                <a:latin typeface="Instrument Sans"/>
                <a:ea typeface="Instrument Sans"/>
                <a:cs typeface="Instrument Sans"/>
                <a:sym typeface="Instrument Sans"/>
              </a:rPr>
              <a:t>Phần mềm</a:t>
            </a:r>
            <a:endParaRPr b="0" i="0" sz="2200" u="none" cap="none" strike="noStrike"/>
          </a:p>
        </p:txBody>
      </p:sp>
      <p:sp>
        <p:nvSpPr>
          <p:cNvPr id="545" name="Google Shape;545;p68"/>
          <p:cNvSpPr/>
          <p:nvPr/>
        </p:nvSpPr>
        <p:spPr>
          <a:xfrm>
            <a:off x="1020604" y="3746183"/>
            <a:ext cx="7102793" cy="108870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1E3063"/>
              </a:buClr>
              <a:buSzPts val="1750"/>
              <a:buFont typeface="Instrument Sans"/>
              <a:buNone/>
            </a:pPr>
            <a:r>
              <a:rPr b="0" i="0" lang="en-US" sz="1750" u="none" cap="none" strike="noStrike">
                <a:solidFill>
                  <a:srgbClr val="1E3063"/>
                </a:solidFill>
                <a:latin typeface="Instrument Sans"/>
                <a:ea typeface="Instrument Sans"/>
                <a:cs typeface="Instrument Sans"/>
                <a:sym typeface="Instrument Sans"/>
              </a:rPr>
              <a:t>Sử dụng Python 3.x, Streamlit cho giao diện, LangChain quản lý Agent, pyodbc kết nối SQL Server, và Ollama hoặc API mô hình Groq.</a:t>
            </a:r>
            <a:endParaRPr b="0" i="0" sz="1750" u="none" cap="none" strike="noStrike"/>
          </a:p>
        </p:txBody>
      </p:sp>
      <p:sp>
        <p:nvSpPr>
          <p:cNvPr id="546" name="Google Shape;546;p68"/>
          <p:cNvSpPr/>
          <p:nvPr/>
        </p:nvSpPr>
        <p:spPr>
          <a:xfrm>
            <a:off x="793790" y="5288518"/>
            <a:ext cx="7556421" cy="1669852"/>
          </a:xfrm>
          <a:prstGeom prst="roundRect">
            <a:avLst>
              <a:gd fmla="val 12225" name="adj"/>
            </a:avLst>
          </a:prstGeom>
          <a:solidFill>
            <a:srgbClr val="CEE6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68"/>
          <p:cNvSpPr/>
          <p:nvPr/>
        </p:nvSpPr>
        <p:spPr>
          <a:xfrm>
            <a:off x="1020604" y="5515332"/>
            <a:ext cx="3477578"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E3063"/>
              </a:buClr>
              <a:buSzPts val="2200"/>
              <a:buFont typeface="Instrument Sans"/>
              <a:buNone/>
            </a:pPr>
            <a:r>
              <a:rPr b="0" i="0" lang="en-US" sz="2200" u="none" cap="none" strike="noStrike">
                <a:solidFill>
                  <a:srgbClr val="1E3063"/>
                </a:solidFill>
                <a:latin typeface="Instrument Sans"/>
                <a:ea typeface="Instrument Sans"/>
                <a:cs typeface="Instrument Sans"/>
                <a:sym typeface="Instrument Sans"/>
              </a:rPr>
              <a:t>Phần cứng &amp; Hệ điều hành</a:t>
            </a:r>
            <a:endParaRPr b="0" i="0" sz="2200" u="none" cap="none" strike="noStrike"/>
          </a:p>
        </p:txBody>
      </p:sp>
      <p:sp>
        <p:nvSpPr>
          <p:cNvPr id="548" name="Google Shape;548;p68"/>
          <p:cNvSpPr/>
          <p:nvPr/>
        </p:nvSpPr>
        <p:spPr>
          <a:xfrm>
            <a:off x="1020604" y="6005751"/>
            <a:ext cx="7102793"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1E3063"/>
              </a:buClr>
              <a:buSzPts val="1750"/>
              <a:buFont typeface="Instrument Sans"/>
              <a:buNone/>
            </a:pPr>
            <a:r>
              <a:rPr b="0" i="0" lang="en-US" sz="1750" u="none" cap="none" strike="noStrike">
                <a:solidFill>
                  <a:srgbClr val="1E3063"/>
                </a:solidFill>
                <a:latin typeface="Instrument Sans"/>
                <a:ea typeface="Instrument Sans"/>
                <a:cs typeface="Instrument Sans"/>
                <a:sym typeface="Instrument Sans"/>
              </a:rPr>
              <a:t>Triển khai trên CPU, RAM phù hợp với hệ điều hành Ubuntu hoặc Windows.</a:t>
            </a:r>
            <a:endParaRPr b="0" i="0" sz="1750" u="none" cap="none" strike="noStrike"/>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69"/>
          <p:cNvSpPr/>
          <p:nvPr/>
        </p:nvSpPr>
        <p:spPr>
          <a:xfrm>
            <a:off x="789978" y="742079"/>
            <a:ext cx="10482300" cy="7089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091C53"/>
              </a:buClr>
              <a:buSzPts val="4450"/>
              <a:buFont typeface="Instrument Sans"/>
              <a:buNone/>
            </a:pPr>
            <a:r>
              <a:rPr b="0" i="0" lang="en-US" sz="4450" u="none" cap="none" strike="noStrike">
                <a:solidFill>
                  <a:srgbClr val="091C53"/>
                </a:solidFill>
                <a:latin typeface="Instrument Sans"/>
                <a:ea typeface="Instrument Sans"/>
                <a:cs typeface="Instrument Sans"/>
                <a:sym typeface="Instrument Sans"/>
              </a:rPr>
              <a:t>Thiết Kế Cơ Sở Dữ Liệu để Test AI Agent</a:t>
            </a:r>
            <a:endParaRPr b="0" i="0" sz="4450" u="none" cap="none" strike="noStrike"/>
          </a:p>
        </p:txBody>
      </p:sp>
      <p:sp>
        <p:nvSpPr>
          <p:cNvPr id="555" name="Google Shape;555;p69"/>
          <p:cNvSpPr/>
          <p:nvPr/>
        </p:nvSpPr>
        <p:spPr>
          <a:xfrm>
            <a:off x="789978" y="2017834"/>
            <a:ext cx="28353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91C53"/>
              </a:buClr>
              <a:buSzPts val="2200"/>
              <a:buFont typeface="Instrument Sans"/>
              <a:buNone/>
            </a:pPr>
            <a:r>
              <a:rPr b="0" i="0" lang="en-US" sz="2200" u="none" cap="none" strike="noStrike">
                <a:solidFill>
                  <a:srgbClr val="091C53"/>
                </a:solidFill>
                <a:latin typeface="Instrument Sans"/>
                <a:ea typeface="Instrument Sans"/>
                <a:cs typeface="Instrument Sans"/>
                <a:sym typeface="Instrument Sans"/>
              </a:rPr>
              <a:t>Database Diagram</a:t>
            </a:r>
            <a:endParaRPr b="0" i="0" sz="2200" u="none" cap="none" strike="noStrike"/>
          </a:p>
        </p:txBody>
      </p:sp>
      <p:sp>
        <p:nvSpPr>
          <p:cNvPr id="556" name="Google Shape;556;p69"/>
          <p:cNvSpPr/>
          <p:nvPr/>
        </p:nvSpPr>
        <p:spPr>
          <a:xfrm>
            <a:off x="789978" y="2598978"/>
            <a:ext cx="6244800" cy="10887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1E3063"/>
              </a:buClr>
              <a:buSzPts val="1750"/>
              <a:buFont typeface="Instrument Sans"/>
              <a:buNone/>
            </a:pPr>
            <a:r>
              <a:rPr b="0" i="0" lang="en-US" sz="1750" u="none" cap="none" strike="noStrike">
                <a:solidFill>
                  <a:srgbClr val="1E3063"/>
                </a:solidFill>
                <a:latin typeface="Instrument Sans"/>
                <a:ea typeface="Instrument Sans"/>
                <a:cs typeface="Instrument Sans"/>
                <a:sym typeface="Instrument Sans"/>
              </a:rPr>
              <a:t>Giới thiệu sơ đồ cơ sở dữ liệu dùng để kiểm thử hệ thống Querymancer, thể hiện các bảng và mối quan hệ giữa chúng.</a:t>
            </a:r>
            <a:endParaRPr b="0" i="0" sz="1750" u="none" cap="none" strike="noStrike"/>
          </a:p>
        </p:txBody>
      </p:sp>
      <p:sp>
        <p:nvSpPr>
          <p:cNvPr id="557" name="Google Shape;557;p69"/>
          <p:cNvSpPr/>
          <p:nvPr/>
        </p:nvSpPr>
        <p:spPr>
          <a:xfrm>
            <a:off x="789958" y="3914534"/>
            <a:ext cx="28353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91C53"/>
              </a:buClr>
              <a:buSzPts val="2200"/>
              <a:buFont typeface="Instrument Sans"/>
              <a:buNone/>
            </a:pPr>
            <a:r>
              <a:rPr b="0" i="0" lang="en-US" sz="2200" u="none" cap="none" strike="noStrike">
                <a:solidFill>
                  <a:srgbClr val="091C53"/>
                </a:solidFill>
                <a:latin typeface="Instrument Sans"/>
                <a:ea typeface="Instrument Sans"/>
                <a:cs typeface="Instrument Sans"/>
                <a:sym typeface="Instrument Sans"/>
              </a:rPr>
              <a:t>Thiết kế bảng</a:t>
            </a:r>
            <a:endParaRPr b="0" i="0" sz="2200" u="none" cap="none" strike="noStrike"/>
          </a:p>
        </p:txBody>
      </p:sp>
      <p:sp>
        <p:nvSpPr>
          <p:cNvPr id="558" name="Google Shape;558;p69"/>
          <p:cNvSpPr/>
          <p:nvPr/>
        </p:nvSpPr>
        <p:spPr>
          <a:xfrm>
            <a:off x="789958" y="4495678"/>
            <a:ext cx="6244800" cy="363000"/>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1E3063"/>
              </a:buClr>
              <a:buSzPts val="1750"/>
              <a:buFont typeface="Instrument Sans"/>
              <a:buChar char="•"/>
            </a:pPr>
            <a:r>
              <a:rPr b="0" i="0" lang="en-US" sz="1750" u="none" cap="none" strike="noStrike">
                <a:solidFill>
                  <a:srgbClr val="1E3063"/>
                </a:solidFill>
                <a:latin typeface="Instrument Sans"/>
                <a:ea typeface="Instrument Sans"/>
                <a:cs typeface="Instrument Sans"/>
                <a:sym typeface="Instrument Sans"/>
              </a:rPr>
              <a:t>Customers: thông tin khách hàng</a:t>
            </a:r>
            <a:endParaRPr b="0" i="0" sz="1750" u="none" cap="none" strike="noStrike"/>
          </a:p>
        </p:txBody>
      </p:sp>
      <p:sp>
        <p:nvSpPr>
          <p:cNvPr id="559" name="Google Shape;559;p69"/>
          <p:cNvSpPr/>
          <p:nvPr/>
        </p:nvSpPr>
        <p:spPr>
          <a:xfrm>
            <a:off x="789958" y="4937876"/>
            <a:ext cx="6244800" cy="363000"/>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1E3063"/>
              </a:buClr>
              <a:buSzPts val="1750"/>
              <a:buFont typeface="Instrument Sans"/>
              <a:buChar char="•"/>
            </a:pPr>
            <a:r>
              <a:rPr b="0" i="0" lang="en-US" sz="1750" u="none" cap="none" strike="noStrike">
                <a:solidFill>
                  <a:srgbClr val="1E3063"/>
                </a:solidFill>
                <a:latin typeface="Instrument Sans"/>
                <a:ea typeface="Instrument Sans"/>
                <a:cs typeface="Instrument Sans"/>
                <a:sym typeface="Instrument Sans"/>
              </a:rPr>
              <a:t>Orders: đơn hàng</a:t>
            </a:r>
            <a:endParaRPr b="0" i="0" sz="1750" u="none" cap="none" strike="noStrike"/>
          </a:p>
        </p:txBody>
      </p:sp>
      <p:sp>
        <p:nvSpPr>
          <p:cNvPr id="560" name="Google Shape;560;p69"/>
          <p:cNvSpPr/>
          <p:nvPr/>
        </p:nvSpPr>
        <p:spPr>
          <a:xfrm>
            <a:off x="789958" y="5380074"/>
            <a:ext cx="6244800" cy="363000"/>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1E3063"/>
              </a:buClr>
              <a:buSzPts val="1750"/>
              <a:buFont typeface="Instrument Sans"/>
              <a:buChar char="•"/>
            </a:pPr>
            <a:r>
              <a:rPr b="0" i="0" lang="en-US" sz="1750" u="none" cap="none" strike="noStrike">
                <a:solidFill>
                  <a:srgbClr val="1E3063"/>
                </a:solidFill>
                <a:latin typeface="Instrument Sans"/>
                <a:ea typeface="Instrument Sans"/>
                <a:cs typeface="Instrument Sans"/>
                <a:sym typeface="Instrument Sans"/>
              </a:rPr>
              <a:t>Order_items: chi tiết sản phẩm trong đơn</a:t>
            </a:r>
            <a:endParaRPr b="0" i="0" sz="1750" u="none" cap="none" strike="noStrike"/>
          </a:p>
        </p:txBody>
      </p:sp>
      <p:sp>
        <p:nvSpPr>
          <p:cNvPr id="561" name="Google Shape;561;p69"/>
          <p:cNvSpPr/>
          <p:nvPr/>
        </p:nvSpPr>
        <p:spPr>
          <a:xfrm>
            <a:off x="789996" y="5743073"/>
            <a:ext cx="6244800" cy="363000"/>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1E3063"/>
              </a:buClr>
              <a:buSzPts val="1750"/>
              <a:buFont typeface="Instrument Sans"/>
              <a:buChar char="•"/>
            </a:pPr>
            <a:r>
              <a:rPr b="0" i="0" lang="en-US" sz="1750" u="none" cap="none" strike="noStrike">
                <a:solidFill>
                  <a:srgbClr val="1E3063"/>
                </a:solidFill>
                <a:latin typeface="Instrument Sans"/>
                <a:ea typeface="Instrument Sans"/>
                <a:cs typeface="Instrument Sans"/>
                <a:sym typeface="Instrument Sans"/>
              </a:rPr>
              <a:t>Products: thông tin sản phẩm</a:t>
            </a:r>
            <a:endParaRPr b="0" i="0" sz="1750" u="none" cap="none" strike="noStrike"/>
          </a:p>
        </p:txBody>
      </p:sp>
      <p:pic>
        <p:nvPicPr>
          <p:cNvPr id="562" name="Google Shape;562;p69"/>
          <p:cNvPicPr preferRelativeResize="0"/>
          <p:nvPr/>
        </p:nvPicPr>
        <p:blipFill>
          <a:blip r:embed="rId3">
            <a:alphaModFix/>
          </a:blip>
          <a:stretch>
            <a:fillRect/>
          </a:stretch>
        </p:blipFill>
        <p:spPr>
          <a:xfrm>
            <a:off x="8147373" y="1857650"/>
            <a:ext cx="5272475" cy="51886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70"/>
          <p:cNvSpPr/>
          <p:nvPr/>
        </p:nvSpPr>
        <p:spPr>
          <a:xfrm>
            <a:off x="793790" y="623662"/>
            <a:ext cx="9308100" cy="7089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091C53"/>
              </a:buClr>
              <a:buSzPts val="4450"/>
              <a:buFont typeface="Instrument Sans"/>
              <a:buNone/>
            </a:pPr>
            <a:r>
              <a:rPr b="0" i="0" lang="en-US" sz="4450" u="none" cap="none" strike="noStrike">
                <a:solidFill>
                  <a:srgbClr val="091C53"/>
                </a:solidFill>
                <a:latin typeface="Instrument Sans"/>
                <a:ea typeface="Instrument Sans"/>
                <a:cs typeface="Instrument Sans"/>
                <a:sym typeface="Instrument Sans"/>
              </a:rPr>
              <a:t>Dữ Liệu Demo Cho Các Bảng Chính</a:t>
            </a:r>
            <a:endParaRPr b="0" i="0" sz="4450" u="none" cap="none" strike="noStrike"/>
          </a:p>
        </p:txBody>
      </p:sp>
      <p:sp>
        <p:nvSpPr>
          <p:cNvPr id="569" name="Google Shape;569;p70"/>
          <p:cNvSpPr/>
          <p:nvPr/>
        </p:nvSpPr>
        <p:spPr>
          <a:xfrm>
            <a:off x="793790" y="1617041"/>
            <a:ext cx="31836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91C53"/>
              </a:buClr>
              <a:buSzPts val="2200"/>
              <a:buFont typeface="Instrument Sans"/>
              <a:buNone/>
            </a:pPr>
            <a:r>
              <a:rPr b="0" i="0" lang="en-US" sz="2200" u="none" cap="none" strike="noStrike">
                <a:solidFill>
                  <a:srgbClr val="091C53"/>
                </a:solidFill>
                <a:latin typeface="Instrument Sans"/>
                <a:ea typeface="Instrument Sans"/>
                <a:cs typeface="Instrument Sans"/>
                <a:sym typeface="Instrument Sans"/>
              </a:rPr>
              <a:t>Dữ liệu bảng Customers</a:t>
            </a:r>
            <a:endParaRPr b="0" i="0" sz="2200" u="none" cap="none" strike="noStrike"/>
          </a:p>
        </p:txBody>
      </p:sp>
      <p:sp>
        <p:nvSpPr>
          <p:cNvPr id="570" name="Google Shape;570;p70"/>
          <p:cNvSpPr/>
          <p:nvPr/>
        </p:nvSpPr>
        <p:spPr>
          <a:xfrm>
            <a:off x="728071" y="4793104"/>
            <a:ext cx="29343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91C53"/>
              </a:buClr>
              <a:buSzPts val="2200"/>
              <a:buFont typeface="Instrument Sans"/>
              <a:buNone/>
            </a:pPr>
            <a:r>
              <a:rPr b="0" i="0" lang="en-US" sz="2200" u="none" cap="none" strike="noStrike">
                <a:solidFill>
                  <a:srgbClr val="091C53"/>
                </a:solidFill>
                <a:latin typeface="Instrument Sans"/>
                <a:ea typeface="Instrument Sans"/>
                <a:cs typeface="Instrument Sans"/>
                <a:sym typeface="Instrument Sans"/>
              </a:rPr>
              <a:t>Dữ liệu bảng Products</a:t>
            </a:r>
            <a:endParaRPr b="0" i="0" sz="2200" u="none" cap="none" strike="noStrike"/>
          </a:p>
        </p:txBody>
      </p:sp>
      <p:graphicFrame>
        <p:nvGraphicFramePr>
          <p:cNvPr id="571" name="Google Shape;571;p70"/>
          <p:cNvGraphicFramePr/>
          <p:nvPr/>
        </p:nvGraphicFramePr>
        <p:xfrm>
          <a:off x="6124575" y="1416425"/>
          <a:ext cx="3000000" cy="3000000"/>
        </p:xfrm>
        <a:graphic>
          <a:graphicData uri="http://schemas.openxmlformats.org/drawingml/2006/table">
            <a:tbl>
              <a:tblPr>
                <a:noFill/>
                <a:tableStyleId>{4DE58F15-6FED-41AD-9371-107E5655BA19}</a:tableStyleId>
              </a:tblPr>
              <a:tblGrid>
                <a:gridCol w="457200"/>
                <a:gridCol w="1181100"/>
                <a:gridCol w="1200150"/>
                <a:gridCol w="1847850"/>
                <a:gridCol w="1152525"/>
                <a:gridCol w="895350"/>
                <a:gridCol w="1771650"/>
              </a:tblGrid>
              <a:tr h="257175">
                <a:tc>
                  <a:txBody>
                    <a:bodyPr/>
                    <a:lstStyle/>
                    <a:p>
                      <a:pPr indent="0" lvl="0" marL="0" rtl="0" algn="just">
                        <a:lnSpc>
                          <a:spcPct val="150000"/>
                        </a:lnSpc>
                        <a:spcBef>
                          <a:spcPts val="1200"/>
                        </a:spcBef>
                        <a:spcAft>
                          <a:spcPts val="1200"/>
                        </a:spcAft>
                        <a:buNone/>
                      </a:pPr>
                      <a:r>
                        <a:rPr b="1" lang="en-US" sz="1100"/>
                        <a:t>id</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b="1" lang="en-US" sz="1100"/>
                        <a:t>first_name</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b="1" lang="en-US" sz="1100"/>
                        <a:t>last_name</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b="1" lang="en-US" sz="1100"/>
                        <a:t>email</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b="1" lang="en-US" sz="1100"/>
                        <a:t>phone</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b="1" lang="en-US" sz="1100"/>
                        <a:t>address</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b="1" lang="en-US" sz="1100"/>
                        <a:t>created_at</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7175">
                <a:tc>
                  <a:txBody>
                    <a:bodyPr/>
                    <a:lstStyle/>
                    <a:p>
                      <a:pPr indent="0" lvl="0" marL="0" rtl="0" algn="just">
                        <a:lnSpc>
                          <a:spcPct val="150000"/>
                        </a:lnSpc>
                        <a:spcBef>
                          <a:spcPts val="1200"/>
                        </a:spcBef>
                        <a:spcAft>
                          <a:spcPts val="1200"/>
                        </a:spcAft>
                        <a:buNone/>
                      </a:pPr>
                      <a:r>
                        <a:rPr lang="en-US"/>
                        <a:t>1</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lang="en-US"/>
                        <a:t>John</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lang="en-US"/>
                        <a:t>Doe</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lang="en-US"/>
                        <a:t>john.doe@example.com</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lang="en-US"/>
                        <a:t>123456789</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lang="en-US"/>
                        <a:t>123 Main St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lang="en-US"/>
                        <a:t>[Ngày giờ hiện tại]</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7175">
                <a:tc>
                  <a:txBody>
                    <a:bodyPr/>
                    <a:lstStyle/>
                    <a:p>
                      <a:pPr indent="0" lvl="0" marL="0" rtl="0" algn="just">
                        <a:lnSpc>
                          <a:spcPct val="150000"/>
                        </a:lnSpc>
                        <a:spcBef>
                          <a:spcPts val="1200"/>
                        </a:spcBef>
                        <a:spcAft>
                          <a:spcPts val="1200"/>
                        </a:spcAft>
                        <a:buNone/>
                      </a:pPr>
                      <a:r>
                        <a:rPr lang="en-US"/>
                        <a:t>2</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lang="en-US"/>
                        <a:t>Jane</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lang="en-US"/>
                        <a:t>Smith</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lang="en-US"/>
                        <a:t>jane.smith@example.com</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lang="en-US"/>
                        <a:t>987654321</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lang="en-US"/>
                        <a:t>456 Elm St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lang="en-US"/>
                        <a:t>[Ngày giờ hiện tại]</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graphicFrame>
        <p:nvGraphicFramePr>
          <p:cNvPr id="572" name="Google Shape;572;p70"/>
          <p:cNvGraphicFramePr/>
          <p:nvPr/>
        </p:nvGraphicFramePr>
        <p:xfrm>
          <a:off x="5670175" y="4412100"/>
          <a:ext cx="3000000" cy="3000000"/>
        </p:xfrm>
        <a:graphic>
          <a:graphicData uri="http://schemas.openxmlformats.org/drawingml/2006/table">
            <a:tbl>
              <a:tblPr>
                <a:noFill/>
                <a:tableStyleId>{4DE58F15-6FED-41AD-9371-107E5655BA19}</a:tableStyleId>
              </a:tblPr>
              <a:tblGrid>
                <a:gridCol w="438150"/>
                <a:gridCol w="1219200"/>
                <a:gridCol w="1809750"/>
                <a:gridCol w="904875"/>
                <a:gridCol w="1371600"/>
                <a:gridCol w="962025"/>
                <a:gridCol w="1781175"/>
              </a:tblGrid>
              <a:tr h="257175">
                <a:tc>
                  <a:txBody>
                    <a:bodyPr/>
                    <a:lstStyle/>
                    <a:p>
                      <a:pPr indent="0" lvl="0" marL="0" rtl="0" algn="just">
                        <a:lnSpc>
                          <a:spcPct val="150000"/>
                        </a:lnSpc>
                        <a:spcBef>
                          <a:spcPts val="1200"/>
                        </a:spcBef>
                        <a:spcAft>
                          <a:spcPts val="1200"/>
                        </a:spcAft>
                        <a:buNone/>
                      </a:pPr>
                      <a:r>
                        <a:rPr b="1" lang="en-US" sz="1100"/>
                        <a:t>id</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b="1" lang="en-US" sz="1100"/>
                        <a:t>name</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b="1" lang="en-US" sz="1100"/>
                        <a:t>description</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b="1" lang="en-US" sz="1100"/>
                        <a:t>price</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b="1" lang="en-US" sz="1100"/>
                        <a:t>category</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b="1" lang="en-US" sz="1100"/>
                        <a:t>in_stock</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b="1" lang="en-US" sz="1100"/>
                        <a:t>created_at</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7175">
                <a:tc>
                  <a:txBody>
                    <a:bodyPr/>
                    <a:lstStyle/>
                    <a:p>
                      <a:pPr indent="0" lvl="0" marL="0" rtl="0" algn="just">
                        <a:lnSpc>
                          <a:spcPct val="150000"/>
                        </a:lnSpc>
                        <a:spcBef>
                          <a:spcPts val="1200"/>
                        </a:spcBef>
                        <a:spcAft>
                          <a:spcPts val="1200"/>
                        </a:spcAft>
                        <a:buNone/>
                      </a:pPr>
                      <a:r>
                        <a:rPr lang="en-US"/>
                        <a:t>1</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lang="en-US"/>
                        <a:t>Laptop</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lang="en-US"/>
                        <a:t>Powerful laptop</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lang="en-US"/>
                        <a:t>1200.00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lang="en-US"/>
                        <a:t>Electronics</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lang="en-US"/>
                        <a:t>50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lang="en-US"/>
                        <a:t>[Ngày giờ hiện tại]</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85775">
                <a:tc>
                  <a:txBody>
                    <a:bodyPr/>
                    <a:lstStyle/>
                    <a:p>
                      <a:pPr indent="0" lvl="0" marL="0" rtl="0" algn="just">
                        <a:lnSpc>
                          <a:spcPct val="150000"/>
                        </a:lnSpc>
                        <a:spcBef>
                          <a:spcPts val="1200"/>
                        </a:spcBef>
                        <a:spcAft>
                          <a:spcPts val="1200"/>
                        </a:spcAft>
                        <a:buNone/>
                      </a:pPr>
                      <a:r>
                        <a:rPr lang="en-US"/>
                        <a:t>2</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lang="en-US"/>
                        <a:t>Phone</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lang="en-US"/>
                        <a:t>Smartphone with good camera</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lang="en-US"/>
                        <a:t>700.00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lang="en-US"/>
                        <a:t>Electronics</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lang="en-US"/>
                        <a:t>100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lang="en-US"/>
                        <a:t>[Ngày giờ hiện tại]</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85775">
                <a:tc>
                  <a:txBody>
                    <a:bodyPr/>
                    <a:lstStyle/>
                    <a:p>
                      <a:pPr indent="0" lvl="0" marL="0" rtl="0" algn="just">
                        <a:lnSpc>
                          <a:spcPct val="150000"/>
                        </a:lnSpc>
                        <a:spcBef>
                          <a:spcPts val="1200"/>
                        </a:spcBef>
                        <a:spcAft>
                          <a:spcPts val="1200"/>
                        </a:spcAft>
                        <a:buNone/>
                      </a:pPr>
                      <a:r>
                        <a:rPr lang="en-US"/>
                        <a:t>3</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lang="en-US"/>
                        <a:t>Headphones</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lang="en-US"/>
                        <a:t>Noise-cancelling headphones</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lang="en-US"/>
                        <a:t>150.00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lang="en-US"/>
                        <a:t>Accessories</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lang="en-US"/>
                        <a:t>200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lang="en-US"/>
                        <a:t>[Ngày giờ hiện tại]</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71"/>
          <p:cNvSpPr/>
          <p:nvPr/>
        </p:nvSpPr>
        <p:spPr>
          <a:xfrm>
            <a:off x="793790" y="623687"/>
            <a:ext cx="10457400" cy="7089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091C53"/>
              </a:buClr>
              <a:buSzPts val="4450"/>
              <a:buFont typeface="Instrument Sans"/>
              <a:buNone/>
            </a:pPr>
            <a:r>
              <a:rPr b="0" i="0" lang="en-US" sz="4450" u="none" cap="none" strike="noStrike">
                <a:solidFill>
                  <a:srgbClr val="091C53"/>
                </a:solidFill>
                <a:latin typeface="Instrument Sans"/>
                <a:ea typeface="Instrument Sans"/>
                <a:cs typeface="Instrument Sans"/>
                <a:sym typeface="Instrument Sans"/>
              </a:rPr>
              <a:t>Dữ Liệu Đơn Hàng và Chi Tiết Đơn Hàng</a:t>
            </a:r>
            <a:endParaRPr b="0" i="0" sz="4450" u="none" cap="none" strike="noStrike"/>
          </a:p>
        </p:txBody>
      </p:sp>
      <p:sp>
        <p:nvSpPr>
          <p:cNvPr id="579" name="Google Shape;579;p71"/>
          <p:cNvSpPr/>
          <p:nvPr/>
        </p:nvSpPr>
        <p:spPr>
          <a:xfrm>
            <a:off x="793790" y="1899441"/>
            <a:ext cx="28353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91C53"/>
              </a:buClr>
              <a:buSzPts val="2200"/>
              <a:buFont typeface="Instrument Sans"/>
              <a:buNone/>
            </a:pPr>
            <a:r>
              <a:rPr b="0" i="0" lang="en-US" sz="2200" u="none" cap="none" strike="noStrike">
                <a:solidFill>
                  <a:srgbClr val="091C53"/>
                </a:solidFill>
                <a:latin typeface="Instrument Sans"/>
                <a:ea typeface="Instrument Sans"/>
                <a:cs typeface="Instrument Sans"/>
                <a:sym typeface="Instrument Sans"/>
              </a:rPr>
              <a:t>Dữ liệu bảng Orders</a:t>
            </a:r>
            <a:endParaRPr b="0" i="0" sz="2200" u="none" cap="none" strike="noStrike"/>
          </a:p>
        </p:txBody>
      </p:sp>
      <p:sp>
        <p:nvSpPr>
          <p:cNvPr id="580" name="Google Shape;580;p71"/>
          <p:cNvSpPr/>
          <p:nvPr/>
        </p:nvSpPr>
        <p:spPr>
          <a:xfrm>
            <a:off x="793796" y="5005691"/>
            <a:ext cx="33282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91C53"/>
              </a:buClr>
              <a:buSzPts val="2200"/>
              <a:buFont typeface="Instrument Sans"/>
              <a:buNone/>
            </a:pPr>
            <a:r>
              <a:rPr b="0" i="0" lang="en-US" sz="2200" u="none" cap="none" strike="noStrike">
                <a:solidFill>
                  <a:srgbClr val="091C53"/>
                </a:solidFill>
                <a:latin typeface="Instrument Sans"/>
                <a:ea typeface="Instrument Sans"/>
                <a:cs typeface="Instrument Sans"/>
                <a:sym typeface="Instrument Sans"/>
              </a:rPr>
              <a:t>Dữ liệu bảng Order_items</a:t>
            </a:r>
            <a:endParaRPr b="0" i="0" sz="2200" u="none" cap="none" strike="noStrike"/>
          </a:p>
        </p:txBody>
      </p:sp>
      <p:graphicFrame>
        <p:nvGraphicFramePr>
          <p:cNvPr id="581" name="Google Shape;581;p71"/>
          <p:cNvGraphicFramePr/>
          <p:nvPr/>
        </p:nvGraphicFramePr>
        <p:xfrm>
          <a:off x="5302625" y="1655300"/>
          <a:ext cx="3000000" cy="3000000"/>
        </p:xfrm>
        <a:graphic>
          <a:graphicData uri="http://schemas.openxmlformats.org/drawingml/2006/table">
            <a:tbl>
              <a:tblPr>
                <a:noFill/>
                <a:tableStyleId>{4DE58F15-6FED-41AD-9371-107E5655BA19}</a:tableStyleId>
              </a:tblPr>
              <a:tblGrid>
                <a:gridCol w="428625"/>
                <a:gridCol w="1285875"/>
                <a:gridCol w="1219200"/>
                <a:gridCol w="1133475"/>
                <a:gridCol w="1828800"/>
                <a:gridCol w="2266950"/>
              </a:tblGrid>
              <a:tr h="257175">
                <a:tc>
                  <a:txBody>
                    <a:bodyPr/>
                    <a:lstStyle/>
                    <a:p>
                      <a:pPr indent="0" lvl="0" marL="0" rtl="0" algn="just">
                        <a:lnSpc>
                          <a:spcPct val="150000"/>
                        </a:lnSpc>
                        <a:spcBef>
                          <a:spcPts val="1200"/>
                        </a:spcBef>
                        <a:spcAft>
                          <a:spcPts val="1200"/>
                        </a:spcAft>
                        <a:buNone/>
                      </a:pPr>
                      <a:r>
                        <a:rPr b="1" lang="en-US" sz="1100"/>
                        <a:t>id</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b="1" lang="en-US" sz="1100"/>
                        <a:t>customer_id</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b="1" lang="en-US" sz="1100"/>
                        <a:t>order_date</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b="1" lang="en-US" sz="1100"/>
                        <a:t>status</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b="1" lang="en-US" sz="1100"/>
                        <a:t>total_amount</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b="1" lang="en-US" sz="1100"/>
                        <a:t>created_at</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7175">
                <a:tc>
                  <a:txBody>
                    <a:bodyPr/>
                    <a:lstStyle/>
                    <a:p>
                      <a:pPr indent="0" lvl="0" marL="0" rtl="0" algn="just">
                        <a:lnSpc>
                          <a:spcPct val="150000"/>
                        </a:lnSpc>
                        <a:spcBef>
                          <a:spcPts val="1200"/>
                        </a:spcBef>
                        <a:spcAft>
                          <a:spcPts val="1200"/>
                        </a:spcAft>
                        <a:buNone/>
                      </a:pPr>
                      <a:r>
                        <a:rPr lang="en-US"/>
                        <a:t>1</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lang="en-US"/>
                        <a:t>1</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lang="en-US"/>
                        <a:t>2025-04-01</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lang="en-US"/>
                        <a:t>Completed</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lang="en-US"/>
                        <a:t>1900.00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lang="en-US"/>
                        <a:t>[Ngày giờ hiện tại]</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7175">
                <a:tc>
                  <a:txBody>
                    <a:bodyPr/>
                    <a:lstStyle/>
                    <a:p>
                      <a:pPr indent="0" lvl="0" marL="0" rtl="0" algn="just">
                        <a:lnSpc>
                          <a:spcPct val="150000"/>
                        </a:lnSpc>
                        <a:spcBef>
                          <a:spcPts val="1200"/>
                        </a:spcBef>
                        <a:spcAft>
                          <a:spcPts val="1200"/>
                        </a:spcAft>
                        <a:buNone/>
                      </a:pPr>
                      <a:r>
                        <a:rPr lang="en-US"/>
                        <a:t>2</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lang="en-US"/>
                        <a:t>2</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lang="en-US"/>
                        <a:t>2025-04-05</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lang="en-US"/>
                        <a:t>Pending</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lang="en-US"/>
                        <a:t>700.00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lang="en-US"/>
                        <a:t>[Ngày giờ hiện tại]</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graphicFrame>
        <p:nvGraphicFramePr>
          <p:cNvPr id="582" name="Google Shape;582;p71"/>
          <p:cNvGraphicFramePr/>
          <p:nvPr/>
        </p:nvGraphicFramePr>
        <p:xfrm>
          <a:off x="5302625" y="4589925"/>
          <a:ext cx="3000000" cy="3000000"/>
        </p:xfrm>
        <a:graphic>
          <a:graphicData uri="http://schemas.openxmlformats.org/drawingml/2006/table">
            <a:tbl>
              <a:tblPr>
                <a:noFill/>
                <a:tableStyleId>{4DE58F15-6FED-41AD-9371-107E5655BA19}</a:tableStyleId>
              </a:tblPr>
              <a:tblGrid>
                <a:gridCol w="495300"/>
                <a:gridCol w="1247775"/>
                <a:gridCol w="1790700"/>
                <a:gridCol w="1857375"/>
                <a:gridCol w="1514475"/>
              </a:tblGrid>
              <a:tr h="257175">
                <a:tc>
                  <a:txBody>
                    <a:bodyPr/>
                    <a:lstStyle/>
                    <a:p>
                      <a:pPr indent="0" lvl="0" marL="0" rtl="0" algn="just">
                        <a:lnSpc>
                          <a:spcPct val="150000"/>
                        </a:lnSpc>
                        <a:spcBef>
                          <a:spcPts val="1200"/>
                        </a:spcBef>
                        <a:spcAft>
                          <a:spcPts val="1200"/>
                        </a:spcAft>
                        <a:buNone/>
                      </a:pPr>
                      <a:r>
                        <a:rPr b="1" lang="en-US" sz="1100"/>
                        <a:t>id</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b="1" lang="en-US" sz="1100"/>
                        <a:t>order_id</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b="1" lang="en-US" sz="1100"/>
                        <a:t>product_id</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b="1" lang="en-US" sz="1100"/>
                        <a:t>quantity</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b="1" lang="en-US" sz="1100"/>
                        <a:t>price_per_unit</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7175">
                <a:tc>
                  <a:txBody>
                    <a:bodyPr/>
                    <a:lstStyle/>
                    <a:p>
                      <a:pPr indent="0" lvl="0" marL="0" rtl="0" algn="just">
                        <a:lnSpc>
                          <a:spcPct val="150000"/>
                        </a:lnSpc>
                        <a:spcBef>
                          <a:spcPts val="1200"/>
                        </a:spcBef>
                        <a:spcAft>
                          <a:spcPts val="1200"/>
                        </a:spcAft>
                        <a:buNone/>
                      </a:pPr>
                      <a:r>
                        <a:rPr lang="en-US"/>
                        <a:t>1</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lang="en-US"/>
                        <a:t>1</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lang="en-US"/>
                        <a:t>1</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lang="en-US"/>
                        <a:t>1</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lang="en-US"/>
                        <a:t>1200.00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7175">
                <a:tc>
                  <a:txBody>
                    <a:bodyPr/>
                    <a:lstStyle/>
                    <a:p>
                      <a:pPr indent="0" lvl="0" marL="0" rtl="0" algn="just">
                        <a:lnSpc>
                          <a:spcPct val="150000"/>
                        </a:lnSpc>
                        <a:spcBef>
                          <a:spcPts val="1200"/>
                        </a:spcBef>
                        <a:spcAft>
                          <a:spcPts val="1200"/>
                        </a:spcAft>
                        <a:buNone/>
                      </a:pPr>
                      <a:r>
                        <a:rPr lang="en-US"/>
                        <a:t>2</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lang="en-US"/>
                        <a:t>1</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lang="en-US"/>
                        <a:t>3</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lang="en-US"/>
                        <a:t>2</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lang="en-US"/>
                        <a:t>150.00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7175">
                <a:tc>
                  <a:txBody>
                    <a:bodyPr/>
                    <a:lstStyle/>
                    <a:p>
                      <a:pPr indent="0" lvl="0" marL="0" rtl="0" algn="just">
                        <a:lnSpc>
                          <a:spcPct val="150000"/>
                        </a:lnSpc>
                        <a:spcBef>
                          <a:spcPts val="1200"/>
                        </a:spcBef>
                        <a:spcAft>
                          <a:spcPts val="1200"/>
                        </a:spcAft>
                        <a:buNone/>
                      </a:pPr>
                      <a:r>
                        <a:rPr lang="en-US"/>
                        <a:t>3</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lang="en-US"/>
                        <a:t>2</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lang="en-US"/>
                        <a:t>2</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lang="en-US"/>
                        <a:t>1</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50000"/>
                        </a:lnSpc>
                        <a:spcBef>
                          <a:spcPts val="1200"/>
                        </a:spcBef>
                        <a:spcAft>
                          <a:spcPts val="1200"/>
                        </a:spcAft>
                        <a:buNone/>
                      </a:pPr>
                      <a:r>
                        <a:rPr lang="en-US"/>
                        <a:t>700.00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pic>
        <p:nvPicPr>
          <p:cNvPr descr="preencoded.png" id="588" name="Google Shape;588;p72"/>
          <p:cNvPicPr preferRelativeResize="0"/>
          <p:nvPr/>
        </p:nvPicPr>
        <p:blipFill rotWithShape="1">
          <a:blip r:embed="rId3">
            <a:alphaModFix/>
          </a:blip>
          <a:srcRect b="0" l="0" r="0" t="0"/>
          <a:stretch/>
        </p:blipFill>
        <p:spPr>
          <a:xfrm>
            <a:off x="0" y="0"/>
            <a:ext cx="5760720" cy="8229600"/>
          </a:xfrm>
          <a:prstGeom prst="rect">
            <a:avLst/>
          </a:prstGeom>
          <a:noFill/>
          <a:ln>
            <a:noFill/>
          </a:ln>
        </p:spPr>
      </p:pic>
      <p:sp>
        <p:nvSpPr>
          <p:cNvPr id="589" name="Google Shape;589;p72"/>
          <p:cNvSpPr/>
          <p:nvPr/>
        </p:nvSpPr>
        <p:spPr>
          <a:xfrm>
            <a:off x="6280190" y="1352074"/>
            <a:ext cx="7556421" cy="1417558"/>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091C53"/>
              </a:buClr>
              <a:buSzPts val="4450"/>
              <a:buFont typeface="Instrument Sans"/>
              <a:buNone/>
            </a:pPr>
            <a:r>
              <a:rPr b="0" i="0" lang="en-US" sz="4450" u="none" cap="none" strike="noStrike">
                <a:solidFill>
                  <a:srgbClr val="091C53"/>
                </a:solidFill>
                <a:latin typeface="Instrument Sans"/>
                <a:ea typeface="Instrument Sans"/>
                <a:cs typeface="Instrument Sans"/>
                <a:sym typeface="Instrument Sans"/>
              </a:rPr>
              <a:t>Mẫu Truy Vấn Đa Dạng Để Test Hệ Thống</a:t>
            </a:r>
            <a:endParaRPr b="0" i="0" sz="4450" u="none" cap="none" strike="noStrike"/>
          </a:p>
        </p:txBody>
      </p:sp>
      <p:sp>
        <p:nvSpPr>
          <p:cNvPr id="590" name="Google Shape;590;p72"/>
          <p:cNvSpPr/>
          <p:nvPr/>
        </p:nvSpPr>
        <p:spPr>
          <a:xfrm>
            <a:off x="6280190" y="3109793"/>
            <a:ext cx="510302" cy="510302"/>
          </a:xfrm>
          <a:prstGeom prst="roundRect">
            <a:avLst>
              <a:gd fmla="val 40005" name="adj"/>
            </a:avLst>
          </a:prstGeom>
          <a:solidFill>
            <a:srgbClr val="CEE6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72"/>
          <p:cNvSpPr/>
          <p:nvPr/>
        </p:nvSpPr>
        <p:spPr>
          <a:xfrm>
            <a:off x="7017306" y="3187660"/>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E3063"/>
              </a:buClr>
              <a:buSzPts val="2200"/>
              <a:buFont typeface="Instrument Sans"/>
              <a:buNone/>
            </a:pPr>
            <a:r>
              <a:rPr b="0" i="0" lang="en-US" sz="2200" u="none" cap="none" strike="noStrike">
                <a:solidFill>
                  <a:srgbClr val="1E3063"/>
                </a:solidFill>
                <a:latin typeface="Instrument Sans"/>
                <a:ea typeface="Instrument Sans"/>
                <a:cs typeface="Instrument Sans"/>
                <a:sym typeface="Instrument Sans"/>
              </a:rPr>
              <a:t>Truy vấn khách hàng</a:t>
            </a:r>
            <a:endParaRPr b="0" i="0" sz="2200" u="none" cap="none" strike="noStrike"/>
          </a:p>
        </p:txBody>
      </p:sp>
      <p:sp>
        <p:nvSpPr>
          <p:cNvPr id="592" name="Google Shape;592;p72"/>
          <p:cNvSpPr/>
          <p:nvPr/>
        </p:nvSpPr>
        <p:spPr>
          <a:xfrm>
            <a:off x="7017306" y="3678079"/>
            <a:ext cx="2899410"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1E3063"/>
              </a:buClr>
              <a:buSzPts val="1750"/>
              <a:buFont typeface="Instrument Sans"/>
              <a:buNone/>
            </a:pPr>
            <a:r>
              <a:rPr b="0" i="0" lang="en-US" sz="1750" u="none" cap="none" strike="noStrike">
                <a:solidFill>
                  <a:srgbClr val="1E3063"/>
                </a:solidFill>
                <a:latin typeface="Instrument Sans"/>
                <a:ea typeface="Instrument Sans"/>
                <a:cs typeface="Instrument Sans"/>
                <a:sym typeface="Instrument Sans"/>
              </a:rPr>
              <a:t>Danh sách khách hàng mua trong tháng, khách VIP, khách mới, và lịch sử thanh toán.</a:t>
            </a:r>
            <a:endParaRPr b="0" i="0" sz="1750" u="none" cap="none" strike="noStrike"/>
          </a:p>
        </p:txBody>
      </p:sp>
      <p:sp>
        <p:nvSpPr>
          <p:cNvPr id="593" name="Google Shape;593;p72"/>
          <p:cNvSpPr/>
          <p:nvPr/>
        </p:nvSpPr>
        <p:spPr>
          <a:xfrm>
            <a:off x="10200203" y="3109793"/>
            <a:ext cx="510302" cy="510302"/>
          </a:xfrm>
          <a:prstGeom prst="roundRect">
            <a:avLst>
              <a:gd fmla="val 40005" name="adj"/>
            </a:avLst>
          </a:prstGeom>
          <a:solidFill>
            <a:srgbClr val="CEE6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72"/>
          <p:cNvSpPr/>
          <p:nvPr/>
        </p:nvSpPr>
        <p:spPr>
          <a:xfrm>
            <a:off x="10937319" y="3187660"/>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E3063"/>
              </a:buClr>
              <a:buSzPts val="2200"/>
              <a:buFont typeface="Instrument Sans"/>
              <a:buNone/>
            </a:pPr>
            <a:r>
              <a:rPr b="0" i="0" lang="en-US" sz="2200" u="none" cap="none" strike="noStrike">
                <a:solidFill>
                  <a:srgbClr val="1E3063"/>
                </a:solidFill>
                <a:latin typeface="Instrument Sans"/>
                <a:ea typeface="Instrument Sans"/>
                <a:cs typeface="Instrument Sans"/>
                <a:sym typeface="Instrument Sans"/>
              </a:rPr>
              <a:t>Truy vấn sản phẩm</a:t>
            </a:r>
            <a:endParaRPr b="0" i="0" sz="2200" u="none" cap="none" strike="noStrike"/>
          </a:p>
        </p:txBody>
      </p:sp>
      <p:sp>
        <p:nvSpPr>
          <p:cNvPr id="595" name="Google Shape;595;p72"/>
          <p:cNvSpPr/>
          <p:nvPr/>
        </p:nvSpPr>
        <p:spPr>
          <a:xfrm>
            <a:off x="10937319" y="3678079"/>
            <a:ext cx="2899410"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1E3063"/>
              </a:buClr>
              <a:buSzPts val="1750"/>
              <a:buFont typeface="Instrument Sans"/>
              <a:buNone/>
            </a:pPr>
            <a:r>
              <a:rPr b="0" i="0" lang="en-US" sz="1750" u="none" cap="none" strike="noStrike">
                <a:solidFill>
                  <a:srgbClr val="1E3063"/>
                </a:solidFill>
                <a:latin typeface="Instrument Sans"/>
                <a:ea typeface="Instrument Sans"/>
                <a:cs typeface="Instrument Sans"/>
                <a:sym typeface="Instrument Sans"/>
              </a:rPr>
              <a:t>Top sản phẩm bán chạy, sản phẩm hết hàng, sản phẩm theo danh mục và theo khu vực.</a:t>
            </a:r>
            <a:endParaRPr b="0" i="0" sz="1750" u="none" cap="none" strike="noStrike"/>
          </a:p>
        </p:txBody>
      </p:sp>
      <p:sp>
        <p:nvSpPr>
          <p:cNvPr id="596" name="Google Shape;596;p72"/>
          <p:cNvSpPr/>
          <p:nvPr/>
        </p:nvSpPr>
        <p:spPr>
          <a:xfrm>
            <a:off x="6280190" y="5583317"/>
            <a:ext cx="510302" cy="510302"/>
          </a:xfrm>
          <a:prstGeom prst="roundRect">
            <a:avLst>
              <a:gd fmla="val 40005" name="adj"/>
            </a:avLst>
          </a:prstGeom>
          <a:solidFill>
            <a:srgbClr val="CEE6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72"/>
          <p:cNvSpPr/>
          <p:nvPr/>
        </p:nvSpPr>
        <p:spPr>
          <a:xfrm>
            <a:off x="7017306" y="5661184"/>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E3063"/>
              </a:buClr>
              <a:buSzPts val="2200"/>
              <a:buFont typeface="Instrument Sans"/>
              <a:buNone/>
            </a:pPr>
            <a:r>
              <a:rPr b="0" i="0" lang="en-US" sz="2200" u="none" cap="none" strike="noStrike">
                <a:solidFill>
                  <a:srgbClr val="1E3063"/>
                </a:solidFill>
                <a:latin typeface="Instrument Sans"/>
                <a:ea typeface="Instrument Sans"/>
                <a:cs typeface="Instrument Sans"/>
                <a:sym typeface="Instrument Sans"/>
              </a:rPr>
              <a:t>Truy vấn đơn hàng</a:t>
            </a:r>
            <a:endParaRPr b="0" i="0" sz="2200" u="none" cap="none" strike="noStrike"/>
          </a:p>
        </p:txBody>
      </p:sp>
      <p:sp>
        <p:nvSpPr>
          <p:cNvPr id="598" name="Google Shape;598;p72"/>
          <p:cNvSpPr/>
          <p:nvPr/>
        </p:nvSpPr>
        <p:spPr>
          <a:xfrm>
            <a:off x="7017306" y="6151602"/>
            <a:ext cx="6819305"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1E3063"/>
              </a:buClr>
              <a:buSzPts val="1750"/>
              <a:buFont typeface="Instrument Sans"/>
              <a:buNone/>
            </a:pPr>
            <a:r>
              <a:rPr b="0" i="0" lang="en-US" sz="1750" u="none" cap="none" strike="noStrike">
                <a:solidFill>
                  <a:srgbClr val="1E3063"/>
                </a:solidFill>
                <a:latin typeface="Instrument Sans"/>
                <a:ea typeface="Instrument Sans"/>
                <a:cs typeface="Instrument Sans"/>
                <a:sym typeface="Instrument Sans"/>
              </a:rPr>
              <a:t>Tổng số đơn hàng, đơn chưa thanh toán, lịch sử đơn hàng theo khách hàng và trạng thái.</a:t>
            </a:r>
            <a:endParaRPr b="0" i="0" sz="1750" u="none" cap="none" strike="noStrike"/>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73"/>
          <p:cNvSpPr/>
          <p:nvPr/>
        </p:nvSpPr>
        <p:spPr>
          <a:xfrm>
            <a:off x="793790" y="500054"/>
            <a:ext cx="9135600" cy="7089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091C53"/>
              </a:buClr>
              <a:buSzPts val="4450"/>
              <a:buFont typeface="Instrument Sans"/>
              <a:buNone/>
            </a:pPr>
            <a:r>
              <a:rPr b="0" i="0" lang="en-US" sz="4450" u="none" cap="none" strike="noStrike">
                <a:solidFill>
                  <a:srgbClr val="091C53"/>
                </a:solidFill>
                <a:latin typeface="Instrument Sans"/>
                <a:ea typeface="Instrument Sans"/>
                <a:cs typeface="Instrument Sans"/>
                <a:sym typeface="Instrument Sans"/>
              </a:rPr>
              <a:t>Kết Quả Thực Nghiệm và Ghi Nhận</a:t>
            </a:r>
            <a:endParaRPr b="0" i="0" sz="4450" u="none" cap="none" strike="noStrike"/>
          </a:p>
        </p:txBody>
      </p:sp>
      <p:sp>
        <p:nvSpPr>
          <p:cNvPr id="605" name="Google Shape;605;p73"/>
          <p:cNvSpPr/>
          <p:nvPr/>
        </p:nvSpPr>
        <p:spPr>
          <a:xfrm>
            <a:off x="789978" y="1695109"/>
            <a:ext cx="28353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91C53"/>
              </a:buClr>
              <a:buSzPts val="2200"/>
              <a:buFont typeface="Instrument Sans"/>
              <a:buNone/>
            </a:pPr>
            <a:r>
              <a:rPr b="0" i="0" lang="en-US" sz="2200" u="none" cap="none" strike="noStrike">
                <a:solidFill>
                  <a:srgbClr val="091C53"/>
                </a:solidFill>
                <a:latin typeface="Instrument Sans"/>
                <a:ea typeface="Instrument Sans"/>
                <a:cs typeface="Instrument Sans"/>
                <a:sym typeface="Instrument Sans"/>
              </a:rPr>
              <a:t>Ghi nhận kết quả</a:t>
            </a:r>
            <a:endParaRPr b="0" i="0" sz="2200" u="none" cap="none" strike="noStrike"/>
          </a:p>
        </p:txBody>
      </p:sp>
      <p:sp>
        <p:nvSpPr>
          <p:cNvPr id="606" name="Google Shape;606;p73"/>
          <p:cNvSpPr/>
          <p:nvPr/>
        </p:nvSpPr>
        <p:spPr>
          <a:xfrm>
            <a:off x="789978" y="2276253"/>
            <a:ext cx="6244800" cy="7257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1E3063"/>
              </a:buClr>
              <a:buSzPts val="1750"/>
              <a:buFont typeface="Instrument Sans"/>
              <a:buNone/>
            </a:pPr>
            <a:r>
              <a:rPr b="0" i="0" lang="en-US" sz="1750" u="none" cap="none" strike="noStrike">
                <a:solidFill>
                  <a:srgbClr val="1E3063"/>
                </a:solidFill>
                <a:latin typeface="Instrument Sans"/>
                <a:ea typeface="Instrument Sans"/>
                <a:cs typeface="Instrument Sans"/>
                <a:sym typeface="Instrument Sans"/>
              </a:rPr>
              <a:t>Kết quả thử nghiệm được ghi lại chi tiết trong file kèm theo, bao gồm thời gian xử lý và đánh giá độ chính xác.</a:t>
            </a:r>
            <a:endParaRPr b="0" i="0" sz="1750" u="none" cap="none" strike="noStrike"/>
          </a:p>
        </p:txBody>
      </p:sp>
      <p:sp>
        <p:nvSpPr>
          <p:cNvPr id="607" name="Google Shape;607;p73"/>
          <p:cNvSpPr/>
          <p:nvPr/>
        </p:nvSpPr>
        <p:spPr>
          <a:xfrm>
            <a:off x="7595709" y="1695109"/>
            <a:ext cx="28353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91C53"/>
              </a:buClr>
              <a:buSzPts val="2200"/>
              <a:buFont typeface="Instrument Sans"/>
              <a:buNone/>
            </a:pPr>
            <a:r>
              <a:rPr b="0" i="0" lang="en-US" sz="2200" u="none" cap="none" strike="noStrike">
                <a:solidFill>
                  <a:srgbClr val="091C53"/>
                </a:solidFill>
                <a:latin typeface="Instrument Sans"/>
                <a:ea typeface="Instrument Sans"/>
                <a:cs typeface="Instrument Sans"/>
                <a:sym typeface="Instrument Sans"/>
              </a:rPr>
              <a:t>Đánh giá kết quả</a:t>
            </a:r>
            <a:endParaRPr b="0" i="0" sz="2200" u="none" cap="none" strike="noStrike"/>
          </a:p>
        </p:txBody>
      </p:sp>
      <p:sp>
        <p:nvSpPr>
          <p:cNvPr id="608" name="Google Shape;608;p73"/>
          <p:cNvSpPr/>
          <p:nvPr/>
        </p:nvSpPr>
        <p:spPr>
          <a:xfrm>
            <a:off x="7595709" y="2276253"/>
            <a:ext cx="6244800" cy="363000"/>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1E3063"/>
              </a:buClr>
              <a:buSzPts val="1750"/>
              <a:buFont typeface="Instrument Sans"/>
              <a:buChar char="•"/>
            </a:pPr>
            <a:r>
              <a:rPr b="0" i="0" lang="en-US" sz="1750" u="none" cap="none" strike="noStrike">
                <a:solidFill>
                  <a:srgbClr val="1E3063"/>
                </a:solidFill>
                <a:latin typeface="Instrument Sans"/>
                <a:ea typeface="Instrument Sans"/>
                <a:cs typeface="Instrument Sans"/>
                <a:sym typeface="Instrument Sans"/>
              </a:rPr>
              <a:t>30 câu hỏi thử nghiệm</a:t>
            </a:r>
            <a:endParaRPr b="0" i="0" sz="1750" u="none" cap="none" strike="noStrike"/>
          </a:p>
        </p:txBody>
      </p:sp>
      <p:sp>
        <p:nvSpPr>
          <p:cNvPr id="609" name="Google Shape;609;p73"/>
          <p:cNvSpPr/>
          <p:nvPr/>
        </p:nvSpPr>
        <p:spPr>
          <a:xfrm>
            <a:off x="7595709" y="2718451"/>
            <a:ext cx="6244800" cy="363000"/>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1E3063"/>
              </a:buClr>
              <a:buSzPts val="1750"/>
              <a:buFont typeface="Instrument Sans"/>
              <a:buChar char="•"/>
            </a:pPr>
            <a:r>
              <a:rPr b="0" i="0" lang="en-US" sz="1750" u="none" cap="none" strike="noStrike">
                <a:solidFill>
                  <a:srgbClr val="1E3063"/>
                </a:solidFill>
                <a:latin typeface="Instrument Sans"/>
                <a:ea typeface="Instrument Sans"/>
                <a:cs typeface="Instrument Sans"/>
                <a:sym typeface="Instrument Sans"/>
              </a:rPr>
              <a:t>16 câu cơ bản đúng, 3 sai</a:t>
            </a:r>
            <a:endParaRPr b="0" i="0" sz="1750" u="none" cap="none" strike="noStrike"/>
          </a:p>
        </p:txBody>
      </p:sp>
      <p:sp>
        <p:nvSpPr>
          <p:cNvPr id="610" name="Google Shape;610;p73"/>
          <p:cNvSpPr/>
          <p:nvPr/>
        </p:nvSpPr>
        <p:spPr>
          <a:xfrm>
            <a:off x="7595709" y="3160649"/>
            <a:ext cx="6244800" cy="363000"/>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1E3063"/>
              </a:buClr>
              <a:buSzPts val="1750"/>
              <a:buFont typeface="Instrument Sans"/>
              <a:buChar char="•"/>
            </a:pPr>
            <a:r>
              <a:rPr b="0" i="0" lang="en-US" sz="1750" u="none" cap="none" strike="noStrike">
                <a:solidFill>
                  <a:srgbClr val="1E3063"/>
                </a:solidFill>
                <a:latin typeface="Instrument Sans"/>
                <a:ea typeface="Instrument Sans"/>
                <a:cs typeface="Instrument Sans"/>
                <a:sym typeface="Instrument Sans"/>
              </a:rPr>
              <a:t>7 câu có điều kiện đúng hết</a:t>
            </a:r>
            <a:endParaRPr b="0" i="0" sz="1750" u="none" cap="none" strike="noStrike"/>
          </a:p>
        </p:txBody>
      </p:sp>
      <p:sp>
        <p:nvSpPr>
          <p:cNvPr id="611" name="Google Shape;611;p73"/>
          <p:cNvSpPr/>
          <p:nvPr/>
        </p:nvSpPr>
        <p:spPr>
          <a:xfrm>
            <a:off x="7595709" y="3602848"/>
            <a:ext cx="6244800" cy="363000"/>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1E3063"/>
              </a:buClr>
              <a:buSzPts val="1750"/>
              <a:buFont typeface="Instrument Sans"/>
              <a:buChar char="•"/>
            </a:pPr>
            <a:r>
              <a:rPr b="0" i="0" lang="en-US" sz="1750" u="none" cap="none" strike="noStrike">
                <a:solidFill>
                  <a:srgbClr val="1E3063"/>
                </a:solidFill>
                <a:latin typeface="Instrument Sans"/>
                <a:ea typeface="Instrument Sans"/>
                <a:cs typeface="Instrument Sans"/>
                <a:sym typeface="Instrument Sans"/>
              </a:rPr>
              <a:t>4 câu mơ hồ, 1 đúng, 3 sai</a:t>
            </a:r>
            <a:endParaRPr b="0" i="0" sz="1750" u="none" cap="none" strike="noStrike"/>
          </a:p>
        </p:txBody>
      </p:sp>
      <p:graphicFrame>
        <p:nvGraphicFramePr>
          <p:cNvPr id="612" name="Google Shape;612;p73"/>
          <p:cNvGraphicFramePr/>
          <p:nvPr/>
        </p:nvGraphicFramePr>
        <p:xfrm>
          <a:off x="3272125" y="4159625"/>
          <a:ext cx="3000000" cy="3000000"/>
        </p:xfrm>
        <a:graphic>
          <a:graphicData uri="http://schemas.openxmlformats.org/drawingml/2006/table">
            <a:tbl>
              <a:tblPr>
                <a:noFill/>
                <a:tableStyleId>{4DE58F15-6FED-41AD-9371-107E5655BA19}</a:tableStyleId>
              </a:tblPr>
              <a:tblGrid>
                <a:gridCol w="1162050"/>
                <a:gridCol w="2428875"/>
                <a:gridCol w="2790825"/>
                <a:gridCol w="1143000"/>
              </a:tblGrid>
              <a:tr h="247650">
                <a:tc>
                  <a:txBody>
                    <a:bodyPr/>
                    <a:lstStyle/>
                    <a:p>
                      <a:pPr indent="0" lvl="0" marL="0" rtl="0" algn="l">
                        <a:lnSpc>
                          <a:spcPct val="150000"/>
                        </a:lnSpc>
                        <a:spcBef>
                          <a:spcPts val="1200"/>
                        </a:spcBef>
                        <a:spcAft>
                          <a:spcPts val="1200"/>
                        </a:spcAft>
                        <a:buNone/>
                      </a:pPr>
                      <a:r>
                        <a:rPr b="1" lang="en-US" sz="1100"/>
                        <a:t>Loại câu hỏi</a:t>
                      </a:r>
                      <a:endParaRPr b="1" sz="1100"/>
                    </a:p>
                  </a:txBody>
                  <a:tcPr marT="91425" marB="91425" marR="91425" marL="91425"/>
                </a:tc>
                <a:tc>
                  <a:txBody>
                    <a:bodyPr/>
                    <a:lstStyle/>
                    <a:p>
                      <a:pPr indent="0" lvl="0" marL="0" rtl="0" algn="l">
                        <a:lnSpc>
                          <a:spcPct val="150000"/>
                        </a:lnSpc>
                        <a:spcBef>
                          <a:spcPts val="1200"/>
                        </a:spcBef>
                        <a:spcAft>
                          <a:spcPts val="1200"/>
                        </a:spcAft>
                        <a:buNone/>
                      </a:pPr>
                      <a:r>
                        <a:rPr b="1" lang="en-US" sz="1100"/>
                        <a:t>Đúng kết quả mong muốn</a:t>
                      </a:r>
                      <a:endParaRPr b="1" sz="1100"/>
                    </a:p>
                  </a:txBody>
                  <a:tcPr marT="91425" marB="91425" marR="91425" marL="91425"/>
                </a:tc>
                <a:tc>
                  <a:txBody>
                    <a:bodyPr/>
                    <a:lstStyle/>
                    <a:p>
                      <a:pPr indent="0" lvl="0" marL="0" rtl="0" algn="ctr">
                        <a:lnSpc>
                          <a:spcPct val="150000"/>
                        </a:lnSpc>
                        <a:spcBef>
                          <a:spcPts val="1200"/>
                        </a:spcBef>
                        <a:spcAft>
                          <a:spcPts val="1200"/>
                        </a:spcAft>
                        <a:buNone/>
                      </a:pPr>
                      <a:r>
                        <a:rPr b="1" lang="en-US" sz="1100"/>
                        <a:t>Không đúng kết quả mong muốn</a:t>
                      </a:r>
                      <a:endParaRPr b="1" sz="1100"/>
                    </a:p>
                  </a:txBody>
                  <a:tcPr marT="91425" marB="91425" marR="91425" marL="91425"/>
                </a:tc>
                <a:tc>
                  <a:txBody>
                    <a:bodyPr/>
                    <a:lstStyle/>
                    <a:p>
                      <a:pPr indent="0" lvl="0" marL="0" rtl="0" algn="l">
                        <a:lnSpc>
                          <a:spcPct val="150000"/>
                        </a:lnSpc>
                        <a:spcBef>
                          <a:spcPts val="1200"/>
                        </a:spcBef>
                        <a:spcAft>
                          <a:spcPts val="1200"/>
                        </a:spcAft>
                        <a:buNone/>
                      </a:pPr>
                      <a:r>
                        <a:rPr b="1" lang="en-US" sz="1100"/>
                        <a:t>Tổng số câu</a:t>
                      </a:r>
                      <a:endParaRPr b="1" sz="1100"/>
                    </a:p>
                  </a:txBody>
                  <a:tcPr marT="91425" marB="91425" marR="91425" marL="91425"/>
                </a:tc>
              </a:tr>
              <a:tr h="247650">
                <a:tc>
                  <a:txBody>
                    <a:bodyPr/>
                    <a:lstStyle/>
                    <a:p>
                      <a:pPr indent="0" lvl="0" marL="0" rtl="0" algn="l">
                        <a:lnSpc>
                          <a:spcPct val="150000"/>
                        </a:lnSpc>
                        <a:spcBef>
                          <a:spcPts val="1200"/>
                        </a:spcBef>
                        <a:spcAft>
                          <a:spcPts val="1200"/>
                        </a:spcAft>
                        <a:buNone/>
                      </a:pPr>
                      <a:r>
                        <a:rPr b="1" lang="en-US" sz="1100"/>
                        <a:t>Cơ bản</a:t>
                      </a:r>
                      <a:endParaRPr b="1" sz="1100"/>
                    </a:p>
                  </a:txBody>
                  <a:tcPr marT="91425" marB="91425" marR="91425" marL="91425"/>
                </a:tc>
                <a:tc>
                  <a:txBody>
                    <a:bodyPr/>
                    <a:lstStyle/>
                    <a:p>
                      <a:pPr indent="0" lvl="0" marL="0" rtl="0" algn="r">
                        <a:lnSpc>
                          <a:spcPct val="150000"/>
                        </a:lnSpc>
                        <a:spcBef>
                          <a:spcPts val="1200"/>
                        </a:spcBef>
                        <a:spcAft>
                          <a:spcPts val="1200"/>
                        </a:spcAft>
                        <a:buNone/>
                      </a:pPr>
                      <a:r>
                        <a:rPr lang="en-US"/>
                        <a:t>16</a:t>
                      </a:r>
                      <a:endParaRPr/>
                    </a:p>
                  </a:txBody>
                  <a:tcPr marT="91425" marB="91425" marR="91425" marL="91425"/>
                </a:tc>
                <a:tc>
                  <a:txBody>
                    <a:bodyPr/>
                    <a:lstStyle/>
                    <a:p>
                      <a:pPr indent="0" lvl="0" marL="0" rtl="0" algn="ctr">
                        <a:lnSpc>
                          <a:spcPct val="150000"/>
                        </a:lnSpc>
                        <a:spcBef>
                          <a:spcPts val="1200"/>
                        </a:spcBef>
                        <a:spcAft>
                          <a:spcPts val="1200"/>
                        </a:spcAft>
                        <a:buNone/>
                      </a:pPr>
                      <a:r>
                        <a:rPr b="1" lang="en-US" sz="1100"/>
                        <a:t>3</a:t>
                      </a:r>
                      <a:endParaRPr b="1" sz="1100"/>
                    </a:p>
                  </a:txBody>
                  <a:tcPr marT="91425" marB="91425" marR="91425" marL="91425"/>
                </a:tc>
                <a:tc>
                  <a:txBody>
                    <a:bodyPr/>
                    <a:lstStyle/>
                    <a:p>
                      <a:pPr indent="0" lvl="0" marL="0" rtl="0" algn="l">
                        <a:lnSpc>
                          <a:spcPct val="150000"/>
                        </a:lnSpc>
                        <a:spcBef>
                          <a:spcPts val="1200"/>
                        </a:spcBef>
                        <a:spcAft>
                          <a:spcPts val="1200"/>
                        </a:spcAft>
                        <a:buNone/>
                      </a:pPr>
                      <a:r>
                        <a:rPr b="1" lang="en-US" sz="1100"/>
                        <a:t>19</a:t>
                      </a:r>
                      <a:endParaRPr b="1" sz="1100"/>
                    </a:p>
                  </a:txBody>
                  <a:tcPr marT="91425" marB="91425" marR="91425" marL="91425"/>
                </a:tc>
              </a:tr>
              <a:tr h="247650">
                <a:tc>
                  <a:txBody>
                    <a:bodyPr/>
                    <a:lstStyle/>
                    <a:p>
                      <a:pPr indent="0" lvl="0" marL="0" rtl="0" algn="l">
                        <a:lnSpc>
                          <a:spcPct val="150000"/>
                        </a:lnSpc>
                        <a:spcBef>
                          <a:spcPts val="1200"/>
                        </a:spcBef>
                        <a:spcAft>
                          <a:spcPts val="1200"/>
                        </a:spcAft>
                        <a:buNone/>
                      </a:pPr>
                      <a:r>
                        <a:rPr b="1" lang="en-US" sz="1100"/>
                        <a:t>Có điều kiện</a:t>
                      </a:r>
                      <a:endParaRPr b="1" sz="1100"/>
                    </a:p>
                  </a:txBody>
                  <a:tcPr marT="91425" marB="91425" marR="91425" marL="91425"/>
                </a:tc>
                <a:tc>
                  <a:txBody>
                    <a:bodyPr/>
                    <a:lstStyle/>
                    <a:p>
                      <a:pPr indent="0" lvl="0" marL="0" rtl="0" algn="r">
                        <a:lnSpc>
                          <a:spcPct val="150000"/>
                        </a:lnSpc>
                        <a:spcBef>
                          <a:spcPts val="1200"/>
                        </a:spcBef>
                        <a:spcAft>
                          <a:spcPts val="1200"/>
                        </a:spcAft>
                        <a:buNone/>
                      </a:pPr>
                      <a:r>
                        <a:rPr lang="en-US"/>
                        <a:t>7</a:t>
                      </a:r>
                      <a:endParaRPr/>
                    </a:p>
                  </a:txBody>
                  <a:tcPr marT="91425" marB="91425" marR="91425" marL="91425"/>
                </a:tc>
                <a:tc>
                  <a:txBody>
                    <a:bodyPr/>
                    <a:lstStyle/>
                    <a:p>
                      <a:pPr indent="0" lvl="0" marL="0" rtl="0" algn="ctr">
                        <a:lnSpc>
                          <a:spcPct val="150000"/>
                        </a:lnSpc>
                        <a:spcBef>
                          <a:spcPts val="1200"/>
                        </a:spcBef>
                        <a:spcAft>
                          <a:spcPts val="1200"/>
                        </a:spcAft>
                        <a:buNone/>
                      </a:pPr>
                      <a:r>
                        <a:rPr b="1" lang="en-US" sz="1100"/>
                        <a:t>0</a:t>
                      </a:r>
                      <a:endParaRPr b="1" sz="1100"/>
                    </a:p>
                  </a:txBody>
                  <a:tcPr marT="91425" marB="91425" marR="91425" marL="91425"/>
                </a:tc>
                <a:tc>
                  <a:txBody>
                    <a:bodyPr/>
                    <a:lstStyle/>
                    <a:p>
                      <a:pPr indent="0" lvl="0" marL="0" rtl="0" algn="l">
                        <a:lnSpc>
                          <a:spcPct val="150000"/>
                        </a:lnSpc>
                        <a:spcBef>
                          <a:spcPts val="1200"/>
                        </a:spcBef>
                        <a:spcAft>
                          <a:spcPts val="1200"/>
                        </a:spcAft>
                        <a:buNone/>
                      </a:pPr>
                      <a:r>
                        <a:rPr b="1" lang="en-US" sz="1100"/>
                        <a:t>7</a:t>
                      </a:r>
                      <a:endParaRPr b="1" sz="1100"/>
                    </a:p>
                  </a:txBody>
                  <a:tcPr marT="91425" marB="91425" marR="91425" marL="91425"/>
                </a:tc>
              </a:tr>
              <a:tr h="247650">
                <a:tc>
                  <a:txBody>
                    <a:bodyPr/>
                    <a:lstStyle/>
                    <a:p>
                      <a:pPr indent="0" lvl="0" marL="0" rtl="0" algn="l">
                        <a:lnSpc>
                          <a:spcPct val="150000"/>
                        </a:lnSpc>
                        <a:spcBef>
                          <a:spcPts val="1200"/>
                        </a:spcBef>
                        <a:spcAft>
                          <a:spcPts val="1200"/>
                        </a:spcAft>
                        <a:buNone/>
                      </a:pPr>
                      <a:r>
                        <a:rPr b="1" lang="en-US" sz="1100"/>
                        <a:t>Mơ hồ</a:t>
                      </a:r>
                      <a:endParaRPr b="1" sz="1100"/>
                    </a:p>
                  </a:txBody>
                  <a:tcPr marT="91425" marB="91425" marR="91425" marL="91425"/>
                </a:tc>
                <a:tc>
                  <a:txBody>
                    <a:bodyPr/>
                    <a:lstStyle/>
                    <a:p>
                      <a:pPr indent="0" lvl="0" marL="0" rtl="0" algn="r">
                        <a:lnSpc>
                          <a:spcPct val="150000"/>
                        </a:lnSpc>
                        <a:spcBef>
                          <a:spcPts val="1200"/>
                        </a:spcBef>
                        <a:spcAft>
                          <a:spcPts val="1200"/>
                        </a:spcAft>
                        <a:buNone/>
                      </a:pPr>
                      <a:r>
                        <a:rPr lang="en-US"/>
                        <a:t>1</a:t>
                      </a:r>
                      <a:endParaRPr/>
                    </a:p>
                  </a:txBody>
                  <a:tcPr marT="91425" marB="91425" marR="91425" marL="91425"/>
                </a:tc>
                <a:tc>
                  <a:txBody>
                    <a:bodyPr/>
                    <a:lstStyle/>
                    <a:p>
                      <a:pPr indent="0" lvl="0" marL="0" rtl="0" algn="ctr">
                        <a:lnSpc>
                          <a:spcPct val="150000"/>
                        </a:lnSpc>
                        <a:spcBef>
                          <a:spcPts val="1200"/>
                        </a:spcBef>
                        <a:spcAft>
                          <a:spcPts val="1200"/>
                        </a:spcAft>
                        <a:buNone/>
                      </a:pPr>
                      <a:r>
                        <a:rPr b="1" lang="en-US" sz="1100"/>
                        <a:t>3</a:t>
                      </a:r>
                      <a:endParaRPr b="1" sz="1100"/>
                    </a:p>
                  </a:txBody>
                  <a:tcPr marT="91425" marB="91425" marR="91425" marL="91425"/>
                </a:tc>
                <a:tc>
                  <a:txBody>
                    <a:bodyPr/>
                    <a:lstStyle/>
                    <a:p>
                      <a:pPr indent="0" lvl="0" marL="0" rtl="0" algn="l">
                        <a:lnSpc>
                          <a:spcPct val="150000"/>
                        </a:lnSpc>
                        <a:spcBef>
                          <a:spcPts val="1200"/>
                        </a:spcBef>
                        <a:spcAft>
                          <a:spcPts val="1200"/>
                        </a:spcAft>
                        <a:buNone/>
                      </a:pPr>
                      <a:r>
                        <a:rPr b="1" lang="en-US" sz="1100"/>
                        <a:t>4</a:t>
                      </a:r>
                      <a:endParaRPr b="1" sz="1100"/>
                    </a:p>
                  </a:txBody>
                  <a:tcPr marT="91425" marB="91425" marR="91425" marL="91425"/>
                </a:tc>
              </a:tr>
              <a:tr h="247650">
                <a:tc>
                  <a:txBody>
                    <a:bodyPr/>
                    <a:lstStyle/>
                    <a:p>
                      <a:pPr indent="0" lvl="0" marL="0" rtl="0" algn="l">
                        <a:lnSpc>
                          <a:spcPct val="150000"/>
                        </a:lnSpc>
                        <a:spcBef>
                          <a:spcPts val="1200"/>
                        </a:spcBef>
                        <a:spcAft>
                          <a:spcPts val="1200"/>
                        </a:spcAft>
                        <a:buNone/>
                      </a:pPr>
                      <a:r>
                        <a:rPr b="1" lang="en-US" sz="1100"/>
                        <a:t> </a:t>
                      </a:r>
                      <a:endParaRPr b="1" sz="1100"/>
                    </a:p>
                  </a:txBody>
                  <a:tcPr marT="91425" marB="91425" marR="91425" marL="91425"/>
                </a:tc>
                <a:tc>
                  <a:txBody>
                    <a:bodyPr/>
                    <a:lstStyle/>
                    <a:p>
                      <a:pPr indent="0" lvl="0" marL="0" rtl="0" algn="r">
                        <a:lnSpc>
                          <a:spcPct val="150000"/>
                        </a:lnSpc>
                        <a:spcBef>
                          <a:spcPts val="1200"/>
                        </a:spcBef>
                        <a:spcAft>
                          <a:spcPts val="1200"/>
                        </a:spcAft>
                        <a:buNone/>
                      </a:pPr>
                      <a:r>
                        <a:rPr lang="en-US"/>
                        <a:t> </a:t>
                      </a:r>
                      <a:endParaRPr/>
                    </a:p>
                  </a:txBody>
                  <a:tcPr marT="91425" marB="91425" marR="91425" marL="91425"/>
                </a:tc>
                <a:tc>
                  <a:txBody>
                    <a:bodyPr/>
                    <a:lstStyle/>
                    <a:p>
                      <a:pPr indent="0" lvl="0" marL="0" rtl="0" algn="l">
                        <a:lnSpc>
                          <a:spcPct val="150000"/>
                        </a:lnSpc>
                        <a:spcBef>
                          <a:spcPts val="1200"/>
                        </a:spcBef>
                        <a:spcAft>
                          <a:spcPts val="1200"/>
                        </a:spcAft>
                        <a:buNone/>
                      </a:pPr>
                      <a:r>
                        <a:rPr b="1" lang="en-US" sz="1100"/>
                        <a:t>Tổng số câu</a:t>
                      </a:r>
                      <a:endParaRPr b="1" sz="1100"/>
                    </a:p>
                  </a:txBody>
                  <a:tcPr marT="91425" marB="91425" marR="91425" marL="91425"/>
                </a:tc>
                <a:tc>
                  <a:txBody>
                    <a:bodyPr/>
                    <a:lstStyle/>
                    <a:p>
                      <a:pPr indent="0" lvl="0" marL="0" rtl="0" algn="l">
                        <a:lnSpc>
                          <a:spcPct val="150000"/>
                        </a:lnSpc>
                        <a:spcBef>
                          <a:spcPts val="1200"/>
                        </a:spcBef>
                        <a:spcAft>
                          <a:spcPts val="1200"/>
                        </a:spcAft>
                        <a:buNone/>
                      </a:pPr>
                      <a:r>
                        <a:rPr b="1" lang="en-US" sz="1100"/>
                        <a:t>30</a:t>
                      </a:r>
                      <a:endParaRPr b="1" sz="1100"/>
                    </a:p>
                  </a:txBody>
                  <a:tcPr marT="91425" marB="91425" marR="91425" marL="91425"/>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pic>
        <p:nvPicPr>
          <p:cNvPr descr="preencoded.png" id="618" name="Google Shape;618;p74"/>
          <p:cNvPicPr preferRelativeResize="0"/>
          <p:nvPr/>
        </p:nvPicPr>
        <p:blipFill rotWithShape="1">
          <a:blip r:embed="rId3">
            <a:alphaModFix/>
          </a:blip>
          <a:srcRect b="0" l="0" r="0" t="0"/>
          <a:stretch/>
        </p:blipFill>
        <p:spPr>
          <a:xfrm>
            <a:off x="8869680" y="0"/>
            <a:ext cx="5760720" cy="8229600"/>
          </a:xfrm>
          <a:prstGeom prst="rect">
            <a:avLst/>
          </a:prstGeom>
          <a:noFill/>
          <a:ln>
            <a:noFill/>
          </a:ln>
        </p:spPr>
      </p:pic>
      <p:sp>
        <p:nvSpPr>
          <p:cNvPr id="619" name="Google Shape;619;p74"/>
          <p:cNvSpPr/>
          <p:nvPr/>
        </p:nvSpPr>
        <p:spPr>
          <a:xfrm>
            <a:off x="758309" y="1419463"/>
            <a:ext cx="7627382" cy="1425416"/>
          </a:xfrm>
          <a:prstGeom prst="rect">
            <a:avLst/>
          </a:prstGeom>
          <a:noFill/>
          <a:ln>
            <a:noFill/>
          </a:ln>
        </p:spPr>
        <p:txBody>
          <a:bodyPr anchorCtr="0" anchor="t" bIns="0" lIns="0" spcFirstLastPara="1" rIns="0" wrap="square" tIns="0">
            <a:noAutofit/>
          </a:bodyPr>
          <a:lstStyle/>
          <a:p>
            <a:pPr indent="0" lvl="0" marL="0" marR="0" rtl="0" algn="l">
              <a:lnSpc>
                <a:spcPct val="125842"/>
              </a:lnSpc>
              <a:spcBef>
                <a:spcPts val="0"/>
              </a:spcBef>
              <a:spcAft>
                <a:spcPts val="0"/>
              </a:spcAft>
              <a:buClr>
                <a:srgbClr val="2E3C4E"/>
              </a:buClr>
              <a:buSzPts val="4450"/>
              <a:buFont typeface="Barlow"/>
              <a:buNone/>
            </a:pPr>
            <a:r>
              <a:rPr b="1" i="0" lang="en-US" sz="4450" u="none" cap="none" strike="noStrike">
                <a:solidFill>
                  <a:srgbClr val="2E3C4E"/>
                </a:solidFill>
                <a:latin typeface="Barlow"/>
                <a:ea typeface="Barlow"/>
                <a:cs typeface="Barlow"/>
                <a:sym typeface="Barlow"/>
              </a:rPr>
              <a:t>Kết luận về Hệ thống Querymancer</a:t>
            </a:r>
            <a:endParaRPr b="0" i="0" sz="4450" u="none" cap="none" strike="noStrike"/>
          </a:p>
        </p:txBody>
      </p:sp>
      <p:sp>
        <p:nvSpPr>
          <p:cNvPr id="620" name="Google Shape;620;p74"/>
          <p:cNvSpPr/>
          <p:nvPr/>
        </p:nvSpPr>
        <p:spPr>
          <a:xfrm>
            <a:off x="758309" y="3169801"/>
            <a:ext cx="7627382" cy="1733550"/>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384653"/>
              </a:buClr>
              <a:buSzPts val="1700"/>
              <a:buFont typeface="Montserrat"/>
              <a:buNone/>
            </a:pPr>
            <a:r>
              <a:rPr b="0" i="0" lang="en-US" sz="1700" u="none" cap="none" strike="noStrike">
                <a:solidFill>
                  <a:srgbClr val="384653"/>
                </a:solidFill>
                <a:latin typeface="Montserrat"/>
                <a:ea typeface="Montserrat"/>
                <a:cs typeface="Montserrat"/>
                <a:sym typeface="Montserrat"/>
              </a:rPr>
              <a:t>Hệ thống Querymancer được phát triển nhằm hỗ trợ người dùng truy xuất dữ liệu qua câu hỏi ngôn ngữ tự nhiên, sử dụng mô hình ngôn ngữ lớn Qwen 2.5 để chuyển đổi câu hỏi thành truy vấn SQL. Kết quả được trả về trực tiếp trên giao diện Streamlit, giúp truy vấn dữ liệu dễ dàng và nhanh chóng.</a:t>
            </a:r>
            <a:endParaRPr b="0" i="0" sz="1700" u="none" cap="none" strike="noStrike"/>
          </a:p>
        </p:txBody>
      </p:sp>
      <p:sp>
        <p:nvSpPr>
          <p:cNvPr id="621" name="Google Shape;621;p74"/>
          <p:cNvSpPr/>
          <p:nvPr/>
        </p:nvSpPr>
        <p:spPr>
          <a:xfrm>
            <a:off x="758309" y="5147072"/>
            <a:ext cx="7627382" cy="1040130"/>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384653"/>
              </a:buClr>
              <a:buSzPts val="1700"/>
              <a:buFont typeface="Montserrat"/>
              <a:buNone/>
            </a:pPr>
            <a:r>
              <a:rPr b="0" i="0" lang="en-US" sz="1700" u="none" cap="none" strike="noStrike">
                <a:solidFill>
                  <a:srgbClr val="384653"/>
                </a:solidFill>
                <a:latin typeface="Montserrat"/>
                <a:ea typeface="Montserrat"/>
                <a:cs typeface="Montserrat"/>
                <a:sym typeface="Montserrat"/>
              </a:rPr>
              <a:t>Trong phần này, chúng ta sẽ tổng quan về hệ thống, phân loại câu hỏi, đánh giá kết quả và đưa ra kết luận chung về hiệu quả hoạt động cũng như hướng phát triển tương lai.</a:t>
            </a:r>
            <a:endParaRPr b="0" i="0" sz="1700" u="none" cap="none" strike="noStrike"/>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pic>
        <p:nvPicPr>
          <p:cNvPr descr="preencoded.png" id="627" name="Google Shape;627;p75"/>
          <p:cNvPicPr preferRelativeResize="0"/>
          <p:nvPr/>
        </p:nvPicPr>
        <p:blipFill rotWithShape="1">
          <a:blip r:embed="rId3">
            <a:alphaModFix/>
          </a:blip>
          <a:srcRect b="0" l="0" r="0" t="0"/>
          <a:stretch/>
        </p:blipFill>
        <p:spPr>
          <a:xfrm>
            <a:off x="0" y="0"/>
            <a:ext cx="5760720" cy="8229600"/>
          </a:xfrm>
          <a:prstGeom prst="rect">
            <a:avLst/>
          </a:prstGeom>
          <a:noFill/>
          <a:ln>
            <a:noFill/>
          </a:ln>
        </p:spPr>
      </p:pic>
      <p:sp>
        <p:nvSpPr>
          <p:cNvPr id="628" name="Google Shape;628;p75"/>
          <p:cNvSpPr/>
          <p:nvPr/>
        </p:nvSpPr>
        <p:spPr>
          <a:xfrm>
            <a:off x="6244709" y="1330047"/>
            <a:ext cx="7627382" cy="1425416"/>
          </a:xfrm>
          <a:prstGeom prst="rect">
            <a:avLst/>
          </a:prstGeom>
          <a:noFill/>
          <a:ln>
            <a:noFill/>
          </a:ln>
        </p:spPr>
        <p:txBody>
          <a:bodyPr anchorCtr="0" anchor="t" bIns="0" lIns="0" spcFirstLastPara="1" rIns="0" wrap="square" tIns="0">
            <a:noAutofit/>
          </a:bodyPr>
          <a:lstStyle/>
          <a:p>
            <a:pPr indent="0" lvl="0" marL="0" marR="0" rtl="0" algn="l">
              <a:lnSpc>
                <a:spcPct val="125842"/>
              </a:lnSpc>
              <a:spcBef>
                <a:spcPts val="0"/>
              </a:spcBef>
              <a:spcAft>
                <a:spcPts val="0"/>
              </a:spcAft>
              <a:buClr>
                <a:srgbClr val="2E3C4E"/>
              </a:buClr>
              <a:buSzPts val="4450"/>
              <a:buFont typeface="Barlow"/>
              <a:buNone/>
            </a:pPr>
            <a:r>
              <a:rPr b="1" i="0" lang="en-US" sz="4450" u="none" cap="none" strike="noStrike">
                <a:solidFill>
                  <a:srgbClr val="2E3C4E"/>
                </a:solidFill>
                <a:latin typeface="Barlow"/>
                <a:ea typeface="Barlow"/>
                <a:cs typeface="Barlow"/>
                <a:sym typeface="Barlow"/>
              </a:rPr>
              <a:t>Tổng quan hệ thống Querymancer</a:t>
            </a:r>
            <a:endParaRPr b="0" i="0" sz="4450" u="none" cap="none" strike="noStrike"/>
          </a:p>
        </p:txBody>
      </p:sp>
      <p:sp>
        <p:nvSpPr>
          <p:cNvPr id="629" name="Google Shape;629;p75"/>
          <p:cNvSpPr/>
          <p:nvPr/>
        </p:nvSpPr>
        <p:spPr>
          <a:xfrm>
            <a:off x="6244709" y="3080385"/>
            <a:ext cx="3705463" cy="1974652"/>
          </a:xfrm>
          <a:prstGeom prst="roundRect">
            <a:avLst>
              <a:gd fmla="val 16458" name="adj"/>
            </a:avLst>
          </a:prstGeom>
          <a:solidFill>
            <a:srgbClr val="D4E9F7"/>
          </a:solidFill>
          <a:ln cap="flat" cmpd="sng" w="9525">
            <a:solidFill>
              <a:srgbClr val="BACF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75"/>
          <p:cNvSpPr/>
          <p:nvPr/>
        </p:nvSpPr>
        <p:spPr>
          <a:xfrm>
            <a:off x="6468904" y="3304580"/>
            <a:ext cx="2850713" cy="356235"/>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384653"/>
              </a:buClr>
              <a:buSzPts val="2200"/>
              <a:buFont typeface="Barlow"/>
              <a:buNone/>
            </a:pPr>
            <a:r>
              <a:rPr b="1" i="0" lang="en-US" sz="2200" u="none" cap="none" strike="noStrike">
                <a:solidFill>
                  <a:srgbClr val="384653"/>
                </a:solidFill>
                <a:latin typeface="Barlow"/>
                <a:ea typeface="Barlow"/>
                <a:cs typeface="Barlow"/>
                <a:sym typeface="Barlow"/>
              </a:rPr>
              <a:t>Mục tiêu hệ thống</a:t>
            </a:r>
            <a:endParaRPr b="0" i="0" sz="2200" u="none" cap="none" strike="noStrike"/>
          </a:p>
        </p:txBody>
      </p:sp>
      <p:sp>
        <p:nvSpPr>
          <p:cNvPr id="631" name="Google Shape;631;p75"/>
          <p:cNvSpPr/>
          <p:nvPr/>
        </p:nvSpPr>
        <p:spPr>
          <a:xfrm>
            <a:off x="6468904" y="3790712"/>
            <a:ext cx="3257074" cy="1040130"/>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384653"/>
              </a:buClr>
              <a:buSzPts val="1700"/>
              <a:buFont typeface="Montserrat"/>
              <a:buNone/>
            </a:pPr>
            <a:r>
              <a:rPr b="0" i="0" lang="en-US" sz="1700" u="none" cap="none" strike="noStrike">
                <a:solidFill>
                  <a:srgbClr val="384653"/>
                </a:solidFill>
                <a:latin typeface="Montserrat"/>
                <a:ea typeface="Montserrat"/>
                <a:cs typeface="Montserrat"/>
                <a:sym typeface="Montserrat"/>
              </a:rPr>
              <a:t>Hỗ trợ truy xuất thông tin từ cơ sở dữ liệu qua câu hỏi ngôn ngữ tự nhiên.</a:t>
            </a:r>
            <a:endParaRPr b="0" i="0" sz="1700" u="none" cap="none" strike="noStrike"/>
          </a:p>
        </p:txBody>
      </p:sp>
      <p:sp>
        <p:nvSpPr>
          <p:cNvPr id="632" name="Google Shape;632;p75"/>
          <p:cNvSpPr/>
          <p:nvPr/>
        </p:nvSpPr>
        <p:spPr>
          <a:xfrm>
            <a:off x="10166747" y="3080385"/>
            <a:ext cx="3705463" cy="1974652"/>
          </a:xfrm>
          <a:prstGeom prst="roundRect">
            <a:avLst>
              <a:gd fmla="val 16458" name="adj"/>
            </a:avLst>
          </a:prstGeom>
          <a:solidFill>
            <a:srgbClr val="D4E9F7"/>
          </a:solidFill>
          <a:ln cap="flat" cmpd="sng" w="9525">
            <a:solidFill>
              <a:srgbClr val="BACF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75"/>
          <p:cNvSpPr/>
          <p:nvPr/>
        </p:nvSpPr>
        <p:spPr>
          <a:xfrm>
            <a:off x="10390942" y="3304580"/>
            <a:ext cx="2850713" cy="356235"/>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384653"/>
              </a:buClr>
              <a:buSzPts val="2200"/>
              <a:buFont typeface="Barlow"/>
              <a:buNone/>
            </a:pPr>
            <a:r>
              <a:rPr b="1" i="0" lang="en-US" sz="2200" u="none" cap="none" strike="noStrike">
                <a:solidFill>
                  <a:srgbClr val="384653"/>
                </a:solidFill>
                <a:latin typeface="Barlow"/>
                <a:ea typeface="Barlow"/>
                <a:cs typeface="Barlow"/>
                <a:sym typeface="Barlow"/>
              </a:rPr>
              <a:t>Công nghệ sử dụng</a:t>
            </a:r>
            <a:endParaRPr b="0" i="0" sz="2200" u="none" cap="none" strike="noStrike"/>
          </a:p>
        </p:txBody>
      </p:sp>
      <p:sp>
        <p:nvSpPr>
          <p:cNvPr id="634" name="Google Shape;634;p75"/>
          <p:cNvSpPr/>
          <p:nvPr/>
        </p:nvSpPr>
        <p:spPr>
          <a:xfrm>
            <a:off x="10390942" y="3790712"/>
            <a:ext cx="3257074" cy="693420"/>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384653"/>
              </a:buClr>
              <a:buSzPts val="1700"/>
              <a:buFont typeface="Montserrat"/>
              <a:buNone/>
            </a:pPr>
            <a:r>
              <a:rPr b="0" i="0" lang="en-US" sz="1700" u="none" cap="none" strike="noStrike">
                <a:solidFill>
                  <a:srgbClr val="384653"/>
                </a:solidFill>
                <a:latin typeface="Montserrat"/>
                <a:ea typeface="Montserrat"/>
                <a:cs typeface="Montserrat"/>
                <a:sym typeface="Montserrat"/>
              </a:rPr>
              <a:t>Mô hình ngôn ngữ lớn Qwen 2.5 và SQL Server.</a:t>
            </a:r>
            <a:endParaRPr b="0" i="0" sz="1700" u="none" cap="none" strike="noStrike"/>
          </a:p>
        </p:txBody>
      </p:sp>
      <p:sp>
        <p:nvSpPr>
          <p:cNvPr id="635" name="Google Shape;635;p75"/>
          <p:cNvSpPr/>
          <p:nvPr/>
        </p:nvSpPr>
        <p:spPr>
          <a:xfrm>
            <a:off x="6244709" y="5271611"/>
            <a:ext cx="7627382" cy="1627942"/>
          </a:xfrm>
          <a:prstGeom prst="roundRect">
            <a:avLst>
              <a:gd fmla="val 19963" name="adj"/>
            </a:avLst>
          </a:prstGeom>
          <a:solidFill>
            <a:srgbClr val="D4E9F7"/>
          </a:solidFill>
          <a:ln cap="flat" cmpd="sng" w="9525">
            <a:solidFill>
              <a:srgbClr val="BACF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75"/>
          <p:cNvSpPr/>
          <p:nvPr/>
        </p:nvSpPr>
        <p:spPr>
          <a:xfrm>
            <a:off x="6468904" y="5495806"/>
            <a:ext cx="2850713" cy="356235"/>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384653"/>
              </a:buClr>
              <a:buSzPts val="2200"/>
              <a:buFont typeface="Barlow"/>
              <a:buNone/>
            </a:pPr>
            <a:r>
              <a:rPr b="1" i="0" lang="en-US" sz="2200" u="none" cap="none" strike="noStrike">
                <a:solidFill>
                  <a:srgbClr val="384653"/>
                </a:solidFill>
                <a:latin typeface="Barlow"/>
                <a:ea typeface="Barlow"/>
                <a:cs typeface="Barlow"/>
                <a:sym typeface="Barlow"/>
              </a:rPr>
              <a:t>Giao diện</a:t>
            </a:r>
            <a:endParaRPr b="0" i="0" sz="2200" u="none" cap="none" strike="noStrike"/>
          </a:p>
        </p:txBody>
      </p:sp>
      <p:sp>
        <p:nvSpPr>
          <p:cNvPr id="637" name="Google Shape;637;p75"/>
          <p:cNvSpPr/>
          <p:nvPr/>
        </p:nvSpPr>
        <p:spPr>
          <a:xfrm>
            <a:off x="6468904" y="5981938"/>
            <a:ext cx="7178993" cy="693420"/>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384653"/>
              </a:buClr>
              <a:buSzPts val="1700"/>
              <a:buFont typeface="Montserrat"/>
              <a:buNone/>
            </a:pPr>
            <a:r>
              <a:rPr b="0" i="0" lang="en-US" sz="1700" u="none" cap="none" strike="noStrike">
                <a:solidFill>
                  <a:srgbClr val="384653"/>
                </a:solidFill>
                <a:latin typeface="Montserrat"/>
                <a:ea typeface="Montserrat"/>
                <a:cs typeface="Montserrat"/>
                <a:sym typeface="Montserrat"/>
              </a:rPr>
              <a:t>Trả kết quả trực tiếp trên giao diện Streamlit thân thiện với người dùng.</a:t>
            </a:r>
            <a:endParaRPr b="0" i="0" sz="1700" u="none" cap="none" strike="noStrike"/>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76"/>
          <p:cNvSpPr/>
          <p:nvPr/>
        </p:nvSpPr>
        <p:spPr>
          <a:xfrm>
            <a:off x="758309" y="2583775"/>
            <a:ext cx="8765500" cy="712708"/>
          </a:xfrm>
          <a:prstGeom prst="rect">
            <a:avLst/>
          </a:prstGeom>
          <a:noFill/>
          <a:ln>
            <a:noFill/>
          </a:ln>
        </p:spPr>
        <p:txBody>
          <a:bodyPr anchorCtr="0" anchor="t" bIns="0" lIns="0" spcFirstLastPara="1" rIns="0" wrap="square" tIns="0">
            <a:noAutofit/>
          </a:bodyPr>
          <a:lstStyle/>
          <a:p>
            <a:pPr indent="0" lvl="0" marL="0" marR="0" rtl="0" algn="l">
              <a:lnSpc>
                <a:spcPct val="125842"/>
              </a:lnSpc>
              <a:spcBef>
                <a:spcPts val="0"/>
              </a:spcBef>
              <a:spcAft>
                <a:spcPts val="0"/>
              </a:spcAft>
              <a:buClr>
                <a:srgbClr val="2E3C4E"/>
              </a:buClr>
              <a:buSzPts val="4450"/>
              <a:buFont typeface="Barlow"/>
              <a:buNone/>
            </a:pPr>
            <a:r>
              <a:rPr b="1" i="0" lang="en-US" sz="4450" u="none" cap="none" strike="noStrike">
                <a:solidFill>
                  <a:srgbClr val="2E3C4E"/>
                </a:solidFill>
                <a:latin typeface="Barlow"/>
                <a:ea typeface="Barlow"/>
                <a:cs typeface="Barlow"/>
                <a:sym typeface="Barlow"/>
              </a:rPr>
              <a:t>Phân loại câu hỏi ngôn ngữ tự nhiên</a:t>
            </a:r>
            <a:endParaRPr b="0" i="0" sz="4450" u="none" cap="none" strike="noStrike"/>
          </a:p>
        </p:txBody>
      </p:sp>
      <p:sp>
        <p:nvSpPr>
          <p:cNvPr id="644" name="Google Shape;644;p76"/>
          <p:cNvSpPr/>
          <p:nvPr/>
        </p:nvSpPr>
        <p:spPr>
          <a:xfrm>
            <a:off x="758309" y="3837980"/>
            <a:ext cx="2850713" cy="356235"/>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2E3C4E"/>
              </a:buClr>
              <a:buSzPts val="2200"/>
              <a:buFont typeface="Barlow"/>
              <a:buNone/>
            </a:pPr>
            <a:r>
              <a:rPr b="1" i="0" lang="en-US" sz="2200" u="none" cap="none" strike="noStrike">
                <a:solidFill>
                  <a:srgbClr val="2E3C4E"/>
                </a:solidFill>
                <a:latin typeface="Barlow"/>
                <a:ea typeface="Barlow"/>
                <a:cs typeface="Barlow"/>
                <a:sym typeface="Barlow"/>
              </a:rPr>
              <a:t>Câu hỏi Cơ bản</a:t>
            </a:r>
            <a:endParaRPr b="0" i="0" sz="2200" u="none" cap="none" strike="noStrike"/>
          </a:p>
        </p:txBody>
      </p:sp>
      <p:sp>
        <p:nvSpPr>
          <p:cNvPr id="645" name="Google Shape;645;p76"/>
          <p:cNvSpPr/>
          <p:nvPr/>
        </p:nvSpPr>
        <p:spPr>
          <a:xfrm>
            <a:off x="758309" y="4410789"/>
            <a:ext cx="4018359" cy="693420"/>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384653"/>
              </a:buClr>
              <a:buSzPts val="1700"/>
              <a:buFont typeface="Montserrat"/>
              <a:buNone/>
            </a:pPr>
            <a:r>
              <a:rPr b="0" i="0" lang="en-US" sz="1700" u="none" cap="none" strike="noStrike">
                <a:solidFill>
                  <a:srgbClr val="384653"/>
                </a:solidFill>
                <a:latin typeface="Montserrat"/>
                <a:ea typeface="Montserrat"/>
                <a:cs typeface="Montserrat"/>
                <a:sym typeface="Montserrat"/>
              </a:rPr>
              <a:t>Truy xuất thông tin đơn giản từ một bảng hoặc một cột dữ liệu cụ thể.</a:t>
            </a:r>
            <a:endParaRPr b="0" i="0" sz="1700" u="none" cap="none" strike="noStrike"/>
          </a:p>
        </p:txBody>
      </p:sp>
      <p:sp>
        <p:nvSpPr>
          <p:cNvPr id="646" name="Google Shape;646;p76"/>
          <p:cNvSpPr/>
          <p:nvPr/>
        </p:nvSpPr>
        <p:spPr>
          <a:xfrm>
            <a:off x="5312926" y="3837980"/>
            <a:ext cx="2850713" cy="356235"/>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2E3C4E"/>
              </a:buClr>
              <a:buSzPts val="2200"/>
              <a:buFont typeface="Barlow"/>
              <a:buNone/>
            </a:pPr>
            <a:r>
              <a:rPr b="1" i="0" lang="en-US" sz="2200" u="none" cap="none" strike="noStrike">
                <a:solidFill>
                  <a:srgbClr val="2E3C4E"/>
                </a:solidFill>
                <a:latin typeface="Barlow"/>
                <a:ea typeface="Barlow"/>
                <a:cs typeface="Barlow"/>
                <a:sym typeface="Barlow"/>
              </a:rPr>
              <a:t>Câu hỏi Có điều kiện</a:t>
            </a:r>
            <a:endParaRPr b="0" i="0" sz="2200" u="none" cap="none" strike="noStrike"/>
          </a:p>
        </p:txBody>
      </p:sp>
      <p:sp>
        <p:nvSpPr>
          <p:cNvPr id="647" name="Google Shape;647;p76"/>
          <p:cNvSpPr/>
          <p:nvPr/>
        </p:nvSpPr>
        <p:spPr>
          <a:xfrm>
            <a:off x="5312926" y="4410789"/>
            <a:ext cx="4018359" cy="1040130"/>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384653"/>
              </a:buClr>
              <a:buSzPts val="1700"/>
              <a:buFont typeface="Montserrat"/>
              <a:buNone/>
            </a:pPr>
            <a:r>
              <a:rPr b="0" i="0" lang="en-US" sz="1700" u="none" cap="none" strike="noStrike">
                <a:solidFill>
                  <a:srgbClr val="384653"/>
                </a:solidFill>
                <a:latin typeface="Montserrat"/>
                <a:ea typeface="Montserrat"/>
                <a:cs typeface="Montserrat"/>
                <a:sym typeface="Montserrat"/>
              </a:rPr>
              <a:t>Yêu cầu lọc dữ liệu theo điều kiện như khoảng thời gian hoặc giá trị cụ thể.</a:t>
            </a:r>
            <a:endParaRPr b="0" i="0" sz="1700" u="none" cap="none" strike="noStrike"/>
          </a:p>
        </p:txBody>
      </p:sp>
      <p:sp>
        <p:nvSpPr>
          <p:cNvPr id="648" name="Google Shape;648;p76"/>
          <p:cNvSpPr/>
          <p:nvPr/>
        </p:nvSpPr>
        <p:spPr>
          <a:xfrm>
            <a:off x="9867543" y="3837980"/>
            <a:ext cx="2850713" cy="356235"/>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2E3C4E"/>
              </a:buClr>
              <a:buSzPts val="2200"/>
              <a:buFont typeface="Barlow"/>
              <a:buNone/>
            </a:pPr>
            <a:r>
              <a:rPr b="1" i="0" lang="en-US" sz="2200" u="none" cap="none" strike="noStrike">
                <a:solidFill>
                  <a:srgbClr val="2E3C4E"/>
                </a:solidFill>
                <a:latin typeface="Barlow"/>
                <a:ea typeface="Barlow"/>
                <a:cs typeface="Barlow"/>
                <a:sym typeface="Barlow"/>
              </a:rPr>
              <a:t>Câu hỏi Mơ hồ</a:t>
            </a:r>
            <a:endParaRPr b="0" i="0" sz="2200" u="none" cap="none" strike="noStrike"/>
          </a:p>
        </p:txBody>
      </p:sp>
      <p:sp>
        <p:nvSpPr>
          <p:cNvPr id="649" name="Google Shape;649;p76"/>
          <p:cNvSpPr/>
          <p:nvPr/>
        </p:nvSpPr>
        <p:spPr>
          <a:xfrm>
            <a:off x="9867543" y="4410789"/>
            <a:ext cx="4018359" cy="693420"/>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384653"/>
              </a:buClr>
              <a:buSzPts val="1700"/>
              <a:buFont typeface="Montserrat"/>
              <a:buNone/>
            </a:pPr>
            <a:r>
              <a:rPr b="0" i="0" lang="en-US" sz="1700" u="none" cap="none" strike="noStrike">
                <a:solidFill>
                  <a:srgbClr val="384653"/>
                </a:solidFill>
                <a:latin typeface="Montserrat"/>
                <a:ea typeface="Montserrat"/>
                <a:cs typeface="Montserrat"/>
                <a:sym typeface="Montserrat"/>
              </a:rPr>
              <a:t>Câu hỏi chưa rõ ràng, thiếu thông tin để tạo truy vấn chính xác.</a:t>
            </a:r>
            <a:endParaRPr b="0" i="0" sz="1700" u="none" cap="none" strike="noStrike"/>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pic>
        <p:nvPicPr>
          <p:cNvPr descr="preencoded.png" id="655" name="Google Shape;655;p77"/>
          <p:cNvPicPr preferRelativeResize="0"/>
          <p:nvPr/>
        </p:nvPicPr>
        <p:blipFill rotWithShape="1">
          <a:blip r:embed="rId3">
            <a:alphaModFix/>
          </a:blip>
          <a:srcRect b="0" l="0" r="0" t="0"/>
          <a:stretch/>
        </p:blipFill>
        <p:spPr>
          <a:xfrm>
            <a:off x="0" y="0"/>
            <a:ext cx="5760720" cy="8229600"/>
          </a:xfrm>
          <a:prstGeom prst="rect">
            <a:avLst/>
          </a:prstGeom>
          <a:noFill/>
          <a:ln>
            <a:noFill/>
          </a:ln>
        </p:spPr>
      </p:pic>
      <p:sp>
        <p:nvSpPr>
          <p:cNvPr id="656" name="Google Shape;656;p77"/>
          <p:cNvSpPr/>
          <p:nvPr/>
        </p:nvSpPr>
        <p:spPr>
          <a:xfrm>
            <a:off x="6244709" y="1595676"/>
            <a:ext cx="7627382" cy="1425416"/>
          </a:xfrm>
          <a:prstGeom prst="rect">
            <a:avLst/>
          </a:prstGeom>
          <a:noFill/>
          <a:ln>
            <a:noFill/>
          </a:ln>
        </p:spPr>
        <p:txBody>
          <a:bodyPr anchorCtr="0" anchor="t" bIns="0" lIns="0" spcFirstLastPara="1" rIns="0" wrap="square" tIns="0">
            <a:noAutofit/>
          </a:bodyPr>
          <a:lstStyle/>
          <a:p>
            <a:pPr indent="0" lvl="0" marL="0" marR="0" rtl="0" algn="l">
              <a:lnSpc>
                <a:spcPct val="125842"/>
              </a:lnSpc>
              <a:spcBef>
                <a:spcPts val="0"/>
              </a:spcBef>
              <a:spcAft>
                <a:spcPts val="0"/>
              </a:spcAft>
              <a:buClr>
                <a:srgbClr val="2E3C4E"/>
              </a:buClr>
              <a:buSzPts val="4450"/>
              <a:buFont typeface="Barlow"/>
              <a:buNone/>
            </a:pPr>
            <a:r>
              <a:rPr b="1" i="0" lang="en-US" sz="4450" u="none" cap="none" strike="noStrike">
                <a:solidFill>
                  <a:srgbClr val="2E3C4E"/>
                </a:solidFill>
                <a:latin typeface="Barlow"/>
                <a:ea typeface="Barlow"/>
                <a:cs typeface="Barlow"/>
                <a:sym typeface="Barlow"/>
              </a:rPr>
              <a:t>Đánh giá kết quả với câu hỏi Cơ bản</a:t>
            </a:r>
            <a:endParaRPr b="0" i="0" sz="4450" u="none" cap="none" strike="noStrike"/>
          </a:p>
        </p:txBody>
      </p:sp>
      <p:sp>
        <p:nvSpPr>
          <p:cNvPr id="657" name="Google Shape;657;p77"/>
          <p:cNvSpPr/>
          <p:nvPr/>
        </p:nvSpPr>
        <p:spPr>
          <a:xfrm>
            <a:off x="6244709" y="3346013"/>
            <a:ext cx="487442" cy="487442"/>
          </a:xfrm>
          <a:prstGeom prst="roundRect">
            <a:avLst>
              <a:gd fmla="val 66673" name="adj"/>
            </a:avLst>
          </a:prstGeom>
          <a:solidFill>
            <a:srgbClr val="D4E9F7"/>
          </a:solidFill>
          <a:ln cap="flat" cmpd="sng" w="9525">
            <a:solidFill>
              <a:srgbClr val="BACF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77"/>
          <p:cNvSpPr/>
          <p:nvPr/>
        </p:nvSpPr>
        <p:spPr>
          <a:xfrm>
            <a:off x="6948726" y="3420428"/>
            <a:ext cx="2850713" cy="356235"/>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384653"/>
              </a:buClr>
              <a:buSzPts val="2200"/>
              <a:buFont typeface="Barlow"/>
              <a:buNone/>
            </a:pPr>
            <a:r>
              <a:rPr b="1" i="0" lang="en-US" sz="2200" u="none" cap="none" strike="noStrike">
                <a:solidFill>
                  <a:srgbClr val="384653"/>
                </a:solidFill>
                <a:latin typeface="Barlow"/>
                <a:ea typeface="Barlow"/>
                <a:cs typeface="Barlow"/>
                <a:sym typeface="Barlow"/>
              </a:rPr>
              <a:t>Tỷ lệ chính xác</a:t>
            </a:r>
            <a:endParaRPr b="0" i="0" sz="2200" u="none" cap="none" strike="noStrike"/>
          </a:p>
        </p:txBody>
      </p:sp>
      <p:sp>
        <p:nvSpPr>
          <p:cNvPr id="659" name="Google Shape;659;p77"/>
          <p:cNvSpPr/>
          <p:nvPr/>
        </p:nvSpPr>
        <p:spPr>
          <a:xfrm>
            <a:off x="6948726" y="3906560"/>
            <a:ext cx="2974300" cy="1040130"/>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384653"/>
              </a:buClr>
              <a:buSzPts val="1700"/>
              <a:buFont typeface="Montserrat"/>
              <a:buNone/>
            </a:pPr>
            <a:r>
              <a:rPr b="0" i="0" lang="en-US" sz="1700" u="none" cap="none" strike="noStrike">
                <a:solidFill>
                  <a:srgbClr val="384653"/>
                </a:solidFill>
                <a:latin typeface="Montserrat"/>
                <a:ea typeface="Montserrat"/>
                <a:cs typeface="Montserrat"/>
                <a:sym typeface="Montserrat"/>
              </a:rPr>
              <a:t>84.2% (16 trên 19 câu hỏi) được hệ thống trả về kết quả đúng.</a:t>
            </a:r>
            <a:endParaRPr b="0" i="0" sz="1700" u="none" cap="none" strike="noStrike"/>
          </a:p>
        </p:txBody>
      </p:sp>
      <p:sp>
        <p:nvSpPr>
          <p:cNvPr id="660" name="Google Shape;660;p77"/>
          <p:cNvSpPr/>
          <p:nvPr/>
        </p:nvSpPr>
        <p:spPr>
          <a:xfrm>
            <a:off x="10193774" y="3346013"/>
            <a:ext cx="487442" cy="487442"/>
          </a:xfrm>
          <a:prstGeom prst="roundRect">
            <a:avLst>
              <a:gd fmla="val 66673" name="adj"/>
            </a:avLst>
          </a:prstGeom>
          <a:solidFill>
            <a:srgbClr val="D4E9F7"/>
          </a:solidFill>
          <a:ln cap="flat" cmpd="sng" w="9525">
            <a:solidFill>
              <a:srgbClr val="BACF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77"/>
          <p:cNvSpPr/>
          <p:nvPr/>
        </p:nvSpPr>
        <p:spPr>
          <a:xfrm>
            <a:off x="10897791" y="3420428"/>
            <a:ext cx="2850713" cy="356235"/>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384653"/>
              </a:buClr>
              <a:buSzPts val="2200"/>
              <a:buFont typeface="Barlow"/>
              <a:buNone/>
            </a:pPr>
            <a:r>
              <a:rPr b="1" i="0" lang="en-US" sz="2200" u="none" cap="none" strike="noStrike">
                <a:solidFill>
                  <a:srgbClr val="384653"/>
                </a:solidFill>
                <a:latin typeface="Barlow"/>
                <a:ea typeface="Barlow"/>
                <a:cs typeface="Barlow"/>
                <a:sym typeface="Barlow"/>
              </a:rPr>
              <a:t>Những hạn chế</a:t>
            </a:r>
            <a:endParaRPr b="0" i="0" sz="2200" u="none" cap="none" strike="noStrike"/>
          </a:p>
        </p:txBody>
      </p:sp>
      <p:sp>
        <p:nvSpPr>
          <p:cNvPr id="662" name="Google Shape;662;p77"/>
          <p:cNvSpPr/>
          <p:nvPr/>
        </p:nvSpPr>
        <p:spPr>
          <a:xfrm>
            <a:off x="10897791" y="3906560"/>
            <a:ext cx="2974300" cy="1040130"/>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384653"/>
              </a:buClr>
              <a:buSzPts val="1700"/>
              <a:buFont typeface="Montserrat"/>
              <a:buNone/>
            </a:pPr>
            <a:r>
              <a:rPr b="0" i="0" lang="en-US" sz="1700" u="none" cap="none" strike="noStrike">
                <a:solidFill>
                  <a:srgbClr val="384653"/>
                </a:solidFill>
                <a:latin typeface="Montserrat"/>
                <a:ea typeface="Montserrat"/>
                <a:cs typeface="Montserrat"/>
                <a:sym typeface="Montserrat"/>
              </a:rPr>
              <a:t>Một số truy vấn sai do thiếu bảng hoặc tên cột không chính xác.</a:t>
            </a:r>
            <a:endParaRPr b="0" i="0" sz="1700" u="none" cap="none" strike="noStrike"/>
          </a:p>
        </p:txBody>
      </p:sp>
      <p:sp>
        <p:nvSpPr>
          <p:cNvPr id="663" name="Google Shape;663;p77"/>
          <p:cNvSpPr/>
          <p:nvPr/>
        </p:nvSpPr>
        <p:spPr>
          <a:xfrm>
            <a:off x="6244709" y="5379958"/>
            <a:ext cx="487442" cy="487442"/>
          </a:xfrm>
          <a:prstGeom prst="roundRect">
            <a:avLst>
              <a:gd fmla="val 66673" name="adj"/>
            </a:avLst>
          </a:prstGeom>
          <a:solidFill>
            <a:srgbClr val="D4E9F7"/>
          </a:solidFill>
          <a:ln cap="flat" cmpd="sng" w="9525">
            <a:solidFill>
              <a:srgbClr val="BACF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77"/>
          <p:cNvSpPr/>
          <p:nvPr/>
        </p:nvSpPr>
        <p:spPr>
          <a:xfrm>
            <a:off x="6948726" y="5454372"/>
            <a:ext cx="2850713" cy="356235"/>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384653"/>
              </a:buClr>
              <a:buSzPts val="2200"/>
              <a:buFont typeface="Barlow"/>
              <a:buNone/>
            </a:pPr>
            <a:r>
              <a:rPr b="1" i="0" lang="en-US" sz="2200" u="none" cap="none" strike="noStrike">
                <a:solidFill>
                  <a:srgbClr val="384653"/>
                </a:solidFill>
                <a:latin typeface="Barlow"/>
                <a:ea typeface="Barlow"/>
                <a:cs typeface="Barlow"/>
                <a:sym typeface="Barlow"/>
              </a:rPr>
              <a:t>Ý nghĩa</a:t>
            </a:r>
            <a:endParaRPr b="0" i="0" sz="2200" u="none" cap="none" strike="noStrike"/>
          </a:p>
        </p:txBody>
      </p:sp>
      <p:sp>
        <p:nvSpPr>
          <p:cNvPr id="665" name="Google Shape;665;p77"/>
          <p:cNvSpPr/>
          <p:nvPr/>
        </p:nvSpPr>
        <p:spPr>
          <a:xfrm>
            <a:off x="6948726" y="5940504"/>
            <a:ext cx="6923365" cy="693420"/>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384653"/>
              </a:buClr>
              <a:buSzPts val="1700"/>
              <a:buFont typeface="Montserrat"/>
              <a:buNone/>
            </a:pPr>
            <a:r>
              <a:rPr b="0" i="0" lang="en-US" sz="1700" u="none" cap="none" strike="noStrike">
                <a:solidFill>
                  <a:srgbClr val="384653"/>
                </a:solidFill>
                <a:latin typeface="Montserrat"/>
                <a:ea typeface="Montserrat"/>
                <a:cs typeface="Montserrat"/>
                <a:sym typeface="Montserrat"/>
              </a:rPr>
              <a:t>Hệ thống xử lý tốt các câu hỏi đơn giản, phù hợp với nhu cầu truy vấn cơ bản.</a:t>
            </a:r>
            <a:endParaRPr b="0" i="0" sz="1700" u="none" cap="none" strike="noStrike"/>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p78"/>
          <p:cNvSpPr/>
          <p:nvPr/>
        </p:nvSpPr>
        <p:spPr>
          <a:xfrm>
            <a:off x="758309" y="2757130"/>
            <a:ext cx="12335232" cy="712708"/>
          </a:xfrm>
          <a:prstGeom prst="rect">
            <a:avLst/>
          </a:prstGeom>
          <a:noFill/>
          <a:ln>
            <a:noFill/>
          </a:ln>
        </p:spPr>
        <p:txBody>
          <a:bodyPr anchorCtr="0" anchor="t" bIns="0" lIns="0" spcFirstLastPara="1" rIns="0" wrap="square" tIns="0">
            <a:noAutofit/>
          </a:bodyPr>
          <a:lstStyle/>
          <a:p>
            <a:pPr indent="0" lvl="0" marL="0" marR="0" rtl="0" algn="l">
              <a:lnSpc>
                <a:spcPct val="125842"/>
              </a:lnSpc>
              <a:spcBef>
                <a:spcPts val="0"/>
              </a:spcBef>
              <a:spcAft>
                <a:spcPts val="0"/>
              </a:spcAft>
              <a:buClr>
                <a:srgbClr val="2E3C4E"/>
              </a:buClr>
              <a:buSzPts val="4450"/>
              <a:buFont typeface="Barlow"/>
              <a:buNone/>
            </a:pPr>
            <a:r>
              <a:rPr b="1" i="0" lang="en-US" sz="4450" u="none" cap="none" strike="noStrike">
                <a:solidFill>
                  <a:srgbClr val="2E3C4E"/>
                </a:solidFill>
                <a:latin typeface="Barlow"/>
                <a:ea typeface="Barlow"/>
                <a:cs typeface="Barlow"/>
                <a:sym typeface="Barlow"/>
              </a:rPr>
              <a:t>Đánh giá kết quả với câu hỏi Có điều kiện và Mơ hồ</a:t>
            </a:r>
            <a:endParaRPr b="0" i="0" sz="4450" u="none" cap="none" strike="noStrike"/>
          </a:p>
        </p:txBody>
      </p:sp>
      <p:sp>
        <p:nvSpPr>
          <p:cNvPr id="672" name="Google Shape;672;p78"/>
          <p:cNvSpPr/>
          <p:nvPr/>
        </p:nvSpPr>
        <p:spPr>
          <a:xfrm>
            <a:off x="758309" y="4011335"/>
            <a:ext cx="2850713" cy="356235"/>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2E3C4E"/>
              </a:buClr>
              <a:buSzPts val="2200"/>
              <a:buFont typeface="Barlow"/>
              <a:buNone/>
            </a:pPr>
            <a:r>
              <a:rPr b="1" i="0" lang="en-US" sz="2200" u="none" cap="none" strike="noStrike">
                <a:solidFill>
                  <a:srgbClr val="2E3C4E"/>
                </a:solidFill>
                <a:latin typeface="Barlow"/>
                <a:ea typeface="Barlow"/>
                <a:cs typeface="Barlow"/>
                <a:sym typeface="Barlow"/>
              </a:rPr>
              <a:t>Câu hỏi Có điều kiện</a:t>
            </a:r>
            <a:endParaRPr b="0" i="0" sz="2200" u="none" cap="none" strike="noStrike"/>
          </a:p>
        </p:txBody>
      </p:sp>
      <p:sp>
        <p:nvSpPr>
          <p:cNvPr id="673" name="Google Shape;673;p78"/>
          <p:cNvSpPr/>
          <p:nvPr/>
        </p:nvSpPr>
        <p:spPr>
          <a:xfrm>
            <a:off x="758309" y="4584144"/>
            <a:ext cx="6292572" cy="693420"/>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384653"/>
              </a:buClr>
              <a:buSzPts val="1700"/>
              <a:buFont typeface="Montserrat"/>
              <a:buNone/>
            </a:pPr>
            <a:r>
              <a:rPr b="0" i="0" lang="en-US" sz="1700" u="none" cap="none" strike="noStrike">
                <a:solidFill>
                  <a:srgbClr val="384653"/>
                </a:solidFill>
                <a:latin typeface="Montserrat"/>
                <a:ea typeface="Montserrat"/>
                <a:cs typeface="Montserrat"/>
                <a:sym typeface="Montserrat"/>
              </a:rPr>
              <a:t>Hệ thống đạt tỷ lệ chính xác 100% (7/7), chứng tỏ khả năng xử lý ràng buộc tốt.</a:t>
            </a:r>
            <a:endParaRPr b="0" i="0" sz="1700" u="none" cap="none" strike="noStrike"/>
          </a:p>
        </p:txBody>
      </p:sp>
      <p:sp>
        <p:nvSpPr>
          <p:cNvPr id="674" name="Google Shape;674;p78"/>
          <p:cNvSpPr/>
          <p:nvPr/>
        </p:nvSpPr>
        <p:spPr>
          <a:xfrm>
            <a:off x="7587139" y="4011335"/>
            <a:ext cx="2850713" cy="356235"/>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2E3C4E"/>
              </a:buClr>
              <a:buSzPts val="2200"/>
              <a:buFont typeface="Barlow"/>
              <a:buNone/>
            </a:pPr>
            <a:r>
              <a:rPr b="1" i="0" lang="en-US" sz="2200" u="none" cap="none" strike="noStrike">
                <a:solidFill>
                  <a:srgbClr val="2E3C4E"/>
                </a:solidFill>
                <a:latin typeface="Barlow"/>
                <a:ea typeface="Barlow"/>
                <a:cs typeface="Barlow"/>
                <a:sym typeface="Barlow"/>
              </a:rPr>
              <a:t>Câu hỏi Mơ hồ</a:t>
            </a:r>
            <a:endParaRPr b="0" i="0" sz="2200" u="none" cap="none" strike="noStrike"/>
          </a:p>
        </p:txBody>
      </p:sp>
      <p:sp>
        <p:nvSpPr>
          <p:cNvPr id="675" name="Google Shape;675;p78"/>
          <p:cNvSpPr/>
          <p:nvPr/>
        </p:nvSpPr>
        <p:spPr>
          <a:xfrm>
            <a:off x="7587139" y="4584144"/>
            <a:ext cx="6292572" cy="693420"/>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384653"/>
              </a:buClr>
              <a:buSzPts val="1700"/>
              <a:buFont typeface="Montserrat"/>
              <a:buNone/>
            </a:pPr>
            <a:r>
              <a:rPr b="0" i="0" lang="en-US" sz="1700" u="none" cap="none" strike="noStrike">
                <a:solidFill>
                  <a:srgbClr val="384653"/>
                </a:solidFill>
                <a:latin typeface="Montserrat"/>
                <a:ea typeface="Montserrat"/>
                <a:cs typeface="Montserrat"/>
                <a:sym typeface="Montserrat"/>
              </a:rPr>
              <a:t>Tỷ lệ chính xác thấp, chỉ 25% (1/4), do thiếu thông tin chi tiết để tạo truy vấn hợp lệ.</a:t>
            </a:r>
            <a:endParaRPr b="0" i="0" sz="1700" u="none" cap="none" strike="noStrike"/>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pic>
        <p:nvPicPr>
          <p:cNvPr descr="preencoded.png" id="681" name="Google Shape;681;p79"/>
          <p:cNvPicPr preferRelativeResize="0"/>
          <p:nvPr/>
        </p:nvPicPr>
        <p:blipFill rotWithShape="1">
          <a:blip r:embed="rId3">
            <a:alphaModFix/>
          </a:blip>
          <a:srcRect b="0" l="0" r="0" t="0"/>
          <a:stretch/>
        </p:blipFill>
        <p:spPr>
          <a:xfrm>
            <a:off x="0" y="0"/>
            <a:ext cx="5760720" cy="8229600"/>
          </a:xfrm>
          <a:prstGeom prst="rect">
            <a:avLst/>
          </a:prstGeom>
          <a:noFill/>
          <a:ln>
            <a:noFill/>
          </a:ln>
        </p:spPr>
      </p:pic>
      <p:sp>
        <p:nvSpPr>
          <p:cNvPr id="682" name="Google Shape;682;p79"/>
          <p:cNvSpPr/>
          <p:nvPr/>
        </p:nvSpPr>
        <p:spPr>
          <a:xfrm>
            <a:off x="6244709" y="1503402"/>
            <a:ext cx="7627382" cy="1425416"/>
          </a:xfrm>
          <a:prstGeom prst="rect">
            <a:avLst/>
          </a:prstGeom>
          <a:noFill/>
          <a:ln>
            <a:noFill/>
          </a:ln>
        </p:spPr>
        <p:txBody>
          <a:bodyPr anchorCtr="0" anchor="t" bIns="0" lIns="0" spcFirstLastPara="1" rIns="0" wrap="square" tIns="0">
            <a:noAutofit/>
          </a:bodyPr>
          <a:lstStyle/>
          <a:p>
            <a:pPr indent="0" lvl="0" marL="0" marR="0" rtl="0" algn="l">
              <a:lnSpc>
                <a:spcPct val="125842"/>
              </a:lnSpc>
              <a:spcBef>
                <a:spcPts val="0"/>
              </a:spcBef>
              <a:spcAft>
                <a:spcPts val="0"/>
              </a:spcAft>
              <a:buClr>
                <a:srgbClr val="2E3C4E"/>
              </a:buClr>
              <a:buSzPts val="4450"/>
              <a:buFont typeface="Barlow"/>
              <a:buNone/>
            </a:pPr>
            <a:r>
              <a:rPr b="1" i="0" lang="en-US" sz="4450" u="none" cap="none" strike="noStrike">
                <a:solidFill>
                  <a:srgbClr val="2E3C4E"/>
                </a:solidFill>
                <a:latin typeface="Barlow"/>
                <a:ea typeface="Barlow"/>
                <a:cs typeface="Barlow"/>
                <a:sym typeface="Barlow"/>
              </a:rPr>
              <a:t>Kết luận chung về hiệu quả hệ thống</a:t>
            </a:r>
            <a:endParaRPr b="0" i="0" sz="4450" u="none" cap="none" strike="noStrike"/>
          </a:p>
        </p:txBody>
      </p:sp>
      <p:sp>
        <p:nvSpPr>
          <p:cNvPr id="683" name="Google Shape;683;p79"/>
          <p:cNvSpPr/>
          <p:nvPr/>
        </p:nvSpPr>
        <p:spPr>
          <a:xfrm>
            <a:off x="6244709" y="3253740"/>
            <a:ext cx="7627382" cy="1627942"/>
          </a:xfrm>
          <a:prstGeom prst="roundRect">
            <a:avLst>
              <a:gd fmla="val 19963" name="adj"/>
            </a:avLst>
          </a:prstGeom>
          <a:solidFill>
            <a:srgbClr val="D4E9F7"/>
          </a:solidFill>
          <a:ln cap="flat" cmpd="sng" w="9525">
            <a:solidFill>
              <a:srgbClr val="BACF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79"/>
          <p:cNvSpPr/>
          <p:nvPr/>
        </p:nvSpPr>
        <p:spPr>
          <a:xfrm>
            <a:off x="6468904" y="3477935"/>
            <a:ext cx="5308878" cy="356235"/>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384653"/>
              </a:buClr>
              <a:buSzPts val="2200"/>
              <a:buFont typeface="Barlow"/>
              <a:buNone/>
            </a:pPr>
            <a:r>
              <a:rPr b="1" i="0" lang="en-US" sz="2200" u="none" cap="none" strike="noStrike">
                <a:solidFill>
                  <a:srgbClr val="384653"/>
                </a:solidFill>
                <a:latin typeface="Barlow"/>
                <a:ea typeface="Barlow"/>
                <a:cs typeface="Barlow"/>
                <a:sym typeface="Barlow"/>
              </a:rPr>
              <a:t>Hiệu quả với câu hỏi Cơ bản và Có điều kiện</a:t>
            </a:r>
            <a:endParaRPr b="0" i="0" sz="2200" u="none" cap="none" strike="noStrike"/>
          </a:p>
        </p:txBody>
      </p:sp>
      <p:sp>
        <p:nvSpPr>
          <p:cNvPr id="685" name="Google Shape;685;p79"/>
          <p:cNvSpPr/>
          <p:nvPr/>
        </p:nvSpPr>
        <p:spPr>
          <a:xfrm>
            <a:off x="6468904" y="3964067"/>
            <a:ext cx="7178993" cy="693420"/>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384653"/>
              </a:buClr>
              <a:buSzPts val="1700"/>
              <a:buFont typeface="Montserrat"/>
              <a:buNone/>
            </a:pPr>
            <a:r>
              <a:rPr b="0" i="0" lang="en-US" sz="1700" u="none" cap="none" strike="noStrike">
                <a:solidFill>
                  <a:srgbClr val="384653"/>
                </a:solidFill>
                <a:latin typeface="Montserrat"/>
                <a:ea typeface="Montserrat"/>
                <a:cs typeface="Montserrat"/>
                <a:sym typeface="Montserrat"/>
              </a:rPr>
              <a:t>Tỷ lệ thành công cao, thể hiện khả năng chuyển đổi ngôn ngữ tự nhiên sang SQL hiệu quả.</a:t>
            </a:r>
            <a:endParaRPr b="0" i="0" sz="1700" u="none" cap="none" strike="noStrike"/>
          </a:p>
        </p:txBody>
      </p:sp>
      <p:sp>
        <p:nvSpPr>
          <p:cNvPr id="686" name="Google Shape;686;p79"/>
          <p:cNvSpPr/>
          <p:nvPr/>
        </p:nvSpPr>
        <p:spPr>
          <a:xfrm>
            <a:off x="6244709" y="5098256"/>
            <a:ext cx="7627382" cy="1627942"/>
          </a:xfrm>
          <a:prstGeom prst="roundRect">
            <a:avLst>
              <a:gd fmla="val 19963" name="adj"/>
            </a:avLst>
          </a:prstGeom>
          <a:solidFill>
            <a:srgbClr val="D4E9F7"/>
          </a:solidFill>
          <a:ln cap="flat" cmpd="sng" w="9525">
            <a:solidFill>
              <a:srgbClr val="BACF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79"/>
          <p:cNvSpPr/>
          <p:nvPr/>
        </p:nvSpPr>
        <p:spPr>
          <a:xfrm>
            <a:off x="6468904" y="5322451"/>
            <a:ext cx="3329226" cy="356235"/>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384653"/>
              </a:buClr>
              <a:buSzPts val="2200"/>
              <a:buFont typeface="Barlow"/>
              <a:buNone/>
            </a:pPr>
            <a:r>
              <a:rPr b="1" i="0" lang="en-US" sz="2200" u="none" cap="none" strike="noStrike">
                <a:solidFill>
                  <a:srgbClr val="384653"/>
                </a:solidFill>
                <a:latin typeface="Barlow"/>
                <a:ea typeface="Barlow"/>
                <a:cs typeface="Barlow"/>
                <a:sym typeface="Barlow"/>
              </a:rPr>
              <a:t>Khó khăn với câu hỏi Mơ hồ</a:t>
            </a:r>
            <a:endParaRPr b="0" i="0" sz="2200" u="none" cap="none" strike="noStrike"/>
          </a:p>
        </p:txBody>
      </p:sp>
      <p:sp>
        <p:nvSpPr>
          <p:cNvPr id="688" name="Google Shape;688;p79"/>
          <p:cNvSpPr/>
          <p:nvPr/>
        </p:nvSpPr>
        <p:spPr>
          <a:xfrm>
            <a:off x="6468904" y="5808583"/>
            <a:ext cx="7178993" cy="693420"/>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384653"/>
              </a:buClr>
              <a:buSzPts val="1700"/>
              <a:buFont typeface="Montserrat"/>
              <a:buNone/>
            </a:pPr>
            <a:r>
              <a:rPr b="0" i="0" lang="en-US" sz="1700" u="none" cap="none" strike="noStrike">
                <a:solidFill>
                  <a:srgbClr val="384653"/>
                </a:solidFill>
                <a:latin typeface="Montserrat"/>
                <a:ea typeface="Montserrat"/>
                <a:cs typeface="Montserrat"/>
                <a:sym typeface="Montserrat"/>
              </a:rPr>
              <a:t>Thiếu thông tin khiến hệ thống không thể xác định chính xác thực thể và điều kiện.</a:t>
            </a:r>
            <a:endParaRPr b="0" i="0" sz="1700" u="none" cap="none" strike="noStrike"/>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